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15"/>
          <p:cNvGrpSpPr/>
          <p:nvPr/>
        </p:nvGrpSpPr>
        <p:grpSpPr>
          <a:xfrm>
            <a:off x="0" y="0"/>
            <a:ext cx="9144000" cy="6858000"/>
            <a:chOff x="0" y="0"/>
            <a:chExt cx="9144000" cy="6858000"/>
          </a:xfrm>
        </p:grpSpPr>
        <p:sp>
          <p:nvSpPr>
            <p:cNvPr id="8" name="Rectangle 7"/>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reeform 9"/>
          <p:cNvSpPr/>
          <p:nvPr/>
        </p:nvSpPr>
        <p:spPr>
          <a:xfrm rot="10800000">
            <a:off x="891821" y="5617774"/>
            <a:ext cx="7382935"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989952" y="1016990"/>
            <a:ext cx="7179733" cy="4831643"/>
          </a:xfrm>
          <a:prstGeom prst="rect">
            <a:avLst/>
          </a:prstGeom>
          <a:solidFill>
            <a:schemeClr val="bg1">
              <a:lumMod val="75000"/>
              <a:lumOff val="25000"/>
            </a:schemeClr>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990600" y="1009650"/>
            <a:ext cx="7179733" cy="4831643"/>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2" descr="C:\Users\Administrator\Desktop\Pushpin Dev\Assets\pushpinLeft.png"/>
          <p:cNvPicPr>
            <a:picLocks noChangeAspect="1" noChangeArrowheads="1"/>
          </p:cNvPicPr>
          <p:nvPr/>
        </p:nvPicPr>
        <p:blipFill>
          <a:blip r:embed="rId3" cstate="print"/>
          <a:srcRect/>
          <a:stretch>
            <a:fillRect/>
          </a:stretch>
        </p:blipFill>
        <p:spPr bwMode="auto">
          <a:xfrm rot="1435684">
            <a:off x="769521" y="702069"/>
            <a:ext cx="567831" cy="567830"/>
          </a:xfrm>
          <a:prstGeom prst="rect">
            <a:avLst/>
          </a:prstGeom>
          <a:noFill/>
        </p:spPr>
      </p:pic>
      <p:pic>
        <p:nvPicPr>
          <p:cNvPr id="14" name="Picture 2" descr="C:\Users\Administrator\Desktop\Pushpin Dev\Assets\pushpinLeft.png"/>
          <p:cNvPicPr>
            <a:picLocks noChangeAspect="1" noChangeArrowheads="1"/>
          </p:cNvPicPr>
          <p:nvPr/>
        </p:nvPicPr>
        <p:blipFill>
          <a:blip r:embed="rId3" cstate="print"/>
          <a:srcRect/>
          <a:stretch>
            <a:fillRect/>
          </a:stretch>
        </p:blipFill>
        <p:spPr bwMode="auto">
          <a:xfrm rot="4096196">
            <a:off x="7855433" y="749720"/>
            <a:ext cx="566928" cy="566928"/>
          </a:xfrm>
          <a:prstGeom prst="rect">
            <a:avLst/>
          </a:prstGeom>
          <a:noFill/>
        </p:spPr>
      </p:pic>
      <p:sp>
        <p:nvSpPr>
          <p:cNvPr id="2" name="Title 1"/>
          <p:cNvSpPr>
            <a:spLocks noGrp="1"/>
          </p:cNvSpPr>
          <p:nvPr>
            <p:ph type="ctrTitle"/>
          </p:nvPr>
        </p:nvSpPr>
        <p:spPr>
          <a:xfrm>
            <a:off x="1727201" y="1794935"/>
            <a:ext cx="5723468" cy="1828090"/>
          </a:xfrm>
        </p:spPr>
        <p:txBody>
          <a:bodyPr anchor="b">
            <a:normAutofit/>
          </a:bodyPr>
          <a:lstStyle>
            <a:lvl1pPr>
              <a:defRPr sz="4800"/>
            </a:lvl1pPr>
          </a:lstStyle>
          <a:p>
            <a:r>
              <a:rPr lang="en-US" smtClean="0"/>
              <a:t>Click to edit Master title style</a:t>
            </a:r>
            <a:endParaRPr lang="en-US"/>
          </a:p>
        </p:txBody>
      </p:sp>
      <p:sp>
        <p:nvSpPr>
          <p:cNvPr id="3" name="Subtitle 2"/>
          <p:cNvSpPr>
            <a:spLocks noGrp="1"/>
          </p:cNvSpPr>
          <p:nvPr>
            <p:ph type="subTitle" idx="1"/>
          </p:nvPr>
        </p:nvSpPr>
        <p:spPr>
          <a:xfrm>
            <a:off x="1727200" y="3736622"/>
            <a:ext cx="5712179" cy="1524000"/>
          </a:xfrm>
        </p:spPr>
        <p:txBody>
          <a:bodyPr/>
          <a:lstStyle>
            <a:lvl1pPr marL="0" indent="0" algn="ctr">
              <a:buNone/>
              <a:defRPr>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6770676" y="5357592"/>
            <a:ext cx="1213821" cy="365125"/>
          </a:xfrm>
        </p:spPr>
        <p:txBody>
          <a:bodyPr/>
          <a:lstStyle/>
          <a:p>
            <a:fld id="{8A4EBFC0-B8AB-415E-B522-8612D545C15C}" type="datetimeFigureOut">
              <a:rPr lang="en-MY" smtClean="0"/>
              <a:t>16/12/2015</a:t>
            </a:fld>
            <a:endParaRPr lang="en-MY"/>
          </a:p>
        </p:txBody>
      </p:sp>
      <p:sp>
        <p:nvSpPr>
          <p:cNvPr id="5" name="Footer Placeholder 4"/>
          <p:cNvSpPr>
            <a:spLocks noGrp="1"/>
          </p:cNvSpPr>
          <p:nvPr>
            <p:ph type="ftr" sz="quarter" idx="11"/>
          </p:nvPr>
        </p:nvSpPr>
        <p:spPr>
          <a:xfrm>
            <a:off x="1174044" y="5357592"/>
            <a:ext cx="5034845" cy="365125"/>
          </a:xfrm>
        </p:spPr>
        <p:txBody>
          <a:bodyPr/>
          <a:lstStyle/>
          <a:p>
            <a:endParaRPr lang="en-MY"/>
          </a:p>
        </p:txBody>
      </p:sp>
      <p:sp>
        <p:nvSpPr>
          <p:cNvPr id="6" name="Slide Number Placeholder 5"/>
          <p:cNvSpPr>
            <a:spLocks noGrp="1"/>
          </p:cNvSpPr>
          <p:nvPr>
            <p:ph type="sldNum" sz="quarter" idx="12"/>
          </p:nvPr>
        </p:nvSpPr>
        <p:spPr>
          <a:xfrm>
            <a:off x="6213930" y="5357592"/>
            <a:ext cx="554023" cy="365125"/>
          </a:xfrm>
        </p:spPr>
        <p:txBody>
          <a:bodyPr/>
          <a:lstStyle>
            <a:lvl1pPr algn="ctr">
              <a:defRPr/>
            </a:lvl1pPr>
          </a:lstStyle>
          <a:p>
            <a:fld id="{95C5330C-DD0A-431F-B83B-D061A0750BE8}" type="slidenum">
              <a:rPr lang="en-MY" smtClean="0"/>
              <a:t>‹#›</a:t>
            </a:fld>
            <a:endParaRPr lang="en-MY"/>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A4EBFC0-B8AB-415E-B522-8612D545C15C}" type="datetimeFigureOut">
              <a:rPr lang="en-MY" smtClean="0"/>
              <a:t>16/12/2015</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95C5330C-DD0A-431F-B83B-D061A0750BE8}" type="slidenum">
              <a:rPr lang="en-MY" smtClean="0"/>
              <a:t>‹#›</a:t>
            </a:fld>
            <a:endParaRPr lang="en-MY"/>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4979" y="2239430"/>
            <a:ext cx="6254044" cy="1362075"/>
          </a:xfrm>
        </p:spPr>
        <p:txBody>
          <a:bodyPr anchor="b"/>
          <a:lstStyle>
            <a:lvl1pPr algn="ctr">
              <a:defRPr sz="4000" b="0"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456267" y="3725334"/>
            <a:ext cx="6231467" cy="1309511"/>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A4EBFC0-B8AB-415E-B522-8612D545C15C}" type="datetimeFigureOut">
              <a:rPr lang="en-MY" smtClean="0"/>
              <a:t>16/12/2015</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95C5330C-DD0A-431F-B83B-D061A0750BE8}" type="slidenum">
              <a:rPr lang="en-MY" smtClean="0"/>
              <a:t>‹#›</a:t>
            </a:fld>
            <a:endParaRPr lang="en-MY"/>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8A4EBFC0-B8AB-415E-B522-8612D545C15C}" type="datetimeFigureOut">
              <a:rPr lang="en-MY" smtClean="0"/>
              <a:t>16/12/2015</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95C5330C-DD0A-431F-B83B-D061A0750BE8}" type="slidenum">
              <a:rPr lang="en-MY" smtClean="0"/>
              <a:t>‹#›</a:t>
            </a:fld>
            <a:endParaRPr lang="en-MY"/>
          </a:p>
        </p:txBody>
      </p:sp>
      <p:sp>
        <p:nvSpPr>
          <p:cNvPr id="9" name="Content Placeholder 8"/>
          <p:cNvSpPr>
            <a:spLocks noGrp="1"/>
          </p:cNvSpPr>
          <p:nvPr>
            <p:ph sz="quarter" idx="13"/>
          </p:nvPr>
        </p:nvSpPr>
        <p:spPr>
          <a:xfrm>
            <a:off x="1298448" y="2121407"/>
            <a:ext cx="3200400" cy="360273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63440" y="2119313"/>
            <a:ext cx="3200400" cy="36052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557869" y="2122312"/>
            <a:ext cx="2939521" cy="820208"/>
          </a:xfrm>
        </p:spPr>
        <p:txBody>
          <a:bodyPr anchor="b">
            <a:norm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910669" y="2122311"/>
            <a:ext cx="2944368" cy="822960"/>
          </a:xfrm>
        </p:spPr>
        <p:txBody>
          <a:bodyPr anchor="b">
            <a:norm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8A4EBFC0-B8AB-415E-B522-8612D545C15C}" type="datetimeFigureOut">
              <a:rPr lang="en-MY" smtClean="0"/>
              <a:t>16/12/2015</a:t>
            </a:fld>
            <a:endParaRPr lang="en-MY"/>
          </a:p>
        </p:txBody>
      </p:sp>
      <p:sp>
        <p:nvSpPr>
          <p:cNvPr id="8" name="Footer Placeholder 7"/>
          <p:cNvSpPr>
            <a:spLocks noGrp="1"/>
          </p:cNvSpPr>
          <p:nvPr>
            <p:ph type="ftr" sz="quarter" idx="11"/>
          </p:nvPr>
        </p:nvSpPr>
        <p:spPr/>
        <p:txBody>
          <a:bodyPr/>
          <a:lstStyle/>
          <a:p>
            <a:endParaRPr lang="en-MY"/>
          </a:p>
        </p:txBody>
      </p:sp>
      <p:sp>
        <p:nvSpPr>
          <p:cNvPr id="9" name="Slide Number Placeholder 8"/>
          <p:cNvSpPr>
            <a:spLocks noGrp="1"/>
          </p:cNvSpPr>
          <p:nvPr>
            <p:ph type="sldNum" sz="quarter" idx="12"/>
          </p:nvPr>
        </p:nvSpPr>
        <p:spPr/>
        <p:txBody>
          <a:bodyPr/>
          <a:lstStyle/>
          <a:p>
            <a:fld id="{95C5330C-DD0A-431F-B83B-D061A0750BE8}" type="slidenum">
              <a:rPr lang="en-MY" smtClean="0"/>
              <a:t>‹#›</a:t>
            </a:fld>
            <a:endParaRPr lang="en-MY"/>
          </a:p>
        </p:txBody>
      </p:sp>
      <p:sp>
        <p:nvSpPr>
          <p:cNvPr id="11" name="Content Placeholder 10"/>
          <p:cNvSpPr>
            <a:spLocks noGrp="1"/>
          </p:cNvSpPr>
          <p:nvPr>
            <p:ph sz="quarter" idx="13"/>
          </p:nvPr>
        </p:nvSpPr>
        <p:spPr>
          <a:xfrm>
            <a:off x="1298448" y="2944368"/>
            <a:ext cx="3227832" cy="277977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45151" y="2944813"/>
            <a:ext cx="3227832" cy="277977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A4EBFC0-B8AB-415E-B522-8612D545C15C}" type="datetimeFigureOut">
              <a:rPr lang="en-MY" smtClean="0"/>
              <a:t>16/12/2015</a:t>
            </a:fld>
            <a:endParaRPr lang="en-MY"/>
          </a:p>
        </p:txBody>
      </p:sp>
      <p:sp>
        <p:nvSpPr>
          <p:cNvPr id="4" name="Footer Placeholder 3"/>
          <p:cNvSpPr>
            <a:spLocks noGrp="1"/>
          </p:cNvSpPr>
          <p:nvPr>
            <p:ph type="ftr" sz="quarter" idx="11"/>
          </p:nvPr>
        </p:nvSpPr>
        <p:spPr/>
        <p:txBody>
          <a:bodyPr/>
          <a:lstStyle/>
          <a:p>
            <a:endParaRPr lang="en-MY"/>
          </a:p>
        </p:txBody>
      </p:sp>
      <p:sp>
        <p:nvSpPr>
          <p:cNvPr id="5" name="Slide Number Placeholder 4"/>
          <p:cNvSpPr>
            <a:spLocks noGrp="1"/>
          </p:cNvSpPr>
          <p:nvPr>
            <p:ph type="sldNum" sz="quarter" idx="12"/>
          </p:nvPr>
        </p:nvSpPr>
        <p:spPr/>
        <p:txBody>
          <a:bodyPr/>
          <a:lstStyle/>
          <a:p>
            <a:fld id="{95C5330C-DD0A-431F-B83B-D061A0750BE8}" type="slidenum">
              <a:rPr lang="en-MY" smtClean="0"/>
              <a:t>‹#›</a:t>
            </a:fld>
            <a:endParaRPr lang="en-MY"/>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4EBFC0-B8AB-415E-B522-8612D545C15C}" type="datetimeFigureOut">
              <a:rPr lang="en-MY" smtClean="0"/>
              <a:t>16/12/2015</a:t>
            </a:fld>
            <a:endParaRPr lang="en-MY"/>
          </a:p>
        </p:txBody>
      </p:sp>
      <p:sp>
        <p:nvSpPr>
          <p:cNvPr id="3" name="Footer Placeholder 2"/>
          <p:cNvSpPr>
            <a:spLocks noGrp="1"/>
          </p:cNvSpPr>
          <p:nvPr>
            <p:ph type="ftr" sz="quarter" idx="11"/>
          </p:nvPr>
        </p:nvSpPr>
        <p:spPr/>
        <p:txBody>
          <a:bodyPr/>
          <a:lstStyle/>
          <a:p>
            <a:endParaRPr lang="en-MY"/>
          </a:p>
        </p:txBody>
      </p:sp>
      <p:sp>
        <p:nvSpPr>
          <p:cNvPr id="4" name="Slide Number Placeholder 3"/>
          <p:cNvSpPr>
            <a:spLocks noGrp="1"/>
          </p:cNvSpPr>
          <p:nvPr>
            <p:ph type="sldNum" sz="quarter" idx="12"/>
          </p:nvPr>
        </p:nvSpPr>
        <p:spPr/>
        <p:txBody>
          <a:bodyPr/>
          <a:lstStyle/>
          <a:p>
            <a:fld id="{95C5330C-DD0A-431F-B83B-D061A0750BE8}" type="slidenum">
              <a:rPr lang="en-MY" smtClean="0"/>
              <a:t>‹#›</a:t>
            </a:fld>
            <a:endParaRPr lang="en-MY"/>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15"/>
          <p:cNvGrpSpPr/>
          <p:nvPr/>
        </p:nvGrpSpPr>
        <p:grpSpPr>
          <a:xfrm>
            <a:off x="0" y="0"/>
            <a:ext cx="9144000" cy="6858000"/>
            <a:chOff x="0" y="0"/>
            <a:chExt cx="9144000" cy="6858000"/>
          </a:xfrm>
        </p:grpSpPr>
        <p:sp>
          <p:nvSpPr>
            <p:cNvPr id="9" name="Rectangle 8"/>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Freeform 10"/>
          <p:cNvSpPr/>
          <p:nvPr/>
        </p:nvSpPr>
        <p:spPr>
          <a:xfrm rot="10800000">
            <a:off x="632177" y="6058038"/>
            <a:ext cx="772160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rot="60000">
            <a:off x="4468872" y="605163"/>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rot="60000">
            <a:off x="4471416" y="603504"/>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21540000">
            <a:off x="749204" y="576868"/>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rot="21540000">
            <a:off x="749808" y="576072"/>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2" descr="C:\Users\Administrator\Desktop\Pushpin Dev\Assets\pushpinLeft.png"/>
          <p:cNvPicPr>
            <a:picLocks noChangeAspect="1" noChangeArrowheads="1"/>
          </p:cNvPicPr>
          <p:nvPr/>
        </p:nvPicPr>
        <p:blipFill>
          <a:blip r:embed="rId3" cstate="print"/>
          <a:srcRect/>
          <a:stretch>
            <a:fillRect/>
          </a:stretch>
        </p:blipFill>
        <p:spPr bwMode="auto">
          <a:xfrm rot="1435684">
            <a:off x="2371106" y="293953"/>
            <a:ext cx="567831" cy="567830"/>
          </a:xfrm>
          <a:prstGeom prst="rect">
            <a:avLst/>
          </a:prstGeom>
          <a:noFill/>
        </p:spPr>
      </p:pic>
      <p:pic>
        <p:nvPicPr>
          <p:cNvPr id="19" name="Picture 2" descr="C:\Users\Administrator\Desktop\Pushpin Dev\Assets\pushpinLeft.png"/>
          <p:cNvPicPr>
            <a:picLocks noChangeAspect="1" noChangeArrowheads="1"/>
          </p:cNvPicPr>
          <p:nvPr/>
        </p:nvPicPr>
        <p:blipFill>
          <a:blip r:embed="rId3" cstate="print"/>
          <a:srcRect/>
          <a:stretch>
            <a:fillRect/>
          </a:stretch>
        </p:blipFill>
        <p:spPr bwMode="auto">
          <a:xfrm rot="4096196">
            <a:off x="6279647" y="333163"/>
            <a:ext cx="566928" cy="566928"/>
          </a:xfrm>
          <a:prstGeom prst="rect">
            <a:avLst/>
          </a:prstGeom>
          <a:noFill/>
        </p:spPr>
      </p:pic>
      <p:sp>
        <p:nvSpPr>
          <p:cNvPr id="2" name="Title 1"/>
          <p:cNvSpPr>
            <a:spLocks noGrp="1"/>
          </p:cNvSpPr>
          <p:nvPr>
            <p:ph type="title"/>
          </p:nvPr>
        </p:nvSpPr>
        <p:spPr>
          <a:xfrm rot="-60000">
            <a:off x="1108976" y="2020042"/>
            <a:ext cx="3064827" cy="1503037"/>
          </a:xfrm>
        </p:spPr>
        <p:txBody>
          <a:bodyPr anchor="b">
            <a:normAutofit/>
          </a:bodyPr>
          <a:lstStyle>
            <a:lvl1pPr algn="ctr">
              <a:defRPr sz="2400" b="0"/>
            </a:lvl1pPr>
          </a:lstStyle>
          <a:p>
            <a:r>
              <a:rPr lang="en-US" smtClean="0"/>
              <a:t>Click to edit Master title style</a:t>
            </a:r>
            <a:endParaRPr lang="en-US"/>
          </a:p>
        </p:txBody>
      </p:sp>
      <p:sp>
        <p:nvSpPr>
          <p:cNvPr id="3" name="Content Placeholder 2"/>
          <p:cNvSpPr>
            <a:spLocks noGrp="1"/>
          </p:cNvSpPr>
          <p:nvPr>
            <p:ph idx="1"/>
          </p:nvPr>
        </p:nvSpPr>
        <p:spPr>
          <a:xfrm rot="60000">
            <a:off x="4854291" y="1150993"/>
            <a:ext cx="3020792" cy="4625489"/>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rot="-60000">
            <a:off x="1148125" y="3623748"/>
            <a:ext cx="3048891" cy="2100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rot="60000">
            <a:off x="6341698" y="5885672"/>
            <a:ext cx="1213821" cy="365125"/>
          </a:xfrm>
        </p:spPr>
        <p:txBody>
          <a:bodyPr/>
          <a:lstStyle/>
          <a:p>
            <a:fld id="{8A4EBFC0-B8AB-415E-B522-8612D545C15C}" type="datetimeFigureOut">
              <a:rPr lang="en-MY" smtClean="0"/>
              <a:t>16/12/2015</a:t>
            </a:fld>
            <a:endParaRPr lang="en-MY"/>
          </a:p>
        </p:txBody>
      </p:sp>
      <p:sp>
        <p:nvSpPr>
          <p:cNvPr id="6" name="Footer Placeholder 5"/>
          <p:cNvSpPr>
            <a:spLocks noGrp="1"/>
          </p:cNvSpPr>
          <p:nvPr>
            <p:ph type="ftr" sz="quarter" idx="11"/>
          </p:nvPr>
        </p:nvSpPr>
        <p:spPr>
          <a:xfrm rot="-60000">
            <a:off x="914554" y="5829261"/>
            <a:ext cx="3522607" cy="365125"/>
          </a:xfrm>
        </p:spPr>
        <p:txBody>
          <a:bodyPr/>
          <a:lstStyle/>
          <a:p>
            <a:endParaRPr lang="en-MY"/>
          </a:p>
        </p:txBody>
      </p:sp>
      <p:sp>
        <p:nvSpPr>
          <p:cNvPr id="7" name="Slide Number Placeholder 6"/>
          <p:cNvSpPr>
            <a:spLocks noGrp="1"/>
          </p:cNvSpPr>
          <p:nvPr>
            <p:ph type="sldNum" sz="quarter" idx="12"/>
          </p:nvPr>
        </p:nvSpPr>
        <p:spPr>
          <a:xfrm rot="60000">
            <a:off x="7557313" y="5896961"/>
            <a:ext cx="554023" cy="365125"/>
          </a:xfrm>
        </p:spPr>
        <p:txBody>
          <a:bodyPr/>
          <a:lstStyle/>
          <a:p>
            <a:fld id="{95C5330C-DD0A-431F-B83B-D061A0750BE8}" type="slidenum">
              <a:rPr lang="en-MY" smtClean="0"/>
              <a:t>‹#›</a:t>
            </a:fld>
            <a:endParaRPr lang="en-MY"/>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15"/>
          <p:cNvGrpSpPr/>
          <p:nvPr/>
        </p:nvGrpSpPr>
        <p:grpSpPr>
          <a:xfrm>
            <a:off x="0" y="0"/>
            <a:ext cx="9144000" cy="6858000"/>
            <a:chOff x="0" y="0"/>
            <a:chExt cx="9144000" cy="6858000"/>
          </a:xfrm>
        </p:grpSpPr>
        <p:sp>
          <p:nvSpPr>
            <p:cNvPr id="9" name="Rectangle 8"/>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Freeform 30"/>
          <p:cNvSpPr/>
          <p:nvPr/>
        </p:nvSpPr>
        <p:spPr>
          <a:xfrm rot="10800000">
            <a:off x="632177" y="6058038"/>
            <a:ext cx="772160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rot="21540000">
            <a:off x="749204" y="576868"/>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21540000">
            <a:off x="745058" y="575769"/>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rot="60000">
            <a:off x="4468872" y="605163"/>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rot="60000">
            <a:off x="4464768" y="603920"/>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2" descr="C:\Users\Administrator\Desktop\Pushpin Dev\Assets\pushpinLeft.png"/>
          <p:cNvPicPr>
            <a:picLocks noChangeAspect="1" noChangeArrowheads="1"/>
          </p:cNvPicPr>
          <p:nvPr/>
        </p:nvPicPr>
        <p:blipFill>
          <a:blip r:embed="rId3" cstate="print"/>
          <a:srcRect/>
          <a:stretch>
            <a:fillRect/>
          </a:stretch>
        </p:blipFill>
        <p:spPr bwMode="auto">
          <a:xfrm rot="1435684">
            <a:off x="2371106" y="293953"/>
            <a:ext cx="567831" cy="567830"/>
          </a:xfrm>
          <a:prstGeom prst="rect">
            <a:avLst/>
          </a:prstGeom>
          <a:noFill/>
        </p:spPr>
      </p:pic>
      <p:pic>
        <p:nvPicPr>
          <p:cNvPr id="15" name="Picture 2" descr="C:\Users\Administrator\Desktop\Pushpin Dev\Assets\pushpinLeft.png"/>
          <p:cNvPicPr>
            <a:picLocks noChangeAspect="1" noChangeArrowheads="1"/>
          </p:cNvPicPr>
          <p:nvPr/>
        </p:nvPicPr>
        <p:blipFill>
          <a:blip r:embed="rId3" cstate="print"/>
          <a:srcRect/>
          <a:stretch>
            <a:fillRect/>
          </a:stretch>
        </p:blipFill>
        <p:spPr bwMode="auto">
          <a:xfrm rot="4096196">
            <a:off x="6279647" y="333163"/>
            <a:ext cx="566928" cy="566928"/>
          </a:xfrm>
          <a:prstGeom prst="rect">
            <a:avLst/>
          </a:prstGeom>
          <a:noFill/>
        </p:spPr>
      </p:pic>
      <p:sp>
        <p:nvSpPr>
          <p:cNvPr id="2" name="Title 1"/>
          <p:cNvSpPr>
            <a:spLocks noGrp="1"/>
          </p:cNvSpPr>
          <p:nvPr>
            <p:ph type="title"/>
          </p:nvPr>
        </p:nvSpPr>
        <p:spPr>
          <a:xfrm rot="-60000">
            <a:off x="1106424" y="2020824"/>
            <a:ext cx="3063240" cy="1499616"/>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p:cNvSpPr>
          <p:nvPr>
            <p:ph type="pic" idx="1"/>
          </p:nvPr>
        </p:nvSpPr>
        <p:spPr>
          <a:xfrm rot="60000">
            <a:off x="4898615" y="1207272"/>
            <a:ext cx="2913863" cy="4539412"/>
          </a:xfrm>
          <a:ln w="101600" cap="rnd">
            <a:solidFill>
              <a:srgbClr val="FFFFFF"/>
            </a:solidFill>
          </a:ln>
          <a:effectLst>
            <a:outerShdw blurRad="88900" dir="2700000" algn="tl" rotWithShape="0">
              <a:prstClr val="black">
                <a:alpha val="40000"/>
              </a:prstClr>
            </a:outerShdw>
          </a:effectLst>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rot="-60000">
            <a:off x="1152144" y="3621024"/>
            <a:ext cx="3044952" cy="210312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rot="60000">
            <a:off x="6345936" y="5888737"/>
            <a:ext cx="1213821" cy="365125"/>
          </a:xfrm>
        </p:spPr>
        <p:txBody>
          <a:bodyPr/>
          <a:lstStyle/>
          <a:p>
            <a:fld id="{8A4EBFC0-B8AB-415E-B522-8612D545C15C}" type="datetimeFigureOut">
              <a:rPr lang="en-MY" smtClean="0"/>
              <a:t>16/12/2015</a:t>
            </a:fld>
            <a:endParaRPr lang="en-MY"/>
          </a:p>
        </p:txBody>
      </p:sp>
      <p:sp>
        <p:nvSpPr>
          <p:cNvPr id="6" name="Footer Placeholder 5"/>
          <p:cNvSpPr>
            <a:spLocks noGrp="1"/>
          </p:cNvSpPr>
          <p:nvPr>
            <p:ph type="ftr" sz="quarter" idx="11"/>
          </p:nvPr>
        </p:nvSpPr>
        <p:spPr>
          <a:xfrm rot="-60000">
            <a:off x="914569" y="5831037"/>
            <a:ext cx="3319043" cy="365125"/>
          </a:xfrm>
        </p:spPr>
        <p:txBody>
          <a:bodyPr/>
          <a:lstStyle/>
          <a:p>
            <a:endParaRPr lang="en-MY"/>
          </a:p>
        </p:txBody>
      </p:sp>
      <p:sp>
        <p:nvSpPr>
          <p:cNvPr id="7" name="Slide Number Placeholder 6"/>
          <p:cNvSpPr>
            <a:spLocks noGrp="1"/>
          </p:cNvSpPr>
          <p:nvPr>
            <p:ph type="sldNum" sz="quarter" idx="12"/>
          </p:nvPr>
        </p:nvSpPr>
        <p:spPr>
          <a:xfrm rot="60000">
            <a:off x="7562089" y="5900026"/>
            <a:ext cx="554023" cy="365125"/>
          </a:xfrm>
        </p:spPr>
        <p:txBody>
          <a:bodyPr/>
          <a:lstStyle/>
          <a:p>
            <a:fld id="{95C5330C-DD0A-431F-B83B-D061A0750BE8}" type="slidenum">
              <a:rPr lang="en-MY" smtClean="0"/>
              <a:t>‹#›</a:t>
            </a:fld>
            <a:endParaRPr lang="en-MY"/>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A4EBFC0-B8AB-415E-B522-8612D545C15C}" type="datetimeFigureOut">
              <a:rPr lang="en-MY" smtClean="0"/>
              <a:t>16/12/2015</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95C5330C-DD0A-431F-B83B-D061A0750BE8}" type="slidenum">
              <a:rPr lang="en-MY" smtClean="0"/>
              <a:t>‹#›</a:t>
            </a:fld>
            <a:endParaRPr lang="en-MY"/>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1" y="925690"/>
            <a:ext cx="1430867" cy="476391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8221" y="1106312"/>
            <a:ext cx="5178779" cy="440266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A4EBFC0-B8AB-415E-B522-8612D545C15C}" type="datetimeFigureOut">
              <a:rPr lang="en-MY" smtClean="0"/>
              <a:t>16/12/2015</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95C5330C-DD0A-431F-B83B-D061A0750BE8}" type="slidenum">
              <a:rPr lang="en-MY" smtClean="0"/>
              <a:t>‹#›</a:t>
            </a:fld>
            <a:endParaRPr lang="en-MY"/>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15"/>
          <p:cNvGrpSpPr/>
          <p:nvPr/>
        </p:nvGrpSpPr>
        <p:grpSpPr>
          <a:xfrm>
            <a:off x="0" y="0"/>
            <a:ext cx="9144000" cy="6858000"/>
            <a:chOff x="0" y="0"/>
            <a:chExt cx="9144000" cy="6858000"/>
          </a:xfrm>
        </p:grpSpPr>
        <p:sp>
          <p:nvSpPr>
            <p:cNvPr id="8" name="Rectangle 7"/>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reeform 9"/>
          <p:cNvSpPr/>
          <p:nvPr/>
        </p:nvSpPr>
        <p:spPr>
          <a:xfrm rot="10800000">
            <a:off x="628650" y="6069330"/>
            <a:ext cx="792099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31520" y="575310"/>
            <a:ext cx="7696200" cy="5715000"/>
          </a:xfrm>
          <a:prstGeom prst="rect">
            <a:avLst/>
          </a:prstGeom>
          <a:solidFill>
            <a:schemeClr val="bg1">
              <a:lumMod val="75000"/>
              <a:lumOff val="25000"/>
            </a:schemeClr>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31520" y="576072"/>
            <a:ext cx="7696200" cy="5715000"/>
          </a:xfrm>
          <a:prstGeom prst="rect">
            <a:avLst/>
          </a:prstGeom>
          <a:blipFill dpi="0" rotWithShape="1">
            <a:blip r:embed="rId13"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2" descr="C:\Users\Administrator\Desktop\Pushpin Dev\Assets\pushpinLeft.png"/>
          <p:cNvPicPr>
            <a:picLocks noChangeAspect="1" noChangeArrowheads="1"/>
          </p:cNvPicPr>
          <p:nvPr/>
        </p:nvPicPr>
        <p:blipFill>
          <a:blip r:embed="rId14" cstate="print"/>
          <a:srcRect/>
          <a:stretch>
            <a:fillRect/>
          </a:stretch>
        </p:blipFill>
        <p:spPr bwMode="auto">
          <a:xfrm rot="1435684">
            <a:off x="543741" y="273091"/>
            <a:ext cx="567831" cy="567830"/>
          </a:xfrm>
          <a:prstGeom prst="rect">
            <a:avLst/>
          </a:prstGeom>
          <a:noFill/>
        </p:spPr>
      </p:pic>
      <p:pic>
        <p:nvPicPr>
          <p:cNvPr id="14" name="Picture 2" descr="C:\Users\Administrator\Desktop\Pushpin Dev\Assets\pushpinLeft.png"/>
          <p:cNvPicPr>
            <a:picLocks noChangeAspect="1" noChangeArrowheads="1"/>
          </p:cNvPicPr>
          <p:nvPr/>
        </p:nvPicPr>
        <p:blipFill>
          <a:blip r:embed="rId14" cstate="print"/>
          <a:srcRect/>
          <a:stretch>
            <a:fillRect/>
          </a:stretch>
        </p:blipFill>
        <p:spPr bwMode="auto">
          <a:xfrm rot="4096196">
            <a:off x="8115079" y="298163"/>
            <a:ext cx="566928" cy="566928"/>
          </a:xfrm>
          <a:prstGeom prst="rect">
            <a:avLst/>
          </a:prstGeom>
          <a:noFill/>
        </p:spPr>
      </p:pic>
      <p:sp>
        <p:nvSpPr>
          <p:cNvPr id="2" name="Title Placeholder 1"/>
          <p:cNvSpPr>
            <a:spLocks noGrp="1"/>
          </p:cNvSpPr>
          <p:nvPr>
            <p:ph type="title"/>
          </p:nvPr>
        </p:nvSpPr>
        <p:spPr>
          <a:xfrm>
            <a:off x="1095023" y="817582"/>
            <a:ext cx="6965245" cy="1202485"/>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63040" y="2119257"/>
            <a:ext cx="6196405" cy="3603812"/>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454588" y="5809152"/>
            <a:ext cx="1213821" cy="365125"/>
          </a:xfrm>
          <a:prstGeom prst="rect">
            <a:avLst/>
          </a:prstGeom>
        </p:spPr>
        <p:txBody>
          <a:bodyPr vert="horz" lIns="91440" tIns="45720" rIns="91440" bIns="45720" rtlCol="0" anchor="ctr"/>
          <a:lstStyle>
            <a:lvl1pPr algn="r">
              <a:defRPr sz="1200">
                <a:solidFill>
                  <a:schemeClr val="tx2"/>
                </a:solidFill>
                <a:latin typeface="Rage Italic" pitchFamily="66" charset="0"/>
              </a:defRPr>
            </a:lvl1pPr>
          </a:lstStyle>
          <a:p>
            <a:fld id="{8A4EBFC0-B8AB-415E-B522-8612D545C15C}" type="datetimeFigureOut">
              <a:rPr lang="en-MY" smtClean="0"/>
              <a:t>16/12/2015</a:t>
            </a:fld>
            <a:endParaRPr lang="en-MY"/>
          </a:p>
        </p:txBody>
      </p:sp>
      <p:sp>
        <p:nvSpPr>
          <p:cNvPr id="5" name="Footer Placeholder 4"/>
          <p:cNvSpPr>
            <a:spLocks noGrp="1"/>
          </p:cNvSpPr>
          <p:nvPr>
            <p:ph type="ftr" sz="quarter" idx="3"/>
          </p:nvPr>
        </p:nvSpPr>
        <p:spPr>
          <a:xfrm>
            <a:off x="914401" y="5809152"/>
            <a:ext cx="5540188" cy="365125"/>
          </a:xfrm>
          <a:prstGeom prst="rect">
            <a:avLst/>
          </a:prstGeom>
        </p:spPr>
        <p:txBody>
          <a:bodyPr vert="horz" lIns="91440" tIns="45720" rIns="91440" bIns="45720" rtlCol="0" anchor="ctr"/>
          <a:lstStyle>
            <a:lvl1pPr algn="l">
              <a:defRPr sz="1400">
                <a:solidFill>
                  <a:schemeClr val="tx2"/>
                </a:solidFill>
                <a:latin typeface="Rage Italic" pitchFamily="66" charset="0"/>
              </a:defRPr>
            </a:lvl1pPr>
          </a:lstStyle>
          <a:p>
            <a:endParaRPr lang="en-MY"/>
          </a:p>
        </p:txBody>
      </p:sp>
      <p:sp>
        <p:nvSpPr>
          <p:cNvPr id="6" name="Slide Number Placeholder 5"/>
          <p:cNvSpPr>
            <a:spLocks noGrp="1"/>
          </p:cNvSpPr>
          <p:nvPr>
            <p:ph type="sldNum" sz="quarter" idx="4"/>
          </p:nvPr>
        </p:nvSpPr>
        <p:spPr>
          <a:xfrm>
            <a:off x="7670202" y="5809152"/>
            <a:ext cx="554023" cy="365125"/>
          </a:xfrm>
          <a:prstGeom prst="rect">
            <a:avLst/>
          </a:prstGeom>
        </p:spPr>
        <p:txBody>
          <a:bodyPr vert="horz" lIns="91440" tIns="45720" rIns="91440" bIns="45720" rtlCol="0" anchor="ctr"/>
          <a:lstStyle>
            <a:lvl1pPr algn="r">
              <a:defRPr sz="1400">
                <a:solidFill>
                  <a:schemeClr val="tx2"/>
                </a:solidFill>
                <a:latin typeface="Rage Italic" pitchFamily="66" charset="0"/>
              </a:defRPr>
            </a:lvl1pPr>
          </a:lstStyle>
          <a:p>
            <a:fld id="{95C5330C-DD0A-431F-B83B-D061A0750BE8}" type="slidenum">
              <a:rPr lang="en-MY" smtClean="0"/>
              <a:t>‹#›</a:t>
            </a:fld>
            <a:endParaRPr lang="en-MY"/>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2"/>
        </a:buClr>
        <a:buSzPct val="85000"/>
        <a:buFont typeface="Brush Script MT" pitchFamily="66" charset="0"/>
        <a:buChar char="O"/>
        <a:defRPr sz="2400" kern="1200">
          <a:solidFill>
            <a:schemeClr val="tx1"/>
          </a:solidFill>
          <a:latin typeface="+mn-lt"/>
          <a:ea typeface="+mn-ea"/>
          <a:cs typeface="+mn-cs"/>
        </a:defRPr>
      </a:lvl1pPr>
      <a:lvl2pPr marL="640080" indent="-274320" algn="l" defTabSz="914400" rtl="0" eaLnBrk="1" latinLnBrk="0" hangingPunct="1">
        <a:spcBef>
          <a:spcPct val="20000"/>
        </a:spcBef>
        <a:buClr>
          <a:schemeClr val="accent2"/>
        </a:buClr>
        <a:buSzPct val="85000"/>
        <a:buFont typeface="Brush Script MT" pitchFamily="66" charset="0"/>
        <a:buChar char="O"/>
        <a:defRPr sz="2200" kern="1200">
          <a:solidFill>
            <a:schemeClr val="tx1"/>
          </a:solidFill>
          <a:latin typeface="+mn-lt"/>
          <a:ea typeface="+mn-ea"/>
          <a:cs typeface="+mn-cs"/>
        </a:defRPr>
      </a:lvl2pPr>
      <a:lvl3pPr marL="914400" indent="-228600" algn="l" defTabSz="914400" rtl="0" eaLnBrk="1" latinLnBrk="0" hangingPunct="1">
        <a:spcBef>
          <a:spcPct val="20000"/>
        </a:spcBef>
        <a:buClr>
          <a:schemeClr val="accent2"/>
        </a:buClr>
        <a:buSzPct val="85000"/>
        <a:buFont typeface="Brush Script MT" pitchFamily="66" charset="0"/>
        <a:buChar char="O"/>
        <a:defRPr sz="2000" kern="1200">
          <a:solidFill>
            <a:schemeClr val="tx1"/>
          </a:solidFill>
          <a:latin typeface="+mn-lt"/>
          <a:ea typeface="+mn-ea"/>
          <a:cs typeface="+mn-cs"/>
        </a:defRPr>
      </a:lvl3pPr>
      <a:lvl4pPr marL="1280160" indent="-228600" algn="l" defTabSz="914400" rtl="0" eaLnBrk="1" latinLnBrk="0" hangingPunct="1">
        <a:spcBef>
          <a:spcPct val="20000"/>
        </a:spcBef>
        <a:buClr>
          <a:schemeClr val="accent2"/>
        </a:buClr>
        <a:buSzPct val="85000"/>
        <a:buFont typeface="Brush Script MT" pitchFamily="66" charset="0"/>
        <a:buChar char="O"/>
        <a:defRPr sz="1800" kern="1200">
          <a:solidFill>
            <a:schemeClr val="tx1"/>
          </a:solidFill>
          <a:latin typeface="+mn-lt"/>
          <a:ea typeface="+mn-ea"/>
          <a:cs typeface="+mn-cs"/>
        </a:defRPr>
      </a:lvl4pPr>
      <a:lvl5pPr marL="164592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5pPr>
      <a:lvl6pPr marL="201168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6pPr>
      <a:lvl7pPr marL="237744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7pPr>
      <a:lvl8pPr marL="274320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8pPr>
      <a:lvl9pPr marL="310896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19672" y="1484784"/>
            <a:ext cx="5723468" cy="1512168"/>
          </a:xfrm>
        </p:spPr>
        <p:txBody>
          <a:bodyPr>
            <a:normAutofit fontScale="90000"/>
          </a:bodyPr>
          <a:lstStyle/>
          <a:p>
            <a:r>
              <a:rPr lang="en-US" dirty="0" smtClean="0"/>
              <a:t>OPERATING SYSTEM</a:t>
            </a:r>
            <a:br>
              <a:rPr lang="en-US" dirty="0" smtClean="0"/>
            </a:br>
            <a:r>
              <a:rPr lang="en-US" dirty="0" smtClean="0"/>
              <a:t>DFC 2043</a:t>
            </a:r>
            <a:r>
              <a:rPr lang="en-US" smtClean="0"/>
              <a:t/>
            </a:r>
            <a:br>
              <a:rPr lang="en-US" smtClean="0"/>
            </a:br>
            <a:r>
              <a:rPr lang="en-US" sz="1800" b="1" i="1" smtClean="0"/>
              <a:t>by   :  </a:t>
            </a:r>
            <a:r>
              <a:rPr lang="en-US" sz="1800" b="1" i="1" dirty="0" err="1" smtClean="0"/>
              <a:t>Zarina</a:t>
            </a:r>
            <a:r>
              <a:rPr lang="en-US" sz="1800" b="1" i="1" dirty="0" smtClean="0"/>
              <a:t> </a:t>
            </a:r>
            <a:r>
              <a:rPr lang="en-US" sz="1800" b="1" i="1" dirty="0" err="1" smtClean="0"/>
              <a:t>Binti</a:t>
            </a:r>
            <a:r>
              <a:rPr lang="en-US" sz="1800" b="1" i="1" dirty="0" smtClean="0"/>
              <a:t> Musa</a:t>
            </a:r>
            <a:endParaRPr lang="en-MY" dirty="0"/>
          </a:p>
        </p:txBody>
      </p:sp>
      <p:sp>
        <p:nvSpPr>
          <p:cNvPr id="3" name="Subtitle 2"/>
          <p:cNvSpPr>
            <a:spLocks noGrp="1"/>
          </p:cNvSpPr>
          <p:nvPr>
            <p:ph type="subTitle" idx="1"/>
          </p:nvPr>
        </p:nvSpPr>
        <p:spPr>
          <a:xfrm>
            <a:off x="1691680" y="3068960"/>
            <a:ext cx="6085160" cy="2232248"/>
          </a:xfrm>
        </p:spPr>
        <p:txBody>
          <a:bodyPr>
            <a:normAutofit/>
          </a:bodyPr>
          <a:lstStyle/>
          <a:p>
            <a:r>
              <a:rPr lang="en-US" sz="2000" dirty="0" smtClean="0">
                <a:solidFill>
                  <a:schemeClr val="bg2">
                    <a:lumMod val="10000"/>
                  </a:schemeClr>
                </a:solidFill>
              </a:rPr>
              <a:t>GROUP MEMBERS:</a:t>
            </a:r>
          </a:p>
          <a:p>
            <a:r>
              <a:rPr lang="en-US" sz="2000" dirty="0" err="1" smtClean="0">
                <a:solidFill>
                  <a:schemeClr val="bg2">
                    <a:lumMod val="10000"/>
                  </a:schemeClr>
                </a:solidFill>
              </a:rPr>
              <a:t>Neeroshan</a:t>
            </a:r>
            <a:r>
              <a:rPr lang="en-US" sz="2000" dirty="0" smtClean="0">
                <a:solidFill>
                  <a:schemeClr val="bg2">
                    <a:lumMod val="10000"/>
                  </a:schemeClr>
                </a:solidFill>
              </a:rPr>
              <a:t> A/L Kamala Nathan</a:t>
            </a:r>
            <a:r>
              <a:rPr lang="en-US" sz="2000" dirty="0">
                <a:solidFill>
                  <a:schemeClr val="bg2">
                    <a:lumMod val="10000"/>
                  </a:schemeClr>
                </a:solidFill>
              </a:rPr>
              <a:t> </a:t>
            </a:r>
            <a:r>
              <a:rPr lang="en-US" sz="2000" dirty="0" smtClean="0">
                <a:solidFill>
                  <a:schemeClr val="bg2">
                    <a:lumMod val="10000"/>
                  </a:schemeClr>
                </a:solidFill>
              </a:rPr>
              <a:t>     13DIP15F1132</a:t>
            </a:r>
          </a:p>
          <a:p>
            <a:r>
              <a:rPr lang="en-US" sz="2000" dirty="0" err="1" smtClean="0">
                <a:solidFill>
                  <a:schemeClr val="bg2">
                    <a:lumMod val="10000"/>
                  </a:schemeClr>
                </a:solidFill>
              </a:rPr>
              <a:t>Nur</a:t>
            </a:r>
            <a:r>
              <a:rPr lang="en-US" sz="2000" dirty="0" smtClean="0">
                <a:solidFill>
                  <a:schemeClr val="bg2">
                    <a:lumMod val="10000"/>
                  </a:schemeClr>
                </a:solidFill>
              </a:rPr>
              <a:t> </a:t>
            </a:r>
            <a:r>
              <a:rPr lang="en-US" sz="2000" dirty="0" err="1" smtClean="0">
                <a:solidFill>
                  <a:schemeClr val="bg2">
                    <a:lumMod val="10000"/>
                  </a:schemeClr>
                </a:solidFill>
              </a:rPr>
              <a:t>Hazliana</a:t>
            </a:r>
            <a:r>
              <a:rPr lang="en-US" sz="2000" dirty="0" smtClean="0">
                <a:solidFill>
                  <a:schemeClr val="bg2">
                    <a:lumMod val="10000"/>
                  </a:schemeClr>
                </a:solidFill>
              </a:rPr>
              <a:t> </a:t>
            </a:r>
            <a:r>
              <a:rPr lang="en-US" sz="2000" dirty="0" err="1" smtClean="0">
                <a:solidFill>
                  <a:schemeClr val="bg2">
                    <a:lumMod val="10000"/>
                  </a:schemeClr>
                </a:solidFill>
              </a:rPr>
              <a:t>Binti</a:t>
            </a:r>
            <a:r>
              <a:rPr lang="en-US" sz="2000" dirty="0" smtClean="0">
                <a:solidFill>
                  <a:schemeClr val="bg2">
                    <a:lumMod val="10000"/>
                  </a:schemeClr>
                </a:solidFill>
              </a:rPr>
              <a:t> A </a:t>
            </a:r>
            <a:r>
              <a:rPr lang="en-US" sz="2000" dirty="0" err="1" smtClean="0">
                <a:solidFill>
                  <a:schemeClr val="bg2">
                    <a:lumMod val="10000"/>
                  </a:schemeClr>
                </a:solidFill>
              </a:rPr>
              <a:t>Nizam</a:t>
            </a:r>
            <a:r>
              <a:rPr lang="en-US" sz="2000" dirty="0" smtClean="0">
                <a:solidFill>
                  <a:schemeClr val="bg2">
                    <a:lumMod val="10000"/>
                  </a:schemeClr>
                </a:solidFill>
              </a:rPr>
              <a:t>	13DIP15F1065</a:t>
            </a:r>
          </a:p>
          <a:p>
            <a:r>
              <a:rPr lang="en-US" sz="2000" dirty="0" err="1" smtClean="0">
                <a:solidFill>
                  <a:schemeClr val="bg2">
                    <a:lumMod val="10000"/>
                  </a:schemeClr>
                </a:solidFill>
              </a:rPr>
              <a:t>Intan</a:t>
            </a:r>
            <a:r>
              <a:rPr lang="en-US" sz="2000" dirty="0" smtClean="0">
                <a:solidFill>
                  <a:schemeClr val="bg2">
                    <a:lumMod val="10000"/>
                  </a:schemeClr>
                </a:solidFill>
              </a:rPr>
              <a:t> </a:t>
            </a:r>
            <a:r>
              <a:rPr lang="en-US" sz="2000" dirty="0" err="1" smtClean="0">
                <a:solidFill>
                  <a:schemeClr val="bg2">
                    <a:lumMod val="10000"/>
                  </a:schemeClr>
                </a:solidFill>
              </a:rPr>
              <a:t>Sufina</a:t>
            </a:r>
            <a:r>
              <a:rPr lang="en-US" sz="2000" dirty="0" smtClean="0">
                <a:solidFill>
                  <a:schemeClr val="bg2">
                    <a:lumMod val="10000"/>
                  </a:schemeClr>
                </a:solidFill>
              </a:rPr>
              <a:t> </a:t>
            </a:r>
            <a:r>
              <a:rPr lang="en-US" sz="2000" dirty="0" err="1" smtClean="0">
                <a:solidFill>
                  <a:schemeClr val="bg2">
                    <a:lumMod val="10000"/>
                  </a:schemeClr>
                </a:solidFill>
              </a:rPr>
              <a:t>Binti</a:t>
            </a:r>
            <a:r>
              <a:rPr lang="en-US" sz="2000" dirty="0" smtClean="0">
                <a:solidFill>
                  <a:schemeClr val="bg2">
                    <a:lumMod val="10000"/>
                  </a:schemeClr>
                </a:solidFill>
              </a:rPr>
              <a:t> Abdul </a:t>
            </a:r>
            <a:r>
              <a:rPr lang="en-US" sz="2000" dirty="0" err="1" smtClean="0">
                <a:solidFill>
                  <a:schemeClr val="bg2">
                    <a:lumMod val="10000"/>
                  </a:schemeClr>
                </a:solidFill>
              </a:rPr>
              <a:t>Hadi</a:t>
            </a:r>
            <a:r>
              <a:rPr lang="en-US" sz="2000" dirty="0" smtClean="0">
                <a:solidFill>
                  <a:schemeClr val="bg2">
                    <a:lumMod val="10000"/>
                  </a:schemeClr>
                </a:solidFill>
              </a:rPr>
              <a:t>	13DIP15F1201</a:t>
            </a:r>
          </a:p>
          <a:p>
            <a:r>
              <a:rPr lang="en-US" sz="2000" dirty="0" err="1" smtClean="0">
                <a:solidFill>
                  <a:schemeClr val="bg2">
                    <a:lumMod val="10000"/>
                  </a:schemeClr>
                </a:solidFill>
              </a:rPr>
              <a:t>Thaneeswary</a:t>
            </a:r>
            <a:r>
              <a:rPr lang="en-US" sz="2000" dirty="0" smtClean="0">
                <a:solidFill>
                  <a:schemeClr val="bg2">
                    <a:lumMod val="10000"/>
                  </a:schemeClr>
                </a:solidFill>
              </a:rPr>
              <a:t> A/P </a:t>
            </a:r>
            <a:r>
              <a:rPr lang="en-US" sz="2000" dirty="0" err="1" smtClean="0">
                <a:solidFill>
                  <a:schemeClr val="bg2">
                    <a:lumMod val="10000"/>
                  </a:schemeClr>
                </a:solidFill>
              </a:rPr>
              <a:t>Pacrisamy</a:t>
            </a:r>
            <a:r>
              <a:rPr lang="en-US" sz="2000" dirty="0" smtClean="0">
                <a:solidFill>
                  <a:schemeClr val="bg2">
                    <a:lumMod val="10000"/>
                  </a:schemeClr>
                </a:solidFill>
              </a:rPr>
              <a:t>	13DIP15F1101</a:t>
            </a:r>
          </a:p>
          <a:p>
            <a:r>
              <a:rPr lang="en-US" sz="2000" dirty="0" err="1" smtClean="0">
                <a:solidFill>
                  <a:schemeClr val="bg2">
                    <a:lumMod val="10000"/>
                  </a:schemeClr>
                </a:solidFill>
              </a:rPr>
              <a:t>Nurin</a:t>
            </a:r>
            <a:r>
              <a:rPr lang="en-US" sz="2000" dirty="0" smtClean="0">
                <a:solidFill>
                  <a:schemeClr val="bg2">
                    <a:lumMod val="10000"/>
                  </a:schemeClr>
                </a:solidFill>
              </a:rPr>
              <a:t> </a:t>
            </a:r>
            <a:r>
              <a:rPr lang="en-US" sz="2000" dirty="0" err="1" smtClean="0">
                <a:solidFill>
                  <a:schemeClr val="bg2">
                    <a:lumMod val="10000"/>
                  </a:schemeClr>
                </a:solidFill>
              </a:rPr>
              <a:t>Jaslina</a:t>
            </a:r>
            <a:r>
              <a:rPr lang="en-US" sz="2000" dirty="0" smtClean="0">
                <a:solidFill>
                  <a:schemeClr val="bg2">
                    <a:lumMod val="10000"/>
                  </a:schemeClr>
                </a:solidFill>
              </a:rPr>
              <a:t> </a:t>
            </a:r>
            <a:r>
              <a:rPr lang="en-US" sz="2000" dirty="0" err="1" smtClean="0">
                <a:solidFill>
                  <a:schemeClr val="bg2">
                    <a:lumMod val="10000"/>
                  </a:schemeClr>
                </a:solidFill>
              </a:rPr>
              <a:t>Binti</a:t>
            </a:r>
            <a:r>
              <a:rPr lang="en-US" sz="2000" dirty="0" smtClean="0">
                <a:solidFill>
                  <a:schemeClr val="bg2">
                    <a:lumMod val="10000"/>
                  </a:schemeClr>
                </a:solidFill>
              </a:rPr>
              <a:t> </a:t>
            </a:r>
            <a:r>
              <a:rPr lang="en-US" sz="2000" dirty="0" err="1" smtClean="0">
                <a:solidFill>
                  <a:schemeClr val="bg2">
                    <a:lumMod val="10000"/>
                  </a:schemeClr>
                </a:solidFill>
              </a:rPr>
              <a:t>Miskam</a:t>
            </a:r>
            <a:r>
              <a:rPr lang="en-US" sz="2000" dirty="0" smtClean="0">
                <a:solidFill>
                  <a:schemeClr val="bg2">
                    <a:lumMod val="10000"/>
                  </a:schemeClr>
                </a:solidFill>
              </a:rPr>
              <a:t>	13DIP15F1017</a:t>
            </a:r>
          </a:p>
          <a:p>
            <a:endParaRPr lang="en-US" sz="2000" dirty="0" smtClean="0">
              <a:solidFill>
                <a:schemeClr val="bg2">
                  <a:lumMod val="10000"/>
                </a:schemeClr>
              </a:solidFill>
            </a:endParaRPr>
          </a:p>
          <a:p>
            <a:endParaRPr lang="en-MY" sz="2000" dirty="0"/>
          </a:p>
        </p:txBody>
      </p:sp>
    </p:spTree>
    <p:extLst>
      <p:ext uri="{BB962C8B-B14F-4D97-AF65-F5344CB8AC3E}">
        <p14:creationId xmlns:p14="http://schemas.microsoft.com/office/powerpoint/2010/main" val="543999914"/>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750"/>
                                        <p:tgtEl>
                                          <p:spTgt spid="3">
                                            <p:txEl>
                                              <p:pRg st="0" end="0"/>
                                            </p:txEl>
                                          </p:spTgt>
                                        </p:tgtEl>
                                      </p:cBhvr>
                                    </p:animEffect>
                                    <p:anim calcmode="lin" valueType="num">
                                      <p:cBhvr>
                                        <p:cTn id="13" dur="75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750"/>
                                        <p:tgtEl>
                                          <p:spTgt spid="3">
                                            <p:txEl>
                                              <p:pRg st="1" end="1"/>
                                            </p:txEl>
                                          </p:spTgt>
                                        </p:tgtEl>
                                      </p:cBhvr>
                                    </p:animEffect>
                                    <p:anim calcmode="lin" valueType="num">
                                      <p:cBhvr>
                                        <p:cTn id="20" dur="75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75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750"/>
                                        <p:tgtEl>
                                          <p:spTgt spid="3">
                                            <p:txEl>
                                              <p:pRg st="2" end="2"/>
                                            </p:txEl>
                                          </p:spTgt>
                                        </p:tgtEl>
                                      </p:cBhvr>
                                    </p:animEffect>
                                    <p:anim calcmode="lin" valueType="num">
                                      <p:cBhvr>
                                        <p:cTn id="27" dur="75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75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750"/>
                                        <p:tgtEl>
                                          <p:spTgt spid="3">
                                            <p:txEl>
                                              <p:pRg st="3" end="3"/>
                                            </p:txEl>
                                          </p:spTgt>
                                        </p:tgtEl>
                                      </p:cBhvr>
                                    </p:animEffect>
                                    <p:anim calcmode="lin" valueType="num">
                                      <p:cBhvr>
                                        <p:cTn id="34" dur="75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75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4" end="4"/>
                                            </p:txEl>
                                          </p:spTgt>
                                        </p:tgtEl>
                                        <p:attrNameLst>
                                          <p:attrName>style.visibility</p:attrName>
                                        </p:attrNameLst>
                                      </p:cBhvr>
                                      <p:to>
                                        <p:strVal val="visible"/>
                                      </p:to>
                                    </p:set>
                                    <p:animEffect transition="in" filter="fade">
                                      <p:cBhvr>
                                        <p:cTn id="40" dur="750"/>
                                        <p:tgtEl>
                                          <p:spTgt spid="3">
                                            <p:txEl>
                                              <p:pRg st="4" end="4"/>
                                            </p:txEl>
                                          </p:spTgt>
                                        </p:tgtEl>
                                      </p:cBhvr>
                                    </p:animEffect>
                                    <p:anim calcmode="lin" valueType="num">
                                      <p:cBhvr>
                                        <p:cTn id="41" dur="75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2" dur="75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Effect transition="in" filter="fade">
                                      <p:cBhvr>
                                        <p:cTn id="47" dur="750"/>
                                        <p:tgtEl>
                                          <p:spTgt spid="3">
                                            <p:txEl>
                                              <p:pRg st="5" end="5"/>
                                            </p:txEl>
                                          </p:spTgt>
                                        </p:tgtEl>
                                      </p:cBhvr>
                                    </p:animEffect>
                                    <p:anim calcmode="lin" valueType="num">
                                      <p:cBhvr>
                                        <p:cTn id="48" dur="75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9" dur="75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63040" y="1700808"/>
            <a:ext cx="6196405" cy="4248471"/>
          </a:xfrm>
        </p:spPr>
        <p:txBody>
          <a:bodyPr>
            <a:normAutofit/>
          </a:bodyPr>
          <a:lstStyle/>
          <a:p>
            <a:pPr>
              <a:buFont typeface="Wingdings" pitchFamily="2" charset="2"/>
              <a:buChar char="Ø"/>
            </a:pPr>
            <a:r>
              <a:rPr lang="en-US" dirty="0" smtClean="0"/>
              <a:t> </a:t>
            </a:r>
            <a:r>
              <a:rPr lang="en-US" sz="1800" dirty="0" smtClean="0"/>
              <a:t>The ability to execute more than one task at the same time, a task being a program in multitasking, only one CPU is involved, but it switches from one program to another so quickly that it gives the appearance of executing all of the programs at the same time.</a:t>
            </a:r>
          </a:p>
          <a:p>
            <a:pPr>
              <a:buFont typeface="Wingdings" pitchFamily="2" charset="2"/>
              <a:buChar char="Ø"/>
            </a:pPr>
            <a:r>
              <a:rPr lang="en-US" sz="1800" dirty="0" smtClean="0"/>
              <a:t>There are two basic types of multitasking:</a:t>
            </a:r>
          </a:p>
          <a:p>
            <a:pPr lvl="2">
              <a:buFont typeface="Wingdings" pitchFamily="2" charset="2"/>
              <a:buChar char="§"/>
            </a:pPr>
            <a:r>
              <a:rPr lang="en-US" sz="1400" dirty="0" smtClean="0"/>
              <a:t>Preemptive – the operating systems parcel out CPU time slices to each program.</a:t>
            </a:r>
          </a:p>
          <a:p>
            <a:pPr marL="685800" lvl="2" indent="0">
              <a:buNone/>
            </a:pPr>
            <a:r>
              <a:rPr lang="en-US" sz="1400" dirty="0"/>
              <a:t>	</a:t>
            </a:r>
            <a:r>
              <a:rPr lang="en-US" sz="1400" dirty="0" smtClean="0"/>
              <a:t>	- </a:t>
            </a:r>
            <a:r>
              <a:rPr lang="en-US" sz="1400" dirty="0" err="1" smtClean="0"/>
              <a:t>e.g:Windows</a:t>
            </a:r>
            <a:r>
              <a:rPr lang="en-US" sz="1400" dirty="0" smtClean="0"/>
              <a:t> 95, Windows NT, Amiga Operating system </a:t>
            </a:r>
          </a:p>
          <a:p>
            <a:pPr marL="685800" lvl="2" indent="0">
              <a:buNone/>
            </a:pPr>
            <a:r>
              <a:rPr lang="en-US" sz="1400" dirty="0"/>
              <a:t>	</a:t>
            </a:r>
            <a:r>
              <a:rPr lang="en-US" sz="1400" dirty="0" smtClean="0"/>
              <a:t>	        and UNIX.</a:t>
            </a:r>
          </a:p>
          <a:p>
            <a:pPr lvl="2">
              <a:buFont typeface="Wingdings" pitchFamily="2" charset="2"/>
              <a:buChar char="§"/>
            </a:pPr>
            <a:r>
              <a:rPr lang="en-US" sz="1400" dirty="0" smtClean="0"/>
              <a:t>Cooperative – each program can control the CPU for as long as it needs </a:t>
            </a:r>
            <a:r>
              <a:rPr lang="en-US" sz="1400" dirty="0" err="1" smtClean="0"/>
              <a:t>it.If</a:t>
            </a:r>
            <a:r>
              <a:rPr lang="en-US" sz="1400" dirty="0" smtClean="0"/>
              <a:t> a program is not using the CPU, however, it can allow another program to use it temporarily.</a:t>
            </a:r>
          </a:p>
          <a:p>
            <a:pPr marL="1783080" lvl="5" indent="0">
              <a:buNone/>
            </a:pPr>
            <a:r>
              <a:rPr lang="en-US" sz="1400" dirty="0" smtClean="0"/>
              <a:t>- </a:t>
            </a:r>
            <a:r>
              <a:rPr lang="en-US" sz="1400" dirty="0" err="1" smtClean="0"/>
              <a:t>e.g</a:t>
            </a:r>
            <a:r>
              <a:rPr lang="en-US" sz="1400" dirty="0" smtClean="0"/>
              <a:t>:-Microsoft Windows 3.x and the </a:t>
            </a:r>
            <a:r>
              <a:rPr lang="en-US" sz="1400" dirty="0" err="1" smtClean="0"/>
              <a:t>Multifolder</a:t>
            </a:r>
            <a:r>
              <a:rPr lang="en-US" sz="1400" dirty="0" smtClean="0"/>
              <a:t>(for     	        Macintosh computers)</a:t>
            </a:r>
          </a:p>
          <a:p>
            <a:pPr marL="1783080" lvl="5" indent="0">
              <a:buNone/>
            </a:pPr>
            <a:endParaRPr lang="en-MY" sz="1400" dirty="0"/>
          </a:p>
        </p:txBody>
      </p:sp>
      <p:sp>
        <p:nvSpPr>
          <p:cNvPr id="6" name="Title 5"/>
          <p:cNvSpPr>
            <a:spLocks noGrp="1"/>
          </p:cNvSpPr>
          <p:nvPr>
            <p:ph type="title"/>
          </p:nvPr>
        </p:nvSpPr>
        <p:spPr>
          <a:xfrm>
            <a:off x="1095023" y="817583"/>
            <a:ext cx="6965245" cy="883225"/>
          </a:xfrm>
        </p:spPr>
        <p:txBody>
          <a:bodyPr/>
          <a:lstStyle/>
          <a:p>
            <a:r>
              <a:rPr lang="en-US" dirty="0" smtClean="0"/>
              <a:t>MULTITASKING</a:t>
            </a:r>
            <a:endParaRPr lang="en-MY" dirty="0"/>
          </a:p>
        </p:txBody>
      </p:sp>
    </p:spTree>
    <p:extLst>
      <p:ext uri="{BB962C8B-B14F-4D97-AF65-F5344CB8AC3E}">
        <p14:creationId xmlns:p14="http://schemas.microsoft.com/office/powerpoint/2010/main" val="77406044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883226"/>
          </a:xfrm>
        </p:spPr>
        <p:txBody>
          <a:bodyPr/>
          <a:lstStyle/>
          <a:p>
            <a:r>
              <a:rPr lang="en-US" dirty="0" smtClean="0"/>
              <a:t>MULTITASKING</a:t>
            </a:r>
            <a:endParaRPr lang="en-MY" dirty="0"/>
          </a:p>
        </p:txBody>
      </p:sp>
      <p:sp>
        <p:nvSpPr>
          <p:cNvPr id="3" name="Content Placeholder 2"/>
          <p:cNvSpPr>
            <a:spLocks noGrp="1"/>
          </p:cNvSpPr>
          <p:nvPr>
            <p:ph idx="1"/>
          </p:nvPr>
        </p:nvSpPr>
        <p:spPr>
          <a:xfrm>
            <a:off x="1463040" y="1772816"/>
            <a:ext cx="6196405" cy="3950253"/>
          </a:xfrm>
        </p:spPr>
        <p:txBody>
          <a:bodyPr>
            <a:normAutofit/>
          </a:bodyPr>
          <a:lstStyle/>
          <a:p>
            <a:r>
              <a:rPr lang="en-US" sz="2000" dirty="0" smtClean="0"/>
              <a:t>Example of multiprogramming, we open the world, excel, access and each other application together but while we type in word other applications such as excel and access are just present in main memory but they are not performing any task or work</a:t>
            </a:r>
          </a:p>
          <a:p>
            <a:pPr marL="0" indent="0">
              <a:buNone/>
            </a:pPr>
            <a:endParaRPr lang="en-US" sz="20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7" y="3501008"/>
            <a:ext cx="5616625" cy="2520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3507673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anim calcmode="lin" valueType="num">
                                      <p:cBhvr additive="base">
                                        <p:cTn id="17" dur="500" fill="hold"/>
                                        <p:tgtEl>
                                          <p:spTgt spid="1026"/>
                                        </p:tgtEl>
                                        <p:attrNameLst>
                                          <p:attrName>ppt_x</p:attrName>
                                        </p:attrNameLst>
                                      </p:cBhvr>
                                      <p:tavLst>
                                        <p:tav tm="0">
                                          <p:val>
                                            <p:strVal val="#ppt_x"/>
                                          </p:val>
                                        </p:tav>
                                        <p:tav tm="100000">
                                          <p:val>
                                            <p:strVal val="#ppt_x"/>
                                          </p:val>
                                        </p:tav>
                                      </p:tavLst>
                                    </p:anim>
                                    <p:anim calcmode="lin" valueType="num">
                                      <p:cBhvr additive="base">
                                        <p:cTn id="1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883226"/>
          </a:xfrm>
        </p:spPr>
        <p:txBody>
          <a:bodyPr>
            <a:normAutofit fontScale="90000"/>
          </a:bodyPr>
          <a:lstStyle/>
          <a:p>
            <a:r>
              <a:rPr lang="en-US" dirty="0" smtClean="0"/>
              <a:t>EXAMPLE OF MULTITASKING</a:t>
            </a:r>
            <a:endParaRPr lang="en-MY"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63688" y="1877026"/>
            <a:ext cx="5256584" cy="2128038"/>
          </a:xfrm>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9832" y="4005063"/>
            <a:ext cx="2808312" cy="2304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9198564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050"/>
                                        </p:tgtEl>
                                        <p:attrNameLst>
                                          <p:attrName>style.visibility</p:attrName>
                                        </p:attrNameLst>
                                      </p:cBhvr>
                                      <p:to>
                                        <p:strVal val="visible"/>
                                      </p:to>
                                    </p:set>
                                    <p:animEffect transition="in" filter="fade">
                                      <p:cBhvr>
                                        <p:cTn id="18"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MULTIPROGRAMMING</a:t>
            </a:r>
            <a:endParaRPr lang="en-MY" dirty="0"/>
          </a:p>
        </p:txBody>
      </p:sp>
      <p:sp>
        <p:nvSpPr>
          <p:cNvPr id="3" name="Content Placeholder 2"/>
          <p:cNvSpPr>
            <a:spLocks noGrp="1"/>
          </p:cNvSpPr>
          <p:nvPr>
            <p:ph idx="1"/>
          </p:nvPr>
        </p:nvSpPr>
        <p:spPr/>
        <p:txBody>
          <a:bodyPr>
            <a:normAutofit fontScale="92500"/>
          </a:bodyPr>
          <a:lstStyle/>
          <a:p>
            <a:r>
              <a:rPr lang="en-US" sz="2000" dirty="0" smtClean="0"/>
              <a:t>Multiprogramming is the technique of running several programs at a time using timesharing.</a:t>
            </a:r>
          </a:p>
          <a:p>
            <a:r>
              <a:rPr lang="en-US" sz="2000" dirty="0" smtClean="0"/>
              <a:t>It allows a computer to do several things at the same time.</a:t>
            </a:r>
          </a:p>
          <a:p>
            <a:r>
              <a:rPr lang="en-US" sz="2000" dirty="0" smtClean="0"/>
              <a:t>Multiprogramming creates logical parallelism.</a:t>
            </a:r>
          </a:p>
          <a:p>
            <a:r>
              <a:rPr lang="en-US" sz="2000" dirty="0" smtClean="0"/>
              <a:t>The concept of multiprogramming is that the operating system keeps several jobs in memory simultaneously.</a:t>
            </a:r>
          </a:p>
          <a:p>
            <a:r>
              <a:rPr lang="en-US" sz="2000" dirty="0" smtClean="0"/>
              <a:t>The operating system selects a job from the job pool and starts executing a job, when that job needs to wait for any o/o operations the CPU is switched to another job. </a:t>
            </a:r>
            <a:endParaRPr lang="en-MY" sz="2000" dirty="0"/>
          </a:p>
        </p:txBody>
      </p:sp>
    </p:spTree>
    <p:extLst>
      <p:ext uri="{BB962C8B-B14F-4D97-AF65-F5344CB8AC3E}">
        <p14:creationId xmlns:p14="http://schemas.microsoft.com/office/powerpoint/2010/main" val="229916554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 calcmode="lin" valueType="num">
                                      <p:cBhvr>
                                        <p:cTn id="25"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26"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27" dur="500"/>
                                        <p:tgtEl>
                                          <p:spTgt spid="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grpId="0" nodeType="clickEffect">
                                  <p:stCondLst>
                                    <p:cond delay="0"/>
                                  </p:stCondLst>
                                  <p:childTnLst>
                                    <p:set>
                                      <p:cBhvr>
                                        <p:cTn id="31" dur="1" fill="hold">
                                          <p:stCondLst>
                                            <p:cond delay="0"/>
                                          </p:stCondLst>
                                        </p:cTn>
                                        <p:tgtEl>
                                          <p:spTgt spid="3">
                                            <p:txEl>
                                              <p:pRg st="1" end="1"/>
                                            </p:txEl>
                                          </p:spTgt>
                                        </p:tgtEl>
                                        <p:attrNameLst>
                                          <p:attrName>style.visibility</p:attrName>
                                        </p:attrNameLst>
                                      </p:cBhvr>
                                      <p:to>
                                        <p:strVal val="visible"/>
                                      </p:to>
                                    </p:set>
                                    <p:anim calcmode="lin" valueType="num">
                                      <p:cBhvr>
                                        <p:cTn id="32"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33"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34" dur="500"/>
                                        <p:tgtEl>
                                          <p:spTgt spid="3">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 calcmode="lin" valueType="num">
                                      <p:cBhvr>
                                        <p:cTn id="39"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40"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41" dur="500"/>
                                        <p:tgtEl>
                                          <p:spTgt spid="3">
                                            <p:txEl>
                                              <p:pRg st="2" end="2"/>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53" presetClass="entr" presetSubtype="16" fill="hold" grpId="0" nodeType="clickEffect">
                                  <p:stCondLst>
                                    <p:cond delay="0"/>
                                  </p:stCondLst>
                                  <p:childTnLst>
                                    <p:set>
                                      <p:cBhvr>
                                        <p:cTn id="45" dur="1" fill="hold">
                                          <p:stCondLst>
                                            <p:cond delay="0"/>
                                          </p:stCondLst>
                                        </p:cTn>
                                        <p:tgtEl>
                                          <p:spTgt spid="3">
                                            <p:txEl>
                                              <p:pRg st="3" end="3"/>
                                            </p:txEl>
                                          </p:spTgt>
                                        </p:tgtEl>
                                        <p:attrNameLst>
                                          <p:attrName>style.visibility</p:attrName>
                                        </p:attrNameLst>
                                      </p:cBhvr>
                                      <p:to>
                                        <p:strVal val="visible"/>
                                      </p:to>
                                    </p:set>
                                    <p:anim calcmode="lin" valueType="num">
                                      <p:cBhvr>
                                        <p:cTn id="46"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47"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48" dur="500"/>
                                        <p:tgtEl>
                                          <p:spTgt spid="3">
                                            <p:txEl>
                                              <p:pRg st="3" end="3"/>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grpId="0" nodeType="clickEffect">
                                  <p:stCondLst>
                                    <p:cond delay="0"/>
                                  </p:stCondLst>
                                  <p:childTnLst>
                                    <p:set>
                                      <p:cBhvr>
                                        <p:cTn id="52" dur="1" fill="hold">
                                          <p:stCondLst>
                                            <p:cond delay="0"/>
                                          </p:stCondLst>
                                        </p:cTn>
                                        <p:tgtEl>
                                          <p:spTgt spid="3">
                                            <p:txEl>
                                              <p:pRg st="4" end="4"/>
                                            </p:txEl>
                                          </p:spTgt>
                                        </p:tgtEl>
                                        <p:attrNameLst>
                                          <p:attrName>style.visibility</p:attrName>
                                        </p:attrNameLst>
                                      </p:cBhvr>
                                      <p:to>
                                        <p:strVal val="visible"/>
                                      </p:to>
                                    </p:set>
                                    <p:anim calcmode="lin" valueType="num">
                                      <p:cBhvr>
                                        <p:cTn id="53"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54"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5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883226"/>
          </a:xfrm>
        </p:spPr>
        <p:txBody>
          <a:bodyPr/>
          <a:lstStyle/>
          <a:p>
            <a:r>
              <a:rPr lang="en-US" dirty="0" smtClean="0"/>
              <a:t>MULTIPROGRAMMING</a:t>
            </a:r>
            <a:endParaRPr lang="en-MY" dirty="0"/>
          </a:p>
        </p:txBody>
      </p:sp>
      <p:sp>
        <p:nvSpPr>
          <p:cNvPr id="3" name="Content Placeholder 2"/>
          <p:cNvSpPr>
            <a:spLocks noGrp="1"/>
          </p:cNvSpPr>
          <p:nvPr>
            <p:ph idx="1"/>
          </p:nvPr>
        </p:nvSpPr>
        <p:spPr>
          <a:xfrm>
            <a:off x="1463040" y="1556792"/>
            <a:ext cx="6196405" cy="4166277"/>
          </a:xfrm>
        </p:spPr>
        <p:txBody>
          <a:bodyPr/>
          <a:lstStyle/>
          <a:p>
            <a:r>
              <a:rPr lang="en-US" dirty="0" smtClean="0"/>
              <a:t>Example of multiprogramming we listen to music and do internet browsing at the same time (they execute </a:t>
            </a:r>
            <a:r>
              <a:rPr lang="en-US" dirty="0" err="1" smtClean="0"/>
              <a:t>parallely</a:t>
            </a:r>
            <a:r>
              <a:rPr lang="en-US" dirty="0" smtClean="0"/>
              <a:t>)</a:t>
            </a:r>
          </a:p>
          <a:p>
            <a:pPr marL="0" indent="0">
              <a:buNone/>
            </a:pPr>
            <a:endParaRPr lang="en-MY"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608" y="2852936"/>
            <a:ext cx="6867935" cy="2952328"/>
          </a:xfrm>
          <a:prstGeom prst="rect">
            <a:avLst/>
          </a:prstGeom>
        </p:spPr>
      </p:pic>
    </p:spTree>
    <p:extLst>
      <p:ext uri="{BB962C8B-B14F-4D97-AF65-F5344CB8AC3E}">
        <p14:creationId xmlns:p14="http://schemas.microsoft.com/office/powerpoint/2010/main" val="417775331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TIME-SHARING</a:t>
            </a:r>
            <a:endParaRPr lang="en-MY" dirty="0"/>
          </a:p>
        </p:txBody>
      </p:sp>
      <p:sp>
        <p:nvSpPr>
          <p:cNvPr id="3" name="Content Placeholder 2"/>
          <p:cNvSpPr>
            <a:spLocks noGrp="1"/>
          </p:cNvSpPr>
          <p:nvPr>
            <p:ph idx="1"/>
          </p:nvPr>
        </p:nvSpPr>
        <p:spPr/>
        <p:txBody>
          <a:bodyPr/>
          <a:lstStyle/>
          <a:p>
            <a:r>
              <a:rPr lang="en-US" dirty="0" smtClean="0"/>
              <a:t>The use of a computer system by more than one individual at the same time.</a:t>
            </a:r>
          </a:p>
          <a:p>
            <a:r>
              <a:rPr lang="en-US" dirty="0" smtClean="0"/>
              <a:t>Time-sharing runs separate programs concurrently by interleaving portions of processing time allotted to each program(user). </a:t>
            </a:r>
            <a:endParaRPr lang="en-MY" dirty="0"/>
          </a:p>
        </p:txBody>
      </p:sp>
    </p:spTree>
    <p:extLst>
      <p:ext uri="{BB962C8B-B14F-4D97-AF65-F5344CB8AC3E}">
        <p14:creationId xmlns:p14="http://schemas.microsoft.com/office/powerpoint/2010/main" val="1185017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80">
                                          <p:stCondLst>
                                            <p:cond delay="0"/>
                                          </p:stCondLst>
                                        </p:cTn>
                                        <p:tgtEl>
                                          <p:spTgt spid="3">
                                            <p:txEl>
                                              <p:pRg st="0" end="0"/>
                                            </p:txEl>
                                          </p:spTgt>
                                        </p:tgtEl>
                                      </p:cBhvr>
                                    </p:animEffect>
                                    <p:anim calcmode="lin" valueType="num">
                                      <p:cBhvr>
                                        <p:cTn id="13"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8" dur="26">
                                          <p:stCondLst>
                                            <p:cond delay="650"/>
                                          </p:stCondLst>
                                        </p:cTn>
                                        <p:tgtEl>
                                          <p:spTgt spid="3">
                                            <p:txEl>
                                              <p:pRg st="0" end="0"/>
                                            </p:txEl>
                                          </p:spTgt>
                                        </p:tgtEl>
                                      </p:cBhvr>
                                      <p:to x="100000" y="60000"/>
                                    </p:animScale>
                                    <p:animScale>
                                      <p:cBhvr>
                                        <p:cTn id="19" dur="166" decel="50000">
                                          <p:stCondLst>
                                            <p:cond delay="676"/>
                                          </p:stCondLst>
                                        </p:cTn>
                                        <p:tgtEl>
                                          <p:spTgt spid="3">
                                            <p:txEl>
                                              <p:pRg st="0" end="0"/>
                                            </p:txEl>
                                          </p:spTgt>
                                        </p:tgtEl>
                                      </p:cBhvr>
                                      <p:to x="100000" y="100000"/>
                                    </p:animScale>
                                    <p:animScale>
                                      <p:cBhvr>
                                        <p:cTn id="20" dur="26">
                                          <p:stCondLst>
                                            <p:cond delay="1312"/>
                                          </p:stCondLst>
                                        </p:cTn>
                                        <p:tgtEl>
                                          <p:spTgt spid="3">
                                            <p:txEl>
                                              <p:pRg st="0" end="0"/>
                                            </p:txEl>
                                          </p:spTgt>
                                        </p:tgtEl>
                                      </p:cBhvr>
                                      <p:to x="100000" y="80000"/>
                                    </p:animScale>
                                    <p:animScale>
                                      <p:cBhvr>
                                        <p:cTn id="21" dur="166" decel="50000">
                                          <p:stCondLst>
                                            <p:cond delay="1338"/>
                                          </p:stCondLst>
                                        </p:cTn>
                                        <p:tgtEl>
                                          <p:spTgt spid="3">
                                            <p:txEl>
                                              <p:pRg st="0" end="0"/>
                                            </p:txEl>
                                          </p:spTgt>
                                        </p:tgtEl>
                                      </p:cBhvr>
                                      <p:to x="100000" y="100000"/>
                                    </p:animScale>
                                    <p:animScale>
                                      <p:cBhvr>
                                        <p:cTn id="22" dur="26">
                                          <p:stCondLst>
                                            <p:cond delay="1642"/>
                                          </p:stCondLst>
                                        </p:cTn>
                                        <p:tgtEl>
                                          <p:spTgt spid="3">
                                            <p:txEl>
                                              <p:pRg st="0" end="0"/>
                                            </p:txEl>
                                          </p:spTgt>
                                        </p:tgtEl>
                                      </p:cBhvr>
                                      <p:to x="100000" y="90000"/>
                                    </p:animScale>
                                    <p:animScale>
                                      <p:cBhvr>
                                        <p:cTn id="23" dur="166" decel="50000">
                                          <p:stCondLst>
                                            <p:cond delay="1668"/>
                                          </p:stCondLst>
                                        </p:cTn>
                                        <p:tgtEl>
                                          <p:spTgt spid="3">
                                            <p:txEl>
                                              <p:pRg st="0" end="0"/>
                                            </p:txEl>
                                          </p:spTgt>
                                        </p:tgtEl>
                                      </p:cBhvr>
                                      <p:to x="100000" y="100000"/>
                                    </p:animScale>
                                    <p:animScale>
                                      <p:cBhvr>
                                        <p:cTn id="24" dur="26">
                                          <p:stCondLst>
                                            <p:cond delay="1808"/>
                                          </p:stCondLst>
                                        </p:cTn>
                                        <p:tgtEl>
                                          <p:spTgt spid="3">
                                            <p:txEl>
                                              <p:pRg st="0" end="0"/>
                                            </p:txEl>
                                          </p:spTgt>
                                        </p:tgtEl>
                                      </p:cBhvr>
                                      <p:to x="100000" y="95000"/>
                                    </p:animScale>
                                    <p:animScale>
                                      <p:cBhvr>
                                        <p:cTn id="25" dur="166" decel="50000">
                                          <p:stCondLst>
                                            <p:cond delay="1834"/>
                                          </p:stCondLst>
                                        </p:cTn>
                                        <p:tgtEl>
                                          <p:spTgt spid="3">
                                            <p:txEl>
                                              <p:pRg st="0" end="0"/>
                                            </p:txEl>
                                          </p:spTgt>
                                        </p:tgtEl>
                                      </p:cBhvr>
                                      <p:to x="100000" y="100000"/>
                                    </p:animScale>
                                  </p:childTnLst>
                                </p:cTn>
                              </p:par>
                            </p:childTnLst>
                          </p:cTn>
                        </p:par>
                      </p:childTnLst>
                    </p:cTn>
                  </p:par>
                  <p:par>
                    <p:cTn id="26" fill="hold">
                      <p:stCondLst>
                        <p:cond delay="indefinite"/>
                      </p:stCondLst>
                      <p:childTnLst>
                        <p:par>
                          <p:cTn id="27" fill="hold">
                            <p:stCondLst>
                              <p:cond delay="0"/>
                            </p:stCondLst>
                            <p:childTnLst>
                              <p:par>
                                <p:cTn id="28" presetID="26" presetClass="entr" presetSubtype="0" fill="hold" grpId="0" nodeType="clickEffect">
                                  <p:stCondLst>
                                    <p:cond delay="0"/>
                                  </p:stCondLst>
                                  <p:childTnLst>
                                    <p:set>
                                      <p:cBhvr>
                                        <p:cTn id="29" dur="1" fill="hold">
                                          <p:stCondLst>
                                            <p:cond delay="0"/>
                                          </p:stCondLst>
                                        </p:cTn>
                                        <p:tgtEl>
                                          <p:spTgt spid="3">
                                            <p:txEl>
                                              <p:pRg st="1" end="1"/>
                                            </p:txEl>
                                          </p:spTgt>
                                        </p:tgtEl>
                                        <p:attrNameLst>
                                          <p:attrName>style.visibility</p:attrName>
                                        </p:attrNameLst>
                                      </p:cBhvr>
                                      <p:to>
                                        <p:strVal val="visible"/>
                                      </p:to>
                                    </p:set>
                                    <p:animEffect transition="in" filter="wipe(down)">
                                      <p:cBhvr>
                                        <p:cTn id="30" dur="580">
                                          <p:stCondLst>
                                            <p:cond delay="0"/>
                                          </p:stCondLst>
                                        </p:cTn>
                                        <p:tgtEl>
                                          <p:spTgt spid="3">
                                            <p:txEl>
                                              <p:pRg st="1" end="1"/>
                                            </p:txEl>
                                          </p:spTgt>
                                        </p:tgtEl>
                                      </p:cBhvr>
                                    </p:animEffect>
                                    <p:anim calcmode="lin" valueType="num">
                                      <p:cBhvr>
                                        <p:cTn id="31"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6" dur="26">
                                          <p:stCondLst>
                                            <p:cond delay="650"/>
                                          </p:stCondLst>
                                        </p:cTn>
                                        <p:tgtEl>
                                          <p:spTgt spid="3">
                                            <p:txEl>
                                              <p:pRg st="1" end="1"/>
                                            </p:txEl>
                                          </p:spTgt>
                                        </p:tgtEl>
                                      </p:cBhvr>
                                      <p:to x="100000" y="60000"/>
                                    </p:animScale>
                                    <p:animScale>
                                      <p:cBhvr>
                                        <p:cTn id="37" dur="166" decel="50000">
                                          <p:stCondLst>
                                            <p:cond delay="676"/>
                                          </p:stCondLst>
                                        </p:cTn>
                                        <p:tgtEl>
                                          <p:spTgt spid="3">
                                            <p:txEl>
                                              <p:pRg st="1" end="1"/>
                                            </p:txEl>
                                          </p:spTgt>
                                        </p:tgtEl>
                                      </p:cBhvr>
                                      <p:to x="100000" y="100000"/>
                                    </p:animScale>
                                    <p:animScale>
                                      <p:cBhvr>
                                        <p:cTn id="38" dur="26">
                                          <p:stCondLst>
                                            <p:cond delay="1312"/>
                                          </p:stCondLst>
                                        </p:cTn>
                                        <p:tgtEl>
                                          <p:spTgt spid="3">
                                            <p:txEl>
                                              <p:pRg st="1" end="1"/>
                                            </p:txEl>
                                          </p:spTgt>
                                        </p:tgtEl>
                                      </p:cBhvr>
                                      <p:to x="100000" y="80000"/>
                                    </p:animScale>
                                    <p:animScale>
                                      <p:cBhvr>
                                        <p:cTn id="39" dur="166" decel="50000">
                                          <p:stCondLst>
                                            <p:cond delay="1338"/>
                                          </p:stCondLst>
                                        </p:cTn>
                                        <p:tgtEl>
                                          <p:spTgt spid="3">
                                            <p:txEl>
                                              <p:pRg st="1" end="1"/>
                                            </p:txEl>
                                          </p:spTgt>
                                        </p:tgtEl>
                                      </p:cBhvr>
                                      <p:to x="100000" y="100000"/>
                                    </p:animScale>
                                    <p:animScale>
                                      <p:cBhvr>
                                        <p:cTn id="40" dur="26">
                                          <p:stCondLst>
                                            <p:cond delay="1642"/>
                                          </p:stCondLst>
                                        </p:cTn>
                                        <p:tgtEl>
                                          <p:spTgt spid="3">
                                            <p:txEl>
                                              <p:pRg st="1" end="1"/>
                                            </p:txEl>
                                          </p:spTgt>
                                        </p:tgtEl>
                                      </p:cBhvr>
                                      <p:to x="100000" y="90000"/>
                                    </p:animScale>
                                    <p:animScale>
                                      <p:cBhvr>
                                        <p:cTn id="41" dur="166" decel="50000">
                                          <p:stCondLst>
                                            <p:cond delay="1668"/>
                                          </p:stCondLst>
                                        </p:cTn>
                                        <p:tgtEl>
                                          <p:spTgt spid="3">
                                            <p:txEl>
                                              <p:pRg st="1" end="1"/>
                                            </p:txEl>
                                          </p:spTgt>
                                        </p:tgtEl>
                                      </p:cBhvr>
                                      <p:to x="100000" y="100000"/>
                                    </p:animScale>
                                    <p:animScale>
                                      <p:cBhvr>
                                        <p:cTn id="42" dur="26">
                                          <p:stCondLst>
                                            <p:cond delay="1808"/>
                                          </p:stCondLst>
                                        </p:cTn>
                                        <p:tgtEl>
                                          <p:spTgt spid="3">
                                            <p:txEl>
                                              <p:pRg st="1" end="1"/>
                                            </p:txEl>
                                          </p:spTgt>
                                        </p:tgtEl>
                                      </p:cBhvr>
                                      <p:to x="100000" y="95000"/>
                                    </p:animScale>
                                    <p:animScale>
                                      <p:cBhvr>
                                        <p:cTn id="43" dur="166" decel="50000">
                                          <p:stCondLst>
                                            <p:cond delay="1834"/>
                                          </p:stCondLst>
                                        </p:cTn>
                                        <p:tgtEl>
                                          <p:spTgt spid="3">
                                            <p:txEl>
                                              <p:pRg st="1" end="1"/>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BUFFERING</a:t>
            </a:r>
            <a:endParaRPr lang="en-MY" dirty="0"/>
          </a:p>
        </p:txBody>
      </p:sp>
      <p:sp>
        <p:nvSpPr>
          <p:cNvPr id="3" name="Content Placeholder 2"/>
          <p:cNvSpPr>
            <a:spLocks noGrp="1"/>
          </p:cNvSpPr>
          <p:nvPr>
            <p:ph idx="1"/>
          </p:nvPr>
        </p:nvSpPr>
        <p:spPr>
          <a:xfrm>
            <a:off x="1463040" y="1916832"/>
            <a:ext cx="6196405" cy="3806237"/>
          </a:xfrm>
        </p:spPr>
        <p:txBody>
          <a:bodyPr>
            <a:normAutofit lnSpcReduction="10000"/>
          </a:bodyPr>
          <a:lstStyle/>
          <a:p>
            <a:r>
              <a:rPr lang="en-US" sz="1800" dirty="0" smtClean="0"/>
              <a:t>A </a:t>
            </a:r>
            <a:r>
              <a:rPr lang="en-US" sz="1800" dirty="0"/>
              <a:t>temporary storage area, usually in RAM.</a:t>
            </a:r>
          </a:p>
          <a:p>
            <a:r>
              <a:rPr lang="en-US" sz="1800" dirty="0"/>
              <a:t>Store data in memory while transferring between devices</a:t>
            </a:r>
          </a:p>
          <a:p>
            <a:r>
              <a:rPr lang="en-US" sz="1800" dirty="0"/>
              <a:t>The purpose of most buffers is to act as a holding area , enabling area the CPU to manipulate data before transferring it to a device.</a:t>
            </a:r>
          </a:p>
          <a:p>
            <a:r>
              <a:rPr lang="en-US" sz="1800" dirty="0"/>
              <a:t>Because the processes of reading and writing data to a disc are relatively </a:t>
            </a:r>
            <a:r>
              <a:rPr lang="en-US" sz="1800" dirty="0" smtClean="0"/>
              <a:t>slow, many programs keep track of data changes in a buffer and then copy the buffer to a disk.</a:t>
            </a:r>
          </a:p>
          <a:p>
            <a:r>
              <a:rPr lang="en-US" sz="1800" dirty="0" smtClean="0"/>
              <a:t>For example, word processors employ a buffer to keep track of changes  to files, then when you save the file, the word processor update the disk file with the contents of the buffer. This is much more efficient than accessing the file on the disk each time you make a change to the file.</a:t>
            </a:r>
            <a:endParaRPr lang="en-MY" sz="1800" dirty="0"/>
          </a:p>
        </p:txBody>
      </p:sp>
    </p:spTree>
    <p:extLst>
      <p:ext uri="{BB962C8B-B14F-4D97-AF65-F5344CB8AC3E}">
        <p14:creationId xmlns:p14="http://schemas.microsoft.com/office/powerpoint/2010/main" val="110514980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21600000">
                                      <p:cBhvr>
                                        <p:cTn id="6" dur="2000" fill="hold"/>
                                        <p:tgtEl>
                                          <p:spTgt spid="2"/>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32" presetClass="emph" presetSubtype="0" fill="hold" grpId="0" nodeType="clickEffect">
                                  <p:stCondLst>
                                    <p:cond delay="0"/>
                                  </p:stCondLst>
                                  <p:childTnLst>
                                    <p:animRot by="120000">
                                      <p:cBhvr>
                                        <p:cTn id="10" dur="100" fill="hold">
                                          <p:stCondLst>
                                            <p:cond delay="0"/>
                                          </p:stCondLst>
                                        </p:cTn>
                                        <p:tgtEl>
                                          <p:spTgt spid="3">
                                            <p:txEl>
                                              <p:pRg st="0" end="0"/>
                                            </p:txEl>
                                          </p:spTgt>
                                        </p:tgtEl>
                                        <p:attrNameLst>
                                          <p:attrName>r</p:attrName>
                                        </p:attrNameLst>
                                      </p:cBhvr>
                                    </p:animRot>
                                    <p:animRot by="-240000">
                                      <p:cBhvr>
                                        <p:cTn id="11" dur="200" fill="hold">
                                          <p:stCondLst>
                                            <p:cond delay="200"/>
                                          </p:stCondLst>
                                        </p:cTn>
                                        <p:tgtEl>
                                          <p:spTgt spid="3">
                                            <p:txEl>
                                              <p:pRg st="0" end="0"/>
                                            </p:txEl>
                                          </p:spTgt>
                                        </p:tgtEl>
                                        <p:attrNameLst>
                                          <p:attrName>r</p:attrName>
                                        </p:attrNameLst>
                                      </p:cBhvr>
                                    </p:animRot>
                                    <p:animRot by="240000">
                                      <p:cBhvr>
                                        <p:cTn id="12" dur="200" fill="hold">
                                          <p:stCondLst>
                                            <p:cond delay="400"/>
                                          </p:stCondLst>
                                        </p:cTn>
                                        <p:tgtEl>
                                          <p:spTgt spid="3">
                                            <p:txEl>
                                              <p:pRg st="0" end="0"/>
                                            </p:txEl>
                                          </p:spTgt>
                                        </p:tgtEl>
                                        <p:attrNameLst>
                                          <p:attrName>r</p:attrName>
                                        </p:attrNameLst>
                                      </p:cBhvr>
                                    </p:animRot>
                                    <p:animRot by="-240000">
                                      <p:cBhvr>
                                        <p:cTn id="13" dur="200" fill="hold">
                                          <p:stCondLst>
                                            <p:cond delay="600"/>
                                          </p:stCondLst>
                                        </p:cTn>
                                        <p:tgtEl>
                                          <p:spTgt spid="3">
                                            <p:txEl>
                                              <p:pRg st="0" end="0"/>
                                            </p:txEl>
                                          </p:spTgt>
                                        </p:tgtEl>
                                        <p:attrNameLst>
                                          <p:attrName>r</p:attrName>
                                        </p:attrNameLst>
                                      </p:cBhvr>
                                    </p:animRot>
                                    <p:animRot by="120000">
                                      <p:cBhvr>
                                        <p:cTn id="14" dur="200" fill="hold">
                                          <p:stCondLst>
                                            <p:cond delay="800"/>
                                          </p:stCondLst>
                                        </p:cTn>
                                        <p:tgtEl>
                                          <p:spTgt spid="3">
                                            <p:txEl>
                                              <p:pRg st="0" end="0"/>
                                            </p:txEl>
                                          </p:spTgt>
                                        </p:tgtEl>
                                        <p:attrNameLst>
                                          <p:attrName>r</p:attrName>
                                        </p:attrNameLst>
                                      </p:cBhvr>
                                    </p:animRot>
                                  </p:childTnLst>
                                </p:cTn>
                              </p:par>
                            </p:childTnLst>
                          </p:cTn>
                        </p:par>
                      </p:childTnLst>
                    </p:cTn>
                  </p:par>
                  <p:par>
                    <p:cTn id="15" fill="hold">
                      <p:stCondLst>
                        <p:cond delay="indefinite"/>
                      </p:stCondLst>
                      <p:childTnLst>
                        <p:par>
                          <p:cTn id="16" fill="hold">
                            <p:stCondLst>
                              <p:cond delay="0"/>
                            </p:stCondLst>
                            <p:childTnLst>
                              <p:par>
                                <p:cTn id="17" presetID="32" presetClass="emph" presetSubtype="0" fill="hold" grpId="0" nodeType="clickEffect">
                                  <p:stCondLst>
                                    <p:cond delay="0"/>
                                  </p:stCondLst>
                                  <p:childTnLst>
                                    <p:animRot by="120000">
                                      <p:cBhvr>
                                        <p:cTn id="18" dur="100" fill="hold">
                                          <p:stCondLst>
                                            <p:cond delay="0"/>
                                          </p:stCondLst>
                                        </p:cTn>
                                        <p:tgtEl>
                                          <p:spTgt spid="3">
                                            <p:txEl>
                                              <p:pRg st="1" end="1"/>
                                            </p:txEl>
                                          </p:spTgt>
                                        </p:tgtEl>
                                        <p:attrNameLst>
                                          <p:attrName>r</p:attrName>
                                        </p:attrNameLst>
                                      </p:cBhvr>
                                    </p:animRot>
                                    <p:animRot by="-240000">
                                      <p:cBhvr>
                                        <p:cTn id="19" dur="200" fill="hold">
                                          <p:stCondLst>
                                            <p:cond delay="200"/>
                                          </p:stCondLst>
                                        </p:cTn>
                                        <p:tgtEl>
                                          <p:spTgt spid="3">
                                            <p:txEl>
                                              <p:pRg st="1" end="1"/>
                                            </p:txEl>
                                          </p:spTgt>
                                        </p:tgtEl>
                                        <p:attrNameLst>
                                          <p:attrName>r</p:attrName>
                                        </p:attrNameLst>
                                      </p:cBhvr>
                                    </p:animRot>
                                    <p:animRot by="240000">
                                      <p:cBhvr>
                                        <p:cTn id="20" dur="200" fill="hold">
                                          <p:stCondLst>
                                            <p:cond delay="400"/>
                                          </p:stCondLst>
                                        </p:cTn>
                                        <p:tgtEl>
                                          <p:spTgt spid="3">
                                            <p:txEl>
                                              <p:pRg st="1" end="1"/>
                                            </p:txEl>
                                          </p:spTgt>
                                        </p:tgtEl>
                                        <p:attrNameLst>
                                          <p:attrName>r</p:attrName>
                                        </p:attrNameLst>
                                      </p:cBhvr>
                                    </p:animRot>
                                    <p:animRot by="-240000">
                                      <p:cBhvr>
                                        <p:cTn id="21" dur="200" fill="hold">
                                          <p:stCondLst>
                                            <p:cond delay="600"/>
                                          </p:stCondLst>
                                        </p:cTn>
                                        <p:tgtEl>
                                          <p:spTgt spid="3">
                                            <p:txEl>
                                              <p:pRg st="1" end="1"/>
                                            </p:txEl>
                                          </p:spTgt>
                                        </p:tgtEl>
                                        <p:attrNameLst>
                                          <p:attrName>r</p:attrName>
                                        </p:attrNameLst>
                                      </p:cBhvr>
                                    </p:animRot>
                                    <p:animRot by="120000">
                                      <p:cBhvr>
                                        <p:cTn id="22" dur="200" fill="hold">
                                          <p:stCondLst>
                                            <p:cond delay="800"/>
                                          </p:stCondLst>
                                        </p:cTn>
                                        <p:tgtEl>
                                          <p:spTgt spid="3">
                                            <p:txEl>
                                              <p:pRg st="1" end="1"/>
                                            </p:txEl>
                                          </p:spTgt>
                                        </p:tgtEl>
                                        <p:attrNameLst>
                                          <p:attrName>r</p:attrName>
                                        </p:attrNameLst>
                                      </p:cBhvr>
                                    </p:animRot>
                                  </p:childTnLst>
                                </p:cTn>
                              </p:par>
                            </p:childTnLst>
                          </p:cTn>
                        </p:par>
                      </p:childTnLst>
                    </p:cTn>
                  </p:par>
                  <p:par>
                    <p:cTn id="23" fill="hold">
                      <p:stCondLst>
                        <p:cond delay="indefinite"/>
                      </p:stCondLst>
                      <p:childTnLst>
                        <p:par>
                          <p:cTn id="24" fill="hold">
                            <p:stCondLst>
                              <p:cond delay="0"/>
                            </p:stCondLst>
                            <p:childTnLst>
                              <p:par>
                                <p:cTn id="25" presetID="32" presetClass="emph" presetSubtype="0" fill="hold" grpId="0" nodeType="clickEffect">
                                  <p:stCondLst>
                                    <p:cond delay="0"/>
                                  </p:stCondLst>
                                  <p:childTnLst>
                                    <p:animRot by="120000">
                                      <p:cBhvr>
                                        <p:cTn id="26" dur="100" fill="hold">
                                          <p:stCondLst>
                                            <p:cond delay="0"/>
                                          </p:stCondLst>
                                        </p:cTn>
                                        <p:tgtEl>
                                          <p:spTgt spid="3">
                                            <p:txEl>
                                              <p:pRg st="2" end="2"/>
                                            </p:txEl>
                                          </p:spTgt>
                                        </p:tgtEl>
                                        <p:attrNameLst>
                                          <p:attrName>r</p:attrName>
                                        </p:attrNameLst>
                                      </p:cBhvr>
                                    </p:animRot>
                                    <p:animRot by="-240000">
                                      <p:cBhvr>
                                        <p:cTn id="27" dur="200" fill="hold">
                                          <p:stCondLst>
                                            <p:cond delay="200"/>
                                          </p:stCondLst>
                                        </p:cTn>
                                        <p:tgtEl>
                                          <p:spTgt spid="3">
                                            <p:txEl>
                                              <p:pRg st="2" end="2"/>
                                            </p:txEl>
                                          </p:spTgt>
                                        </p:tgtEl>
                                        <p:attrNameLst>
                                          <p:attrName>r</p:attrName>
                                        </p:attrNameLst>
                                      </p:cBhvr>
                                    </p:animRot>
                                    <p:animRot by="240000">
                                      <p:cBhvr>
                                        <p:cTn id="28" dur="200" fill="hold">
                                          <p:stCondLst>
                                            <p:cond delay="400"/>
                                          </p:stCondLst>
                                        </p:cTn>
                                        <p:tgtEl>
                                          <p:spTgt spid="3">
                                            <p:txEl>
                                              <p:pRg st="2" end="2"/>
                                            </p:txEl>
                                          </p:spTgt>
                                        </p:tgtEl>
                                        <p:attrNameLst>
                                          <p:attrName>r</p:attrName>
                                        </p:attrNameLst>
                                      </p:cBhvr>
                                    </p:animRot>
                                    <p:animRot by="-240000">
                                      <p:cBhvr>
                                        <p:cTn id="29" dur="200" fill="hold">
                                          <p:stCondLst>
                                            <p:cond delay="600"/>
                                          </p:stCondLst>
                                        </p:cTn>
                                        <p:tgtEl>
                                          <p:spTgt spid="3">
                                            <p:txEl>
                                              <p:pRg st="2" end="2"/>
                                            </p:txEl>
                                          </p:spTgt>
                                        </p:tgtEl>
                                        <p:attrNameLst>
                                          <p:attrName>r</p:attrName>
                                        </p:attrNameLst>
                                      </p:cBhvr>
                                    </p:animRot>
                                    <p:animRot by="120000">
                                      <p:cBhvr>
                                        <p:cTn id="30" dur="200" fill="hold">
                                          <p:stCondLst>
                                            <p:cond delay="800"/>
                                          </p:stCondLst>
                                        </p:cTn>
                                        <p:tgtEl>
                                          <p:spTgt spid="3">
                                            <p:txEl>
                                              <p:pRg st="2" end="2"/>
                                            </p:txEl>
                                          </p:spTgt>
                                        </p:tgtEl>
                                        <p:attrNameLst>
                                          <p:attrName>r</p:attrName>
                                        </p:attrNameLst>
                                      </p:cBhvr>
                                    </p:animRot>
                                  </p:childTnLst>
                                </p:cTn>
                              </p:par>
                            </p:childTnLst>
                          </p:cTn>
                        </p:par>
                      </p:childTnLst>
                    </p:cTn>
                  </p:par>
                  <p:par>
                    <p:cTn id="31" fill="hold">
                      <p:stCondLst>
                        <p:cond delay="indefinite"/>
                      </p:stCondLst>
                      <p:childTnLst>
                        <p:par>
                          <p:cTn id="32" fill="hold">
                            <p:stCondLst>
                              <p:cond delay="0"/>
                            </p:stCondLst>
                            <p:childTnLst>
                              <p:par>
                                <p:cTn id="33" presetID="32" presetClass="emph" presetSubtype="0" fill="hold" grpId="0" nodeType="clickEffect">
                                  <p:stCondLst>
                                    <p:cond delay="0"/>
                                  </p:stCondLst>
                                  <p:childTnLst>
                                    <p:animRot by="120000">
                                      <p:cBhvr>
                                        <p:cTn id="34" dur="100" fill="hold">
                                          <p:stCondLst>
                                            <p:cond delay="0"/>
                                          </p:stCondLst>
                                        </p:cTn>
                                        <p:tgtEl>
                                          <p:spTgt spid="3">
                                            <p:txEl>
                                              <p:pRg st="3" end="3"/>
                                            </p:txEl>
                                          </p:spTgt>
                                        </p:tgtEl>
                                        <p:attrNameLst>
                                          <p:attrName>r</p:attrName>
                                        </p:attrNameLst>
                                      </p:cBhvr>
                                    </p:animRot>
                                    <p:animRot by="-240000">
                                      <p:cBhvr>
                                        <p:cTn id="35" dur="200" fill="hold">
                                          <p:stCondLst>
                                            <p:cond delay="200"/>
                                          </p:stCondLst>
                                        </p:cTn>
                                        <p:tgtEl>
                                          <p:spTgt spid="3">
                                            <p:txEl>
                                              <p:pRg st="3" end="3"/>
                                            </p:txEl>
                                          </p:spTgt>
                                        </p:tgtEl>
                                        <p:attrNameLst>
                                          <p:attrName>r</p:attrName>
                                        </p:attrNameLst>
                                      </p:cBhvr>
                                    </p:animRot>
                                    <p:animRot by="240000">
                                      <p:cBhvr>
                                        <p:cTn id="36" dur="200" fill="hold">
                                          <p:stCondLst>
                                            <p:cond delay="400"/>
                                          </p:stCondLst>
                                        </p:cTn>
                                        <p:tgtEl>
                                          <p:spTgt spid="3">
                                            <p:txEl>
                                              <p:pRg st="3" end="3"/>
                                            </p:txEl>
                                          </p:spTgt>
                                        </p:tgtEl>
                                        <p:attrNameLst>
                                          <p:attrName>r</p:attrName>
                                        </p:attrNameLst>
                                      </p:cBhvr>
                                    </p:animRot>
                                    <p:animRot by="-240000">
                                      <p:cBhvr>
                                        <p:cTn id="37" dur="200" fill="hold">
                                          <p:stCondLst>
                                            <p:cond delay="600"/>
                                          </p:stCondLst>
                                        </p:cTn>
                                        <p:tgtEl>
                                          <p:spTgt spid="3">
                                            <p:txEl>
                                              <p:pRg st="3" end="3"/>
                                            </p:txEl>
                                          </p:spTgt>
                                        </p:tgtEl>
                                        <p:attrNameLst>
                                          <p:attrName>r</p:attrName>
                                        </p:attrNameLst>
                                      </p:cBhvr>
                                    </p:animRot>
                                    <p:animRot by="120000">
                                      <p:cBhvr>
                                        <p:cTn id="38" dur="200" fill="hold">
                                          <p:stCondLst>
                                            <p:cond delay="800"/>
                                          </p:stCondLst>
                                        </p:cTn>
                                        <p:tgtEl>
                                          <p:spTgt spid="3">
                                            <p:txEl>
                                              <p:pRg st="3" end="3"/>
                                            </p:txEl>
                                          </p:spTgt>
                                        </p:tgtEl>
                                        <p:attrNameLst>
                                          <p:attrName>r</p:attrName>
                                        </p:attrNameLst>
                                      </p:cBhvr>
                                    </p:animRot>
                                  </p:childTnLst>
                                </p:cTn>
                              </p:par>
                            </p:childTnLst>
                          </p:cTn>
                        </p:par>
                      </p:childTnLst>
                    </p:cTn>
                  </p:par>
                  <p:par>
                    <p:cTn id="39" fill="hold">
                      <p:stCondLst>
                        <p:cond delay="indefinite"/>
                      </p:stCondLst>
                      <p:childTnLst>
                        <p:par>
                          <p:cTn id="40" fill="hold">
                            <p:stCondLst>
                              <p:cond delay="0"/>
                            </p:stCondLst>
                            <p:childTnLst>
                              <p:par>
                                <p:cTn id="41" presetID="32" presetClass="emph" presetSubtype="0" fill="hold" grpId="0" nodeType="clickEffect">
                                  <p:stCondLst>
                                    <p:cond delay="0"/>
                                  </p:stCondLst>
                                  <p:childTnLst>
                                    <p:animRot by="120000">
                                      <p:cBhvr>
                                        <p:cTn id="42" dur="100" fill="hold">
                                          <p:stCondLst>
                                            <p:cond delay="0"/>
                                          </p:stCondLst>
                                        </p:cTn>
                                        <p:tgtEl>
                                          <p:spTgt spid="3">
                                            <p:txEl>
                                              <p:pRg st="4" end="4"/>
                                            </p:txEl>
                                          </p:spTgt>
                                        </p:tgtEl>
                                        <p:attrNameLst>
                                          <p:attrName>r</p:attrName>
                                        </p:attrNameLst>
                                      </p:cBhvr>
                                    </p:animRot>
                                    <p:animRot by="-240000">
                                      <p:cBhvr>
                                        <p:cTn id="43" dur="200" fill="hold">
                                          <p:stCondLst>
                                            <p:cond delay="200"/>
                                          </p:stCondLst>
                                        </p:cTn>
                                        <p:tgtEl>
                                          <p:spTgt spid="3">
                                            <p:txEl>
                                              <p:pRg st="4" end="4"/>
                                            </p:txEl>
                                          </p:spTgt>
                                        </p:tgtEl>
                                        <p:attrNameLst>
                                          <p:attrName>r</p:attrName>
                                        </p:attrNameLst>
                                      </p:cBhvr>
                                    </p:animRot>
                                    <p:animRot by="240000">
                                      <p:cBhvr>
                                        <p:cTn id="44" dur="200" fill="hold">
                                          <p:stCondLst>
                                            <p:cond delay="400"/>
                                          </p:stCondLst>
                                        </p:cTn>
                                        <p:tgtEl>
                                          <p:spTgt spid="3">
                                            <p:txEl>
                                              <p:pRg st="4" end="4"/>
                                            </p:txEl>
                                          </p:spTgt>
                                        </p:tgtEl>
                                        <p:attrNameLst>
                                          <p:attrName>r</p:attrName>
                                        </p:attrNameLst>
                                      </p:cBhvr>
                                    </p:animRot>
                                    <p:animRot by="-240000">
                                      <p:cBhvr>
                                        <p:cTn id="45" dur="200" fill="hold">
                                          <p:stCondLst>
                                            <p:cond delay="600"/>
                                          </p:stCondLst>
                                        </p:cTn>
                                        <p:tgtEl>
                                          <p:spTgt spid="3">
                                            <p:txEl>
                                              <p:pRg st="4" end="4"/>
                                            </p:txEl>
                                          </p:spTgt>
                                        </p:tgtEl>
                                        <p:attrNameLst>
                                          <p:attrName>r</p:attrName>
                                        </p:attrNameLst>
                                      </p:cBhvr>
                                    </p:animRot>
                                    <p:animRot by="120000">
                                      <p:cBhvr>
                                        <p:cTn id="46" dur="200" fill="hold">
                                          <p:stCondLst>
                                            <p:cond delay="800"/>
                                          </p:stCondLst>
                                        </p:cTn>
                                        <p:tgtEl>
                                          <p:spTgt spid="3">
                                            <p:txEl>
                                              <p:pRg st="4" end="4"/>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811218"/>
          </a:xfrm>
        </p:spPr>
        <p:txBody>
          <a:bodyPr/>
          <a:lstStyle/>
          <a:p>
            <a:r>
              <a:rPr lang="en-US" dirty="0" smtClean="0"/>
              <a:t>SPOOLING</a:t>
            </a:r>
            <a:endParaRPr lang="en-MY" dirty="0"/>
          </a:p>
        </p:txBody>
      </p:sp>
      <p:sp>
        <p:nvSpPr>
          <p:cNvPr id="3" name="Content Placeholder 2"/>
          <p:cNvSpPr>
            <a:spLocks noGrp="1"/>
          </p:cNvSpPr>
          <p:nvPr>
            <p:ph idx="1"/>
          </p:nvPr>
        </p:nvSpPr>
        <p:spPr>
          <a:xfrm>
            <a:off x="1463040" y="1628800"/>
            <a:ext cx="6196405" cy="4094269"/>
          </a:xfrm>
        </p:spPr>
        <p:txBody>
          <a:bodyPr>
            <a:normAutofit lnSpcReduction="10000"/>
          </a:bodyPr>
          <a:lstStyle/>
          <a:p>
            <a:r>
              <a:rPr lang="en-US" sz="2000" dirty="0" smtClean="0"/>
              <a:t>Spool stands for “simultaneous peripheral operation online”.</a:t>
            </a:r>
          </a:p>
          <a:p>
            <a:r>
              <a:rPr lang="en-US" sz="2000" dirty="0" smtClean="0"/>
              <a:t>A spool is a buffer that holds output for a device, such as a printer </a:t>
            </a:r>
            <a:r>
              <a:rPr lang="en-MY" sz="2000" dirty="0" smtClean="0"/>
              <a:t>that cannot accept interleaved data </a:t>
            </a:r>
            <a:r>
              <a:rPr lang="en-MY" sz="2000" dirty="0" err="1" smtClean="0"/>
              <a:t>sreatms</a:t>
            </a:r>
            <a:r>
              <a:rPr lang="en-MY" sz="2000" dirty="0" smtClean="0"/>
              <a:t>.</a:t>
            </a:r>
          </a:p>
          <a:p>
            <a:r>
              <a:rPr lang="en-US" sz="2000" dirty="0" smtClean="0"/>
              <a:t>Spooling refers to a process of transferring data by placing it in a temporary working area where another program may access it for processing at a later point in time.</a:t>
            </a:r>
          </a:p>
          <a:p>
            <a:r>
              <a:rPr lang="en-US" sz="2000" dirty="0" smtClean="0"/>
              <a:t>Although a printer can serve only one job at a time, several applications may wish to print their output concurrently, without having their output mixed together.</a:t>
            </a:r>
          </a:p>
          <a:p>
            <a:pPr marL="0" indent="0">
              <a:buNone/>
            </a:pPr>
            <a:endParaRPr lang="en-US" sz="2000" dirty="0" smtClean="0"/>
          </a:p>
          <a:p>
            <a:endParaRPr lang="en-US" dirty="0" smtClean="0"/>
          </a:p>
        </p:txBody>
      </p:sp>
    </p:spTree>
    <p:extLst>
      <p:ext uri="{BB962C8B-B14F-4D97-AF65-F5344CB8AC3E}">
        <p14:creationId xmlns:p14="http://schemas.microsoft.com/office/powerpoint/2010/main" val="1116565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circle(in)">
                                      <p:cBhvr>
                                        <p:cTn id="13" dur="20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circle(in)">
                                      <p:cBhvr>
                                        <p:cTn id="18" dur="20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circle(in)">
                                      <p:cBhvr>
                                        <p:cTn id="23" dur="20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circle(in)">
                                      <p:cBhvr>
                                        <p:cTn id="28"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SPOOLING</a:t>
            </a:r>
            <a:endParaRPr lang="en-MY" dirty="0"/>
          </a:p>
        </p:txBody>
      </p:sp>
      <p:sp>
        <p:nvSpPr>
          <p:cNvPr id="3" name="Content Placeholder 2"/>
          <p:cNvSpPr>
            <a:spLocks noGrp="1"/>
          </p:cNvSpPr>
          <p:nvPr>
            <p:ph idx="1"/>
          </p:nvPr>
        </p:nvSpPr>
        <p:spPr>
          <a:xfrm>
            <a:off x="1403648" y="2060848"/>
            <a:ext cx="6196405" cy="3603812"/>
          </a:xfrm>
        </p:spPr>
        <p:txBody>
          <a:bodyPr>
            <a:normAutofit fontScale="32500" lnSpcReduction="20000"/>
          </a:bodyPr>
          <a:lstStyle/>
          <a:p>
            <a:r>
              <a:rPr lang="en-US" sz="6200" dirty="0" smtClean="0"/>
              <a:t>The operating system solves this problem by intercepting all output to the printer .</a:t>
            </a:r>
          </a:p>
          <a:p>
            <a:r>
              <a:rPr lang="en-US" sz="6200" dirty="0" smtClean="0"/>
              <a:t>The spooling system copies the queued spool files to the printer one at a time. Without a spooler, the OS would allow data to pass to the printer and the application program would wait for </a:t>
            </a:r>
            <a:r>
              <a:rPr lang="en-US" sz="6200" dirty="0" err="1" smtClean="0"/>
              <a:t>completiton</a:t>
            </a:r>
            <a:r>
              <a:rPr lang="en-US" sz="6200" dirty="0" smtClean="0"/>
              <a:t> before continuing.</a:t>
            </a:r>
          </a:p>
          <a:p>
            <a:r>
              <a:rPr lang="en-US" sz="6200" dirty="0" smtClean="0"/>
              <a:t>Each application’s output is spooled to a separate disk files.</a:t>
            </a:r>
          </a:p>
          <a:p>
            <a:pPr lvl="2">
              <a:buFont typeface="Wingdings" pitchFamily="2" charset="2"/>
              <a:buChar char="§"/>
            </a:pPr>
            <a:r>
              <a:rPr lang="en-US" sz="6200" dirty="0" smtClean="0"/>
              <a:t>When an application finishes printing, the spooling system queues spool files to the printer.</a:t>
            </a:r>
          </a:p>
          <a:p>
            <a:pPr lvl="2">
              <a:buFont typeface="Wingdings" pitchFamily="2" charset="2"/>
              <a:buChar char="§"/>
            </a:pPr>
            <a:endParaRPr lang="en-US" sz="1600" dirty="0"/>
          </a:p>
          <a:p>
            <a:pPr marL="685800" lvl="2" indent="0">
              <a:buNone/>
            </a:pPr>
            <a:endParaRPr lang="en-US" sz="1200" dirty="0" smtClean="0"/>
          </a:p>
          <a:p>
            <a:pPr lvl="2">
              <a:buFont typeface="Wingdings" pitchFamily="2" charset="2"/>
              <a:buChar char="§"/>
            </a:pPr>
            <a:endParaRPr lang="en-US" sz="1600" dirty="0"/>
          </a:p>
          <a:p>
            <a:pPr lvl="2">
              <a:buFont typeface="Wingdings" pitchFamily="2" charset="2"/>
              <a:buChar char="§"/>
            </a:pPr>
            <a:endParaRPr lang="en-US" sz="1600" dirty="0" smtClean="0"/>
          </a:p>
          <a:p>
            <a:pPr marL="685800" lvl="2" indent="0">
              <a:buNone/>
            </a:pPr>
            <a:r>
              <a:rPr lang="en-US" sz="1600" dirty="0" smtClean="0"/>
              <a:t> </a:t>
            </a:r>
          </a:p>
          <a:p>
            <a:pPr lvl="2">
              <a:buFont typeface="Wingdings" pitchFamily="2" charset="2"/>
              <a:buChar char="§"/>
            </a:pPr>
            <a:endParaRPr lang="en-US" sz="1600" dirty="0"/>
          </a:p>
          <a:p>
            <a:pPr marL="685800" lvl="2" indent="0">
              <a:buNone/>
            </a:pPr>
            <a:endParaRPr lang="en-US" sz="1600" dirty="0" smtClean="0"/>
          </a:p>
          <a:p>
            <a:pPr marL="685800" lvl="2" indent="0">
              <a:buNone/>
            </a:pPr>
            <a:endParaRPr lang="en-US" sz="1600" dirty="0" smtClean="0"/>
          </a:p>
          <a:p>
            <a:pPr marL="685800" lvl="2" indent="0">
              <a:buNone/>
            </a:pPr>
            <a:endParaRPr lang="en-MY" sz="1600" dirty="0"/>
          </a:p>
        </p:txBody>
      </p:sp>
    </p:spTree>
    <p:extLst>
      <p:ext uri="{BB962C8B-B14F-4D97-AF65-F5344CB8AC3E}">
        <p14:creationId xmlns:p14="http://schemas.microsoft.com/office/powerpoint/2010/main" val="2446386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wipe(down)">
                                      <p:cBhvr>
                                        <p:cTn id="2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5616" y="620689"/>
            <a:ext cx="6965245" cy="792088"/>
          </a:xfrm>
        </p:spPr>
        <p:txBody>
          <a:bodyPr/>
          <a:lstStyle/>
          <a:p>
            <a:r>
              <a:rPr lang="en-US" dirty="0" smtClean="0"/>
              <a:t>CACHING</a:t>
            </a:r>
            <a:endParaRPr lang="en-MY" dirty="0"/>
          </a:p>
        </p:txBody>
      </p:sp>
      <p:sp>
        <p:nvSpPr>
          <p:cNvPr id="3" name="Content Placeholder 2"/>
          <p:cNvSpPr>
            <a:spLocks noGrp="1"/>
          </p:cNvSpPr>
          <p:nvPr>
            <p:ph idx="1"/>
          </p:nvPr>
        </p:nvSpPr>
        <p:spPr>
          <a:xfrm>
            <a:off x="1403648" y="1340768"/>
            <a:ext cx="6196405" cy="4608512"/>
          </a:xfrm>
        </p:spPr>
        <p:txBody>
          <a:bodyPr>
            <a:normAutofit lnSpcReduction="10000"/>
          </a:bodyPr>
          <a:lstStyle/>
          <a:p>
            <a:r>
              <a:rPr lang="en-US" sz="1800" dirty="0" smtClean="0"/>
              <a:t>Pronounced cash, a special high-speed storage mechanism. Cache can be either a reserved section of main memory or an independent high-speed storage device. Two types of caching are commonly used in personal computers: memory caching and disk caching.</a:t>
            </a:r>
          </a:p>
          <a:p>
            <a:r>
              <a:rPr lang="en-US" sz="1800" dirty="0" smtClean="0">
                <a:solidFill>
                  <a:schemeClr val="accent2"/>
                </a:solidFill>
              </a:rPr>
              <a:t>MEMORY CACHING</a:t>
            </a:r>
          </a:p>
          <a:p>
            <a:pPr>
              <a:buFont typeface="Wingdings" pitchFamily="2" charset="2"/>
              <a:buChar char="v"/>
            </a:pPr>
            <a:r>
              <a:rPr lang="en-US" sz="1800" dirty="0" smtClean="0"/>
              <a:t>A memory cache, sometimes called a cache store or RAM cache, is a portion of memory made of high speed static RAM (SRAM) used for main memory. Memory caching is effective because most programs  access the same data.</a:t>
            </a:r>
          </a:p>
          <a:p>
            <a:pPr>
              <a:buFont typeface="Wingdings" pitchFamily="2" charset="2"/>
              <a:buChar char="Ø"/>
            </a:pPr>
            <a:r>
              <a:rPr lang="en-US" sz="1800" dirty="0" smtClean="0">
                <a:solidFill>
                  <a:schemeClr val="accent2"/>
                </a:solidFill>
              </a:rPr>
              <a:t>DISK CACHING</a:t>
            </a:r>
            <a:r>
              <a:rPr lang="en-US" sz="1800" dirty="0"/>
              <a:t>	</a:t>
            </a:r>
            <a:endParaRPr lang="en-US" sz="1800" dirty="0" smtClean="0"/>
          </a:p>
          <a:p>
            <a:pPr>
              <a:buFont typeface="Wingdings" pitchFamily="2" charset="2"/>
              <a:buChar char="v"/>
            </a:pPr>
            <a:r>
              <a:rPr lang="en-US" sz="1800" dirty="0" smtClean="0"/>
              <a:t>Disk caching works under the same principle as memory caching, but instead of using high speed SRAM, a disk cache uses conventional main memory. The most recently </a:t>
            </a:r>
            <a:r>
              <a:rPr lang="en-US" sz="1800" dirty="0" err="1" smtClean="0"/>
              <a:t>accesed</a:t>
            </a:r>
            <a:r>
              <a:rPr lang="en-US" sz="1800" dirty="0" smtClean="0"/>
              <a:t> data from disk is stored in a memory </a:t>
            </a:r>
            <a:r>
              <a:rPr lang="en-US" sz="1800" dirty="0" err="1" smtClean="0"/>
              <a:t>buffer.Disk</a:t>
            </a:r>
            <a:r>
              <a:rPr lang="en-US" sz="1800" dirty="0" smtClean="0"/>
              <a:t> caching can dramatically improve the </a:t>
            </a:r>
            <a:r>
              <a:rPr lang="en-US" sz="1800" dirty="0" err="1" smtClean="0"/>
              <a:t>perfomance</a:t>
            </a:r>
            <a:r>
              <a:rPr lang="en-US" sz="1800" dirty="0" smtClean="0"/>
              <a:t> of applications.</a:t>
            </a:r>
          </a:p>
          <a:p>
            <a:pPr marL="0" indent="0">
              <a:buNone/>
            </a:pPr>
            <a:endParaRPr lang="en-MY" sz="1800" dirty="0"/>
          </a:p>
        </p:txBody>
      </p:sp>
    </p:spTree>
    <p:extLst>
      <p:ext uri="{BB962C8B-B14F-4D97-AF65-F5344CB8AC3E}">
        <p14:creationId xmlns:p14="http://schemas.microsoft.com/office/powerpoint/2010/main" val="413160669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wipe(down)">
                                      <p:cBhvr>
                                        <p:cTn id="13" dur="5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wipe(down)">
                                      <p:cBhvr>
                                        <p:cTn id="18" dur="5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wipe(down)">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wipe(down)">
                                      <p:cBhvr>
                                        <p:cTn id="28" dur="500"/>
                                        <p:tgtEl>
                                          <p:spTgt spid="3">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wipe(down)">
                                      <p:cBhvr>
                                        <p:cTn id="3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3"/>
            <a:ext cx="6965245" cy="811218"/>
          </a:xfrm>
        </p:spPr>
        <p:txBody>
          <a:bodyPr/>
          <a:lstStyle/>
          <a:p>
            <a:r>
              <a:rPr lang="en-US" dirty="0" smtClean="0"/>
              <a:t>CACHING</a:t>
            </a:r>
            <a:endParaRPr lang="en-MY"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5656" y="2137048"/>
            <a:ext cx="2678430" cy="2664296"/>
          </a:xfrm>
          <a:prstGeom prst="rect">
            <a:avLst/>
          </a:prstGeom>
          <a:ln>
            <a:noFill/>
          </a:ln>
          <a:effectLst>
            <a:softEdge rad="112500"/>
          </a:effec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55976" y="2132856"/>
            <a:ext cx="3538736" cy="3312368"/>
          </a:xfrm>
          <a:prstGeom prst="rect">
            <a:avLst/>
          </a:prstGeom>
          <a:ln>
            <a:noFill/>
          </a:ln>
          <a:effectLst>
            <a:softEdge rad="112500"/>
          </a:effectLst>
        </p:spPr>
      </p:pic>
    </p:spTree>
    <p:extLst>
      <p:ext uri="{BB962C8B-B14F-4D97-AF65-F5344CB8AC3E}">
        <p14:creationId xmlns:p14="http://schemas.microsoft.com/office/powerpoint/2010/main" val="134263623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circle(in)">
                                      <p:cBhvr>
                                        <p:cTn id="14"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Pushpin">
  <a:themeElements>
    <a:clrScheme name="Pushpin">
      <a:dk1>
        <a:sysClr val="windowText" lastClr="000000"/>
      </a:dk1>
      <a:lt1>
        <a:sysClr val="window" lastClr="FFFFFF"/>
      </a:lt1>
      <a:dk2>
        <a:srgbClr val="465E9C"/>
      </a:dk2>
      <a:lt2>
        <a:srgbClr val="CCDDEA"/>
      </a:lt2>
      <a:accent1>
        <a:srgbClr val="FDA023"/>
      </a:accent1>
      <a:accent2>
        <a:srgbClr val="AA2B1E"/>
      </a:accent2>
      <a:accent3>
        <a:srgbClr val="71685C"/>
      </a:accent3>
      <a:accent4>
        <a:srgbClr val="64A73B"/>
      </a:accent4>
      <a:accent5>
        <a:srgbClr val="EB5605"/>
      </a:accent5>
      <a:accent6>
        <a:srgbClr val="B9CA1A"/>
      </a:accent6>
      <a:hlink>
        <a:srgbClr val="D83E2C"/>
      </a:hlink>
      <a:folHlink>
        <a:srgbClr val="ED7D27"/>
      </a:folHlink>
    </a:clrScheme>
    <a:fontScheme name="Pushpin">
      <a:majorFont>
        <a:latin typeface="Constantia"/>
        <a:ea typeface=""/>
        <a:cs typeface=""/>
        <a:font script="Jpan" typeface="HGS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a:ea typeface=""/>
        <a:cs typeface=""/>
        <a:font script="Grek" typeface="Arial"/>
        <a:font script="Cyrl" typeface="Arial"/>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ushpin">
      <a:fillStyleLst>
        <a:solidFill>
          <a:schemeClr val="phClr"/>
        </a:solidFill>
        <a:gradFill rotWithShape="1">
          <a:gsLst>
            <a:gs pos="0">
              <a:schemeClr val="phClr">
                <a:tint val="50000"/>
                <a:satMod val="180000"/>
                <a:lumMod val="100000"/>
              </a:schemeClr>
            </a:gs>
            <a:gs pos="40000">
              <a:schemeClr val="phClr">
                <a:tint val="60000"/>
                <a:satMod val="130000"/>
                <a:lumMod val="100000"/>
              </a:schemeClr>
            </a:gs>
            <a:gs pos="100000">
              <a:schemeClr val="phClr">
                <a:tint val="96000"/>
                <a:lumMod val="108000"/>
              </a:schemeClr>
            </a:gs>
          </a:gsLst>
          <a:lin ang="5400000" scaled="0"/>
        </a:gradFill>
        <a:gradFill rotWithShape="1">
          <a:gsLst>
            <a:gs pos="0">
              <a:schemeClr val="phClr"/>
            </a:gs>
            <a:gs pos="100000">
              <a:schemeClr val="phClr">
                <a:shade val="76000"/>
                <a:lumMod val="90000"/>
              </a:schemeClr>
            </a:gs>
          </a:gsLst>
          <a:lin ang="5400000" scaled="0"/>
        </a:gradFill>
      </a:fillStyleLst>
      <a:lnStyleLst>
        <a:ln w="9525" cap="flat" cmpd="sng" algn="ctr">
          <a:solidFill>
            <a:schemeClr val="phClr"/>
          </a:solidFill>
          <a:prstDash val="solid"/>
        </a:ln>
        <a:ln w="15875" cap="flat" cmpd="sng" algn="ctr">
          <a:solidFill>
            <a:schemeClr val="phClr">
              <a:shade val="80000"/>
              <a:lumMod val="90000"/>
            </a:schemeClr>
          </a:solidFill>
          <a:prstDash val="solid"/>
        </a:ln>
        <a:ln w="25400" cap="flat" cmpd="sng" algn="ctr">
          <a:solidFill>
            <a:schemeClr val="phClr"/>
          </a:solidFill>
          <a:prstDash val="solid"/>
        </a:ln>
      </a:lnStyleLst>
      <a:effectStyleLst>
        <a:effectStyle>
          <a:effectLst/>
        </a:effectStyle>
        <a:effectStyle>
          <a:effectLst>
            <a:outerShdw blurRad="38100" dist="38100" dir="4800000" sx="98000" sy="98000" rotWithShape="0">
              <a:srgbClr val="000000">
                <a:alpha val="32000"/>
              </a:srgbClr>
            </a:outerShdw>
          </a:effectLst>
        </a:effectStyle>
        <a:effectStyle>
          <a:effectLst>
            <a:outerShdw blurRad="38100" dist="38100" dir="4800000" sx="96000" sy="96000" rotWithShape="0">
              <a:srgbClr val="000000">
                <a:alpha val="40000"/>
              </a:srgbClr>
            </a:outerShdw>
          </a:effectLst>
          <a:scene3d>
            <a:camera prst="orthographicFront">
              <a:rot lat="0" lon="0" rev="0"/>
            </a:camera>
            <a:lightRig rig="threePt" dir="t">
              <a:rot lat="0" lon="0" rev="3240000"/>
            </a:lightRig>
          </a:scene3d>
          <a:sp3d>
            <a:bevelT w="28575" h="28575"/>
          </a:sp3d>
        </a:effectStyle>
      </a:effectStyleLst>
      <a:bgFillStyleLst>
        <a:solidFill>
          <a:schemeClr val="phClr">
            <a:tint val="93000"/>
          </a:schemeClr>
        </a:solidFill>
        <a:blipFill rotWithShape="1">
          <a:blip xmlns:r="http://schemas.openxmlformats.org/officeDocument/2006/relationships" r:embed="rId1">
            <a:duotone>
              <a:schemeClr val="phClr">
                <a:shade val="80000"/>
                <a:satMod val="140000"/>
                <a:lumMod val="50000"/>
              </a:schemeClr>
              <a:schemeClr val="phClr">
                <a:tint val="95000"/>
                <a:satMod val="180000"/>
                <a:lumMod val="160000"/>
              </a:schemeClr>
            </a:duotone>
          </a:blip>
          <a:stretch/>
        </a:blipFill>
        <a:blipFill rotWithShape="1">
          <a:blip xmlns:r="http://schemas.openxmlformats.org/officeDocument/2006/relationships" r:embed="rId2">
            <a:duotone>
              <a:schemeClr val="phClr">
                <a:tint val="98000"/>
                <a:shade val="90000"/>
                <a:satMod val="120000"/>
                <a:lumMod val="54000"/>
              </a:schemeClr>
              <a:schemeClr val="phClr">
                <a:tint val="80000"/>
                <a:satMod val="160000"/>
                <a:lumMod val="140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Pushpin</Template>
  <TotalTime>230</TotalTime>
  <Words>686</Words>
  <Application>Microsoft Office PowerPoint</Application>
  <PresentationFormat>On-screen Show (4:3)</PresentationFormat>
  <Paragraphs>59</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Brush Script MT</vt:lpstr>
      <vt:lpstr>Constantia</vt:lpstr>
      <vt:lpstr>Franklin Gothic Book</vt:lpstr>
      <vt:lpstr>Rage Italic</vt:lpstr>
      <vt:lpstr>Wingdings</vt:lpstr>
      <vt:lpstr>Pushpin</vt:lpstr>
      <vt:lpstr>OPERATING SYSTEM DFC 2043 by   :  Zarina Binti Musa</vt:lpstr>
      <vt:lpstr>MULTITASKING</vt:lpstr>
      <vt:lpstr>MULTITASKING</vt:lpstr>
      <vt:lpstr>EXAMPLE OF MULTITASKING</vt:lpstr>
      <vt:lpstr>MULTIPROGRAMMING</vt:lpstr>
      <vt:lpstr>MULTIPROGRAMMING</vt:lpstr>
      <vt:lpstr>TIME-SHARING</vt:lpstr>
      <vt:lpstr>BUFFERING</vt:lpstr>
      <vt:lpstr>SPOOLING</vt:lpstr>
      <vt:lpstr>SPOOLING</vt:lpstr>
      <vt:lpstr>CACHING</vt:lpstr>
      <vt:lpstr>CACHING</vt:lpstr>
    </vt:vector>
  </TitlesOfParts>
  <Company>Toshiba</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 DFC 2043</dc:title>
  <dc:creator>admin</dc:creator>
  <cp:lastModifiedBy>User</cp:lastModifiedBy>
  <cp:revision>21</cp:revision>
  <dcterms:created xsi:type="dcterms:W3CDTF">2015-12-08T16:23:41Z</dcterms:created>
  <dcterms:modified xsi:type="dcterms:W3CDTF">2015-12-16T01:20:57Z</dcterms:modified>
</cp:coreProperties>
</file>