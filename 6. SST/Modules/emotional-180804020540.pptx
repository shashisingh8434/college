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5.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5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863BD8F7-ADA0-4DF9-8952-208675D8A8DA}" type="datetimeFigureOut">
              <a:rPr lang="en-IN" smtClean="0"/>
              <a:t>12-10-2017</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A53694D5-1C36-42F3-8C60-8E660A18A3CA}"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3BD8F7-ADA0-4DF9-8952-208675D8A8DA}" type="datetimeFigureOut">
              <a:rPr lang="en-IN" smtClean="0"/>
              <a:t>12-10-2017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63BD8F7-ADA0-4DF9-8952-208675D8A8DA}" type="datetimeFigureOut">
              <a:rPr lang="en-IN" smtClean="0"/>
              <a:t>12-10-2017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A53694D5-1C36-42F3-8C60-8E660A18A3CA}"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63BD8F7-ADA0-4DF9-8952-208675D8A8DA}" type="datetimeFigureOut">
              <a:rPr lang="en-IN" smtClean="0"/>
              <a:t>12-10-2017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63BD8F7-ADA0-4DF9-8952-208675D8A8DA}" type="datetimeFigureOut">
              <a:rPr lang="en-IN" smtClean="0"/>
              <a:t>12-10-2017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63BD8F7-ADA0-4DF9-8952-208675D8A8DA}" type="datetimeFigureOut">
              <a:rPr lang="en-IN" smtClean="0"/>
              <a:t>12-10-2017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3BD8F7-ADA0-4DF9-8952-208675D8A8DA}" type="datetimeFigureOut">
              <a:rPr lang="en-IN" smtClean="0"/>
              <a:t>12-10-2017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63BD8F7-ADA0-4DF9-8952-208675D8A8DA}" type="datetimeFigureOut">
              <a:rPr lang="en-IN" smtClean="0"/>
              <a:t>12-10-2017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63BD8F7-ADA0-4DF9-8952-208675D8A8DA}" type="datetimeFigureOut">
              <a:rPr lang="en-IN" smtClean="0"/>
              <a:t>12-10-2017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3BD8F7-ADA0-4DF9-8952-208675D8A8DA}" type="datetimeFigureOut">
              <a:rPr lang="en-IN" smtClean="0"/>
              <a:t>12-10-2017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3BD8F7-ADA0-4DF9-8952-208675D8A8DA}" type="datetimeFigureOut">
              <a:rPr lang="en-IN" smtClean="0"/>
              <a:t>12-10-2017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3694D5-1C36-42F3-8C60-8E660A18A3C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863BD8F7-ADA0-4DF9-8952-208675D8A8DA}" type="datetimeFigureOut">
              <a:rPr lang="en-IN" smtClean="0"/>
              <a:t>12-10-2017</a:t>
            </a:fld>
            <a:endParaRPr lang="en-IN"/>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A53694D5-1C36-42F3-8C60-8E660A18A3CA}"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endParaRPr lang="en-IN"/>
          </a:p>
        </p:txBody>
      </p:sp>
      <p:sp>
        <p:nvSpPr>
          <p:cNvPr id="3" name="Subtitle 2"/>
          <p:cNvSpPr>
            <a:spLocks noGrp="1"/>
          </p:cNvSpPr>
          <p:nvPr>
            <p:ph type="subTitle" idx="1"/>
          </p:nvPr>
        </p:nvSpPr>
        <p:spPr>
          <a:xfrm>
            <a:off x="2123728" y="4077072"/>
            <a:ext cx="3309803" cy="1260629"/>
          </a:xfrm>
        </p:spPr>
        <p:txBody>
          <a:bodyPr/>
          <a:lstStyle/>
          <a:p>
            <a:endParaRPr lang="en-IN"/>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404664"/>
            <a:ext cx="9073008" cy="6048672"/>
          </a:xfrm>
          <a:prstGeom prst="rect">
            <a:avLst/>
          </a:prstGeom>
        </p:spPr>
      </p:pic>
    </p:spTree>
    <p:extLst>
      <p:ext uri="{BB962C8B-B14F-4D97-AF65-F5344CB8AC3E}">
        <p14:creationId xmlns:p14="http://schemas.microsoft.com/office/powerpoint/2010/main" val="2494416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chemeClr val="tx1"/>
                </a:solidFill>
                <a:latin typeface="Times New Roman" pitchFamily="18" charset="0"/>
                <a:cs typeface="Times New Roman" pitchFamily="18" charset="0"/>
              </a:rPr>
              <a:t>EMOTIONAL INTELLIGENCE(EI)</a:t>
            </a:r>
            <a:endParaRPr lang="en-IN" dirty="0">
              <a:solidFill>
                <a:schemeClr val="tx1"/>
              </a:solidFill>
              <a:latin typeface="Times New Roman" pitchFamily="18" charset="0"/>
              <a:cs typeface="Times New Roman"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0192" y="2852936"/>
            <a:ext cx="2381250" cy="3581400"/>
          </a:xfrm>
          <a:prstGeom prst="rect">
            <a:avLst/>
          </a:prstGeom>
          <a:ln>
            <a:noFill/>
          </a:ln>
          <a:effectLst>
            <a:softEdge rad="112500"/>
          </a:effectLst>
        </p:spPr>
      </p:pic>
      <p:sp>
        <p:nvSpPr>
          <p:cNvPr id="3" name="Content Placeholder 2"/>
          <p:cNvSpPr>
            <a:spLocks noGrp="1"/>
          </p:cNvSpPr>
          <p:nvPr>
            <p:ph idx="1"/>
          </p:nvPr>
        </p:nvSpPr>
        <p:spPr/>
        <p:txBody>
          <a:bodyPr>
            <a:normAutofit/>
          </a:bodyPr>
          <a:lstStyle/>
          <a:p>
            <a:pPr marL="137160" indent="0" algn="just">
              <a:buNone/>
            </a:pPr>
            <a:r>
              <a:rPr lang="en-IN" sz="2400" dirty="0" smtClean="0">
                <a:latin typeface="Cambria" pitchFamily="18" charset="0"/>
              </a:rPr>
              <a:t>          Emotional Intelligence; also called EI, </a:t>
            </a:r>
            <a:r>
              <a:rPr lang="en-IN" sz="2400" dirty="0">
                <a:latin typeface="Cambria" pitchFamily="18" charset="0"/>
              </a:rPr>
              <a:t> </a:t>
            </a:r>
            <a:r>
              <a:rPr lang="en-IN" sz="2400" dirty="0" smtClean="0">
                <a:latin typeface="Cambria" pitchFamily="18" charset="0"/>
              </a:rPr>
              <a:t>describes an ability, capacity, or skill to perceive, assess, and manage the emotions of one’s self, of others, and of groups. The term emotional intelligence was coined by </a:t>
            </a:r>
            <a:r>
              <a:rPr lang="en-IN" sz="2400" dirty="0" err="1" smtClean="0">
                <a:latin typeface="Cambria" pitchFamily="18" charset="0"/>
              </a:rPr>
              <a:t>Salovey</a:t>
            </a:r>
            <a:r>
              <a:rPr lang="en-IN" sz="2400" dirty="0" smtClean="0">
                <a:latin typeface="Cambria" pitchFamily="18" charset="0"/>
              </a:rPr>
              <a:t>  and </a:t>
            </a:r>
            <a:r>
              <a:rPr lang="en-IN" sz="2400" dirty="0" smtClean="0">
                <a:latin typeface="Cambria" pitchFamily="18" charset="0"/>
              </a:rPr>
              <a:t>Mayer</a:t>
            </a:r>
          </a:p>
          <a:p>
            <a:pPr marL="137160" indent="0" algn="just">
              <a:buNone/>
            </a:pPr>
            <a:r>
              <a:rPr lang="en-IN" sz="2400" dirty="0" smtClean="0">
                <a:latin typeface="Cambria" pitchFamily="18" charset="0"/>
              </a:rPr>
              <a:t>in </a:t>
            </a:r>
            <a:r>
              <a:rPr lang="en-IN" sz="2400" dirty="0" smtClean="0">
                <a:latin typeface="Cambria" pitchFamily="18" charset="0"/>
              </a:rPr>
              <a:t>1990, but was popularised by </a:t>
            </a:r>
            <a:r>
              <a:rPr lang="en-IN" sz="2400" b="1" dirty="0" smtClean="0">
                <a:latin typeface="Cambria" pitchFamily="18" charset="0"/>
              </a:rPr>
              <a:t>Daniel</a:t>
            </a:r>
          </a:p>
          <a:p>
            <a:pPr marL="137160" indent="0" algn="just">
              <a:buNone/>
            </a:pPr>
            <a:r>
              <a:rPr lang="en-IN" sz="2400" b="1" dirty="0" err="1" smtClean="0">
                <a:latin typeface="Cambria" pitchFamily="18" charset="0"/>
              </a:rPr>
              <a:t>Goleman</a:t>
            </a:r>
            <a:r>
              <a:rPr lang="en-IN" sz="2400" b="1" dirty="0">
                <a:latin typeface="Cambria" pitchFamily="18" charset="0"/>
              </a:rPr>
              <a:t> </a:t>
            </a:r>
            <a:r>
              <a:rPr lang="en-IN" sz="2400" dirty="0" smtClean="0">
                <a:latin typeface="Cambria" pitchFamily="18" charset="0"/>
              </a:rPr>
              <a:t>through </a:t>
            </a:r>
            <a:r>
              <a:rPr lang="en-IN" sz="2400" dirty="0" smtClean="0">
                <a:latin typeface="Cambria" pitchFamily="18" charset="0"/>
              </a:rPr>
              <a:t>his book</a:t>
            </a:r>
            <a:r>
              <a:rPr lang="en-IN" sz="2400" dirty="0" smtClean="0">
                <a:latin typeface="Cambria" pitchFamily="18" charset="0"/>
              </a:rPr>
              <a:t>,</a:t>
            </a:r>
          </a:p>
          <a:p>
            <a:pPr marL="137160" indent="0" algn="just">
              <a:buNone/>
            </a:pPr>
            <a:r>
              <a:rPr lang="en-IN" sz="2400" dirty="0" smtClean="0">
                <a:latin typeface="Cambria" pitchFamily="18" charset="0"/>
              </a:rPr>
              <a:t>“</a:t>
            </a:r>
            <a:r>
              <a:rPr lang="en-IN" sz="2400" b="1" dirty="0" smtClean="0">
                <a:latin typeface="Cambria" pitchFamily="18" charset="0"/>
              </a:rPr>
              <a:t>Emotional Intelligence:</a:t>
            </a:r>
          </a:p>
          <a:p>
            <a:pPr marL="137160" indent="0" algn="just">
              <a:buNone/>
            </a:pPr>
            <a:r>
              <a:rPr lang="en-IN" sz="2400" b="1" dirty="0" smtClean="0">
                <a:latin typeface="Cambria" pitchFamily="18" charset="0"/>
              </a:rPr>
              <a:t> Why it can matter more than IQ”. </a:t>
            </a:r>
            <a:endParaRPr lang="en-IN" sz="2400" b="1" dirty="0">
              <a:latin typeface="Cambria" pitchFamily="18" charset="0"/>
            </a:endParaRPr>
          </a:p>
        </p:txBody>
      </p:sp>
    </p:spTree>
    <p:extLst>
      <p:ext uri="{BB962C8B-B14F-4D97-AF65-F5344CB8AC3E}">
        <p14:creationId xmlns:p14="http://schemas.microsoft.com/office/powerpoint/2010/main" val="4237323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Arial Black" pitchFamily="34" charset="0"/>
              </a:rPr>
              <a:t>EI - Meaning</a:t>
            </a:r>
            <a:endParaRPr lang="en-IN" sz="4400" dirty="0">
              <a:solidFill>
                <a:schemeClr val="tx1"/>
              </a:solidFill>
              <a:latin typeface="Arial Black" pitchFamily="34" charset="0"/>
            </a:endParaRPr>
          </a:p>
        </p:txBody>
      </p:sp>
      <p:sp>
        <p:nvSpPr>
          <p:cNvPr id="3" name="Content Placeholder 2"/>
          <p:cNvSpPr>
            <a:spLocks noGrp="1"/>
          </p:cNvSpPr>
          <p:nvPr>
            <p:ph idx="1"/>
          </p:nvPr>
        </p:nvSpPr>
        <p:spPr/>
        <p:txBody>
          <a:bodyPr>
            <a:normAutofit/>
          </a:bodyPr>
          <a:lstStyle/>
          <a:p>
            <a:r>
              <a:rPr lang="en-IN" sz="2400" dirty="0" smtClean="0">
                <a:latin typeface="Cambria" pitchFamily="18" charset="0"/>
              </a:rPr>
              <a:t>According to </a:t>
            </a:r>
            <a:r>
              <a:rPr lang="en-IN" sz="2400" b="1" dirty="0" err="1" smtClean="0">
                <a:latin typeface="Cambria" pitchFamily="18" charset="0"/>
              </a:rPr>
              <a:t>Salovey</a:t>
            </a:r>
            <a:r>
              <a:rPr lang="en-IN" sz="2400" dirty="0" smtClean="0">
                <a:latin typeface="Cambria" pitchFamily="18" charset="0"/>
              </a:rPr>
              <a:t> and </a:t>
            </a:r>
            <a:r>
              <a:rPr lang="en-IN" sz="2400" b="1" dirty="0" smtClean="0">
                <a:latin typeface="Cambria" pitchFamily="18" charset="0"/>
              </a:rPr>
              <a:t>Mayer</a:t>
            </a:r>
            <a:r>
              <a:rPr lang="en-IN" sz="2400" dirty="0" smtClean="0">
                <a:latin typeface="Cambria" pitchFamily="18" charset="0"/>
              </a:rPr>
              <a:t>,  emotional intelligence is</a:t>
            </a:r>
            <a:r>
              <a:rPr lang="en-IN" sz="2400" i="1" dirty="0" smtClean="0">
                <a:latin typeface="Cambria" pitchFamily="18" charset="0"/>
              </a:rPr>
              <a:t> a form of social intelligence that involves the ability to monitor one’s own and others’ feelings and emotions, to discriminate among them, and to use this information to guide one’s thinking and action.</a:t>
            </a:r>
          </a:p>
          <a:p>
            <a:r>
              <a:rPr lang="en-IN" sz="2400" b="1" dirty="0" err="1" smtClean="0">
                <a:latin typeface="Cambria" pitchFamily="18" charset="0"/>
              </a:rPr>
              <a:t>Goleman</a:t>
            </a:r>
            <a:r>
              <a:rPr lang="en-IN" sz="2400" i="1" dirty="0" smtClean="0">
                <a:latin typeface="Cambria" pitchFamily="18" charset="0"/>
              </a:rPr>
              <a:t> </a:t>
            </a:r>
            <a:r>
              <a:rPr lang="en-IN" sz="2400" dirty="0" smtClean="0">
                <a:latin typeface="Cambria" pitchFamily="18" charset="0"/>
              </a:rPr>
              <a:t>defined emotional intelligence </a:t>
            </a:r>
            <a:r>
              <a:rPr lang="en-IN" sz="2400" i="1" dirty="0" smtClean="0">
                <a:latin typeface="Cambria" pitchFamily="18" charset="0"/>
              </a:rPr>
              <a:t>as the capacity for recognizing our own feelings and those of others, for motivating ourselves, and for managing emotions well in ourselves and in our relationship.</a:t>
            </a:r>
            <a:endParaRPr lang="en-IN" sz="2400" i="1" dirty="0">
              <a:latin typeface="Cambria" pitchFamily="18" charset="0"/>
            </a:endParaRPr>
          </a:p>
        </p:txBody>
      </p:sp>
    </p:spTree>
    <p:extLst>
      <p:ext uri="{BB962C8B-B14F-4D97-AF65-F5344CB8AC3E}">
        <p14:creationId xmlns:p14="http://schemas.microsoft.com/office/powerpoint/2010/main" val="10957741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mn-lt"/>
              </a:rPr>
              <a:t>EI – The five domains</a:t>
            </a:r>
            <a:endParaRPr lang="en-IN" sz="4400" dirty="0">
              <a:solidFill>
                <a:schemeClr val="tx1"/>
              </a:solidFill>
              <a:latin typeface="+mn-lt"/>
            </a:endParaRPr>
          </a:p>
        </p:txBody>
      </p:sp>
      <p:sp>
        <p:nvSpPr>
          <p:cNvPr id="3" name="Content Placeholder 2"/>
          <p:cNvSpPr>
            <a:spLocks noGrp="1"/>
          </p:cNvSpPr>
          <p:nvPr>
            <p:ph idx="1"/>
          </p:nvPr>
        </p:nvSpPr>
        <p:spPr/>
        <p:txBody>
          <a:bodyPr/>
          <a:lstStyle/>
          <a:p>
            <a:pPr marL="137160" indent="0" algn="just">
              <a:buNone/>
            </a:pPr>
            <a:r>
              <a:rPr lang="en-IN" dirty="0" smtClean="0"/>
              <a:t>    </a:t>
            </a:r>
            <a:r>
              <a:rPr lang="en-IN" dirty="0" err="1" smtClean="0"/>
              <a:t>Goleman</a:t>
            </a:r>
            <a:r>
              <a:rPr lang="en-IN" dirty="0" smtClean="0"/>
              <a:t> identified the five ‘domains’ of EI as:</a:t>
            </a:r>
          </a:p>
          <a:p>
            <a:pPr marL="137160" indent="0" algn="just">
              <a:buNone/>
            </a:pPr>
            <a:endParaRPr lang="en-IN" dirty="0" smtClean="0"/>
          </a:p>
          <a:p>
            <a:pPr algn="just"/>
            <a:r>
              <a:rPr lang="en-IN" dirty="0" smtClean="0"/>
              <a:t>Self awareness</a:t>
            </a:r>
          </a:p>
          <a:p>
            <a:pPr algn="just"/>
            <a:r>
              <a:rPr lang="en-IN" dirty="0" smtClean="0"/>
              <a:t>Self regulation</a:t>
            </a:r>
          </a:p>
          <a:p>
            <a:pPr algn="just"/>
            <a:r>
              <a:rPr lang="en-IN" dirty="0" smtClean="0"/>
              <a:t>Self motivation</a:t>
            </a:r>
          </a:p>
          <a:p>
            <a:pPr algn="just"/>
            <a:r>
              <a:rPr lang="en-IN" dirty="0" smtClean="0"/>
              <a:t>Empathy</a:t>
            </a:r>
          </a:p>
          <a:p>
            <a:pPr algn="just"/>
            <a:r>
              <a:rPr lang="en-IN" dirty="0" smtClean="0"/>
              <a:t>Social skills</a:t>
            </a:r>
          </a:p>
          <a:p>
            <a:pPr marL="137160" indent="0">
              <a:buNone/>
            </a:pPr>
            <a:r>
              <a:rPr lang="en-IN" dirty="0"/>
              <a:t> </a:t>
            </a:r>
            <a:r>
              <a:rPr lang="en-IN" dirty="0" smtClean="0"/>
              <a:t>                   </a:t>
            </a:r>
          </a:p>
        </p:txBody>
      </p:sp>
    </p:spTree>
    <p:extLst>
      <p:ext uri="{BB962C8B-B14F-4D97-AF65-F5344CB8AC3E}">
        <p14:creationId xmlns:p14="http://schemas.microsoft.com/office/powerpoint/2010/main" val="25618402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3609" y="764704"/>
            <a:ext cx="6984776" cy="5544021"/>
          </a:xfrm>
        </p:spPr>
      </p:pic>
    </p:spTree>
    <p:extLst>
      <p:ext uri="{BB962C8B-B14F-4D97-AF65-F5344CB8AC3E}">
        <p14:creationId xmlns:p14="http://schemas.microsoft.com/office/powerpoint/2010/main" val="802375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mn-lt"/>
              </a:rPr>
              <a:t>SELF AWARENESS</a:t>
            </a:r>
            <a:endParaRPr lang="en-IN" sz="4400" dirty="0">
              <a:solidFill>
                <a:schemeClr val="tx1"/>
              </a:solidFill>
              <a:latin typeface="+mn-lt"/>
            </a:endParaRPr>
          </a:p>
        </p:txBody>
      </p:sp>
      <p:sp>
        <p:nvSpPr>
          <p:cNvPr id="3" name="Content Placeholder 2"/>
          <p:cNvSpPr>
            <a:spLocks noGrp="1"/>
          </p:cNvSpPr>
          <p:nvPr>
            <p:ph idx="1"/>
          </p:nvPr>
        </p:nvSpPr>
        <p:spPr/>
        <p:txBody>
          <a:bodyPr>
            <a:normAutofit lnSpcReduction="10000"/>
          </a:bodyPr>
          <a:lstStyle/>
          <a:p>
            <a:pPr marL="137160" indent="0" algn="just">
              <a:buNone/>
            </a:pPr>
            <a:r>
              <a:rPr lang="en-IN" dirty="0" smtClean="0"/>
              <a:t>      Knowing what we are feeling in the moment, and using those preference to guide our decision making; having a realistic assessment of our own abilities and a well-grounded sense of self-confidence.</a:t>
            </a:r>
          </a:p>
          <a:p>
            <a:pPr algn="just"/>
            <a:r>
              <a:rPr lang="en-IN" dirty="0" smtClean="0"/>
              <a:t>Emotional awareness: Recognizing one’s emotions and their effects.</a:t>
            </a:r>
          </a:p>
          <a:p>
            <a:pPr algn="just"/>
            <a:r>
              <a:rPr lang="en-IN" dirty="0" smtClean="0"/>
              <a:t>Accurate self-assessment: Knowing one’s strengths and limits.</a:t>
            </a:r>
          </a:p>
          <a:p>
            <a:pPr algn="just"/>
            <a:r>
              <a:rPr lang="en-IN" dirty="0" smtClean="0"/>
              <a:t>Self-confidence: Sureness about one’s self-worth and capabilities.</a:t>
            </a:r>
            <a:endParaRPr lang="en-IN" dirty="0"/>
          </a:p>
        </p:txBody>
      </p:sp>
    </p:spTree>
    <p:extLst>
      <p:ext uri="{BB962C8B-B14F-4D97-AF65-F5344CB8AC3E}">
        <p14:creationId xmlns:p14="http://schemas.microsoft.com/office/powerpoint/2010/main" val="38982369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effectLst>
                  <a:outerShdw blurRad="38100" dist="38100" dir="2700000" algn="tl">
                    <a:srgbClr val="000000">
                      <a:alpha val="43137"/>
                    </a:srgbClr>
                  </a:outerShdw>
                </a:effectLst>
                <a:latin typeface="+mn-lt"/>
              </a:rPr>
              <a:t>SELF REGULATION</a:t>
            </a:r>
            <a:endParaRPr lang="en-IN" sz="4400" dirty="0">
              <a:solidFill>
                <a:schemeClr val="tx1"/>
              </a:solidFill>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467544" y="1412776"/>
            <a:ext cx="8229600" cy="5112568"/>
          </a:xfrm>
        </p:spPr>
        <p:txBody>
          <a:bodyPr/>
          <a:lstStyle/>
          <a:p>
            <a:pPr marL="137160" indent="0" algn="just">
              <a:buNone/>
            </a:pPr>
            <a:r>
              <a:rPr lang="en-IN" sz="2400" dirty="0" smtClean="0">
                <a:latin typeface="Calibri" pitchFamily="34" charset="0"/>
              </a:rPr>
              <a:t>          Handling our emotions so they facilitate rather than interfere with the task at hand; being conscientious and delaying gratification to pursue goals recovering well from emotional distress.</a:t>
            </a:r>
          </a:p>
          <a:p>
            <a:pPr algn="just"/>
            <a:r>
              <a:rPr lang="en-IN" sz="2400" dirty="0" smtClean="0">
                <a:latin typeface="Calibri" pitchFamily="34" charset="0"/>
              </a:rPr>
              <a:t>Self-control: Managing disruptive emotions and impulses.</a:t>
            </a:r>
          </a:p>
          <a:p>
            <a:pPr algn="just"/>
            <a:r>
              <a:rPr lang="en-IN" sz="2400" dirty="0" smtClean="0">
                <a:latin typeface="Calibri" pitchFamily="34" charset="0"/>
              </a:rPr>
              <a:t>Trustworthiness: Maintaining standards of honesty and integrity.</a:t>
            </a:r>
          </a:p>
          <a:p>
            <a:pPr algn="just"/>
            <a:r>
              <a:rPr lang="en-IN" sz="2400" dirty="0" smtClean="0">
                <a:latin typeface="Calibri" pitchFamily="34" charset="0"/>
              </a:rPr>
              <a:t>Adaptability : Flexibility in handling change.</a:t>
            </a:r>
          </a:p>
          <a:p>
            <a:pPr algn="just"/>
            <a:r>
              <a:rPr lang="en-IN" sz="2400" dirty="0" smtClean="0">
                <a:latin typeface="Calibri" pitchFamily="34" charset="0"/>
              </a:rPr>
              <a:t>Innovativeness: Being comfortable with and open to new ideas and new information.</a:t>
            </a:r>
          </a:p>
          <a:p>
            <a:pPr marL="137160" indent="0">
              <a:buNone/>
            </a:pPr>
            <a:endParaRPr lang="en-IN" sz="2400" dirty="0" smtClean="0">
              <a:latin typeface="Calibri" pitchFamily="34" charset="0"/>
            </a:endParaRPr>
          </a:p>
          <a:p>
            <a:endParaRPr lang="en-IN" dirty="0"/>
          </a:p>
        </p:txBody>
      </p:sp>
    </p:spTree>
    <p:extLst>
      <p:ext uri="{BB962C8B-B14F-4D97-AF65-F5344CB8AC3E}">
        <p14:creationId xmlns:p14="http://schemas.microsoft.com/office/powerpoint/2010/main" val="688160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mn-lt"/>
              </a:rPr>
              <a:t>SELF MOTIVATION</a:t>
            </a:r>
            <a:endParaRPr lang="en-IN" sz="4400" dirty="0">
              <a:solidFill>
                <a:schemeClr val="tx1"/>
              </a:solidFill>
              <a:latin typeface="+mn-lt"/>
            </a:endParaRPr>
          </a:p>
        </p:txBody>
      </p:sp>
      <p:sp>
        <p:nvSpPr>
          <p:cNvPr id="3" name="Content Placeholder 2"/>
          <p:cNvSpPr>
            <a:spLocks noGrp="1"/>
          </p:cNvSpPr>
          <p:nvPr>
            <p:ph idx="1"/>
          </p:nvPr>
        </p:nvSpPr>
        <p:spPr/>
        <p:txBody>
          <a:bodyPr>
            <a:normAutofit/>
          </a:bodyPr>
          <a:lstStyle/>
          <a:p>
            <a:pPr marL="137160" indent="0" algn="just">
              <a:buNone/>
            </a:pPr>
            <a:r>
              <a:rPr lang="en-IN" sz="2400" dirty="0" smtClean="0">
                <a:latin typeface="Calibri" pitchFamily="34" charset="0"/>
              </a:rPr>
              <a:t>       Using our deepest preferences to make and guide us toward our goals, to help us take initiative and strike to improve, and to persevere in the face of set backs and frustrations.</a:t>
            </a:r>
          </a:p>
          <a:p>
            <a:pPr algn="just"/>
            <a:r>
              <a:rPr lang="en-IN" sz="2400" dirty="0">
                <a:latin typeface="Calibri" pitchFamily="34" charset="0"/>
              </a:rPr>
              <a:t>A</a:t>
            </a:r>
            <a:r>
              <a:rPr lang="en-IN" sz="2400" dirty="0" smtClean="0">
                <a:latin typeface="Calibri" pitchFamily="34" charset="0"/>
              </a:rPr>
              <a:t>chievement drive: Striving to improve or meet a standard of excellence.</a:t>
            </a:r>
          </a:p>
          <a:p>
            <a:pPr algn="just"/>
            <a:r>
              <a:rPr lang="en-IN" sz="2400" dirty="0" smtClean="0">
                <a:latin typeface="Calibri" pitchFamily="34" charset="0"/>
              </a:rPr>
              <a:t>Commitment: Aligning with the goals of the group or organisation.</a:t>
            </a:r>
          </a:p>
          <a:p>
            <a:pPr algn="just"/>
            <a:r>
              <a:rPr lang="en-IN" sz="2400" dirty="0" smtClean="0">
                <a:latin typeface="Calibri" pitchFamily="34" charset="0"/>
              </a:rPr>
              <a:t>Initiative: Readiness to act an opportunities.</a:t>
            </a:r>
          </a:p>
          <a:p>
            <a:pPr algn="just"/>
            <a:r>
              <a:rPr lang="en-IN" sz="2400" dirty="0" smtClean="0">
                <a:latin typeface="Calibri" pitchFamily="34" charset="0"/>
              </a:rPr>
              <a:t>Optimism: persistence in pursuing goals despite obstacles and setbacks.</a:t>
            </a:r>
          </a:p>
          <a:p>
            <a:endParaRPr lang="en-IN" sz="2400" dirty="0">
              <a:latin typeface="Calibri" pitchFamily="34" charset="0"/>
            </a:endParaRPr>
          </a:p>
        </p:txBody>
      </p:sp>
    </p:spTree>
    <p:extLst>
      <p:ext uri="{BB962C8B-B14F-4D97-AF65-F5344CB8AC3E}">
        <p14:creationId xmlns:p14="http://schemas.microsoft.com/office/powerpoint/2010/main" val="921148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smtClean="0">
                <a:solidFill>
                  <a:schemeClr val="tx1"/>
                </a:solidFill>
                <a:latin typeface="+mn-lt"/>
              </a:rPr>
              <a:t>EMPATHY</a:t>
            </a:r>
            <a:endParaRPr lang="en-IN" sz="4400" dirty="0">
              <a:solidFill>
                <a:schemeClr val="tx1"/>
              </a:solidFill>
              <a:latin typeface="+mn-lt"/>
            </a:endParaRPr>
          </a:p>
        </p:txBody>
      </p:sp>
      <p:sp>
        <p:nvSpPr>
          <p:cNvPr id="3" name="Content Placeholder 2"/>
          <p:cNvSpPr>
            <a:spLocks noGrp="1"/>
          </p:cNvSpPr>
          <p:nvPr>
            <p:ph idx="1"/>
          </p:nvPr>
        </p:nvSpPr>
        <p:spPr/>
        <p:txBody>
          <a:bodyPr>
            <a:normAutofit/>
          </a:bodyPr>
          <a:lstStyle/>
          <a:p>
            <a:pPr marL="137160" indent="0" algn="just">
              <a:buNone/>
            </a:pPr>
            <a:r>
              <a:rPr lang="en-IN" sz="2400" dirty="0" smtClean="0">
                <a:latin typeface="Calibri" pitchFamily="34" charset="0"/>
              </a:rPr>
              <a:t>        Seeing what people are feeling, being able to take their perspective and cultivating rapport and attunement with a broad diversity of people.</a:t>
            </a:r>
          </a:p>
          <a:p>
            <a:pPr algn="just"/>
            <a:r>
              <a:rPr lang="en-IN" sz="2400" b="1" dirty="0" smtClean="0">
                <a:latin typeface="Calibri" pitchFamily="34" charset="0"/>
              </a:rPr>
              <a:t>Service orientation</a:t>
            </a:r>
            <a:r>
              <a:rPr lang="en-IN" sz="2400" dirty="0" smtClean="0">
                <a:latin typeface="Calibri" pitchFamily="34" charset="0"/>
              </a:rPr>
              <a:t>: Anticipating, recognising  and meeting customer’s needs.</a:t>
            </a:r>
          </a:p>
          <a:p>
            <a:pPr algn="just"/>
            <a:r>
              <a:rPr lang="en-IN" sz="2400" b="1" dirty="0" smtClean="0">
                <a:latin typeface="Calibri" pitchFamily="34" charset="0"/>
              </a:rPr>
              <a:t>Developing others</a:t>
            </a:r>
            <a:r>
              <a:rPr lang="en-IN" sz="2400" dirty="0" smtClean="0">
                <a:latin typeface="Calibri" pitchFamily="34" charset="0"/>
              </a:rPr>
              <a:t>: Sensing what others need’s in order to develop, and bolstering their abilities.</a:t>
            </a:r>
          </a:p>
          <a:p>
            <a:pPr algn="just"/>
            <a:r>
              <a:rPr lang="en-IN" sz="2400" b="1" dirty="0" smtClean="0">
                <a:latin typeface="Calibri" pitchFamily="34" charset="0"/>
              </a:rPr>
              <a:t>Leveraging diversity</a:t>
            </a:r>
            <a:r>
              <a:rPr lang="en-IN" sz="2400" dirty="0" smtClean="0">
                <a:latin typeface="Calibri" pitchFamily="34" charset="0"/>
              </a:rPr>
              <a:t>:  Cultivating opportunities through diverse people.</a:t>
            </a:r>
          </a:p>
          <a:p>
            <a:pPr algn="just"/>
            <a:r>
              <a:rPr lang="en-IN" sz="2400" b="1" dirty="0" smtClean="0">
                <a:latin typeface="Calibri" pitchFamily="34" charset="0"/>
              </a:rPr>
              <a:t>Political awareness</a:t>
            </a:r>
            <a:r>
              <a:rPr lang="en-IN" sz="2400" dirty="0" smtClean="0">
                <a:latin typeface="Calibri" pitchFamily="34" charset="0"/>
              </a:rPr>
              <a:t>: Reading a group’s emotional currents and power relationships.</a:t>
            </a:r>
            <a:endParaRPr lang="en-IN" sz="2400" dirty="0">
              <a:latin typeface="Calibri" pitchFamily="34" charset="0"/>
            </a:endParaRPr>
          </a:p>
        </p:txBody>
      </p:sp>
    </p:spTree>
    <p:extLst>
      <p:ext uri="{BB962C8B-B14F-4D97-AF65-F5344CB8AC3E}">
        <p14:creationId xmlns:p14="http://schemas.microsoft.com/office/powerpoint/2010/main" val="1456210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87208" cy="850106"/>
          </a:xfrm>
        </p:spPr>
        <p:txBody>
          <a:bodyPr>
            <a:normAutofit/>
          </a:bodyPr>
          <a:lstStyle/>
          <a:p>
            <a:r>
              <a:rPr lang="en-IN" sz="4400" dirty="0" smtClean="0">
                <a:solidFill>
                  <a:schemeClr val="tx1"/>
                </a:solidFill>
                <a:latin typeface="+mn-lt"/>
              </a:rPr>
              <a:t>SOCIAL SKILLS</a:t>
            </a:r>
            <a:endParaRPr lang="en-IN" sz="4400" dirty="0">
              <a:solidFill>
                <a:schemeClr val="tx1"/>
              </a:solidFill>
              <a:latin typeface="+mn-lt"/>
            </a:endParaRPr>
          </a:p>
        </p:txBody>
      </p:sp>
      <p:sp>
        <p:nvSpPr>
          <p:cNvPr id="3" name="Content Placeholder 2"/>
          <p:cNvSpPr>
            <a:spLocks noGrp="1"/>
          </p:cNvSpPr>
          <p:nvPr>
            <p:ph idx="1"/>
          </p:nvPr>
        </p:nvSpPr>
        <p:spPr>
          <a:xfrm>
            <a:off x="467544" y="1052736"/>
            <a:ext cx="8219256" cy="5256624"/>
          </a:xfrm>
        </p:spPr>
        <p:txBody>
          <a:bodyPr>
            <a:normAutofit lnSpcReduction="10000"/>
          </a:bodyPr>
          <a:lstStyle/>
          <a:p>
            <a:pPr marL="137160" indent="0" algn="just">
              <a:buNone/>
            </a:pPr>
            <a:r>
              <a:rPr lang="en-IN" sz="2400" dirty="0" smtClean="0">
                <a:latin typeface="Calibri" pitchFamily="34" charset="0"/>
              </a:rPr>
              <a:t>       Handling emotions in relationships well and accurately reading social situations and networks; interacting smoothly using these skills to persuade and lead, negotiate and settle disputes, for co-operation and team work.</a:t>
            </a:r>
          </a:p>
          <a:p>
            <a:pPr algn="just"/>
            <a:r>
              <a:rPr lang="en-IN" sz="2400" b="1" dirty="0" smtClean="0">
                <a:latin typeface="Calibri" pitchFamily="34" charset="0"/>
              </a:rPr>
              <a:t>Communication</a:t>
            </a:r>
            <a:r>
              <a:rPr lang="en-IN" sz="2400" dirty="0" smtClean="0">
                <a:latin typeface="Calibri" pitchFamily="34" charset="0"/>
              </a:rPr>
              <a:t>:  Sending clear and convincing messages.</a:t>
            </a:r>
          </a:p>
          <a:p>
            <a:pPr algn="just"/>
            <a:r>
              <a:rPr lang="en-IN" sz="2400" b="1" dirty="0" smtClean="0">
                <a:latin typeface="Calibri" pitchFamily="34" charset="0"/>
              </a:rPr>
              <a:t>Change catalyst</a:t>
            </a:r>
            <a:r>
              <a:rPr lang="en-IN" sz="2400" dirty="0" smtClean="0">
                <a:latin typeface="Calibri" pitchFamily="34" charset="0"/>
              </a:rPr>
              <a:t>:  Initiating or managing change.</a:t>
            </a:r>
          </a:p>
          <a:p>
            <a:pPr algn="just"/>
            <a:r>
              <a:rPr lang="en-IN" sz="2400" b="1" dirty="0" smtClean="0">
                <a:latin typeface="Calibri" pitchFamily="34" charset="0"/>
              </a:rPr>
              <a:t>Conflict management</a:t>
            </a:r>
            <a:r>
              <a:rPr lang="en-IN" sz="2400" dirty="0" smtClean="0">
                <a:latin typeface="Calibri" pitchFamily="34" charset="0"/>
              </a:rPr>
              <a:t>:  Negotiating and resolving disagreements.</a:t>
            </a:r>
          </a:p>
          <a:p>
            <a:pPr algn="just"/>
            <a:r>
              <a:rPr lang="en-IN" sz="2400" b="1" dirty="0" smtClean="0">
                <a:latin typeface="Calibri" pitchFamily="34" charset="0"/>
              </a:rPr>
              <a:t>Building bonds</a:t>
            </a:r>
            <a:r>
              <a:rPr lang="en-IN" sz="2400" dirty="0" smtClean="0">
                <a:latin typeface="Calibri" pitchFamily="34" charset="0"/>
              </a:rPr>
              <a:t>:  Nurturing instrumental relationship.</a:t>
            </a:r>
          </a:p>
          <a:p>
            <a:pPr algn="just"/>
            <a:r>
              <a:rPr lang="en-IN" sz="2400" b="1" dirty="0" smtClean="0">
                <a:latin typeface="Calibri" pitchFamily="34" charset="0"/>
              </a:rPr>
              <a:t>Collaboration and co-operation</a:t>
            </a:r>
            <a:r>
              <a:rPr lang="en-IN" sz="2400" dirty="0" smtClean="0">
                <a:latin typeface="Calibri" pitchFamily="34" charset="0"/>
              </a:rPr>
              <a:t>:  Working with others towards shared goals.</a:t>
            </a:r>
          </a:p>
          <a:p>
            <a:pPr algn="just"/>
            <a:r>
              <a:rPr lang="en-IN" sz="2400" b="1" dirty="0" smtClean="0">
                <a:latin typeface="Calibri" pitchFamily="34" charset="0"/>
              </a:rPr>
              <a:t>Team capabilities</a:t>
            </a:r>
            <a:r>
              <a:rPr lang="en-IN" sz="2400" dirty="0" smtClean="0">
                <a:latin typeface="Calibri" pitchFamily="34" charset="0"/>
              </a:rPr>
              <a:t>: Creating group synergy in pursuing collective goals.</a:t>
            </a:r>
          </a:p>
          <a:p>
            <a:endParaRPr lang="en-IN" sz="2400" dirty="0" smtClean="0">
              <a:latin typeface="Calibri" pitchFamily="34" charset="0"/>
            </a:endParaRPr>
          </a:p>
          <a:p>
            <a:pPr algn="just"/>
            <a:endParaRPr lang="en-IN" sz="2400" dirty="0" smtClean="0">
              <a:latin typeface="Calibri" pitchFamily="34" charset="0"/>
            </a:endParaRPr>
          </a:p>
          <a:p>
            <a:pPr marL="137160" indent="0" algn="just">
              <a:buNone/>
            </a:pPr>
            <a:endParaRPr lang="en-IN" sz="2400" dirty="0">
              <a:latin typeface="Calibri" pitchFamily="34" charset="0"/>
            </a:endParaRPr>
          </a:p>
        </p:txBody>
      </p:sp>
    </p:spTree>
    <p:extLst>
      <p:ext uri="{BB962C8B-B14F-4D97-AF65-F5344CB8AC3E}">
        <p14:creationId xmlns:p14="http://schemas.microsoft.com/office/powerpoint/2010/main" val="2624628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solidFill>
                  <a:schemeClr val="tx1"/>
                </a:solidFill>
                <a:latin typeface="+mn-lt"/>
              </a:rPr>
              <a:t>EMOTIONAL QUOTIENT(EQ)</a:t>
            </a:r>
            <a:endParaRPr lang="en-IN" sz="4000" dirty="0">
              <a:solidFill>
                <a:schemeClr val="tx1"/>
              </a:solidFill>
              <a:latin typeface="+mn-lt"/>
            </a:endParaRPr>
          </a:p>
        </p:txBody>
      </p:sp>
      <p:sp>
        <p:nvSpPr>
          <p:cNvPr id="3" name="Content Placeholder 2"/>
          <p:cNvSpPr>
            <a:spLocks noGrp="1"/>
          </p:cNvSpPr>
          <p:nvPr>
            <p:ph idx="1"/>
          </p:nvPr>
        </p:nvSpPr>
        <p:spPr/>
        <p:txBody>
          <a:bodyPr>
            <a:normAutofit/>
          </a:bodyPr>
          <a:lstStyle/>
          <a:p>
            <a:pPr marL="137160" indent="0">
              <a:buNone/>
            </a:pPr>
            <a:r>
              <a:rPr lang="en-IN" sz="2400" dirty="0" smtClean="0"/>
              <a:t>     The term </a:t>
            </a:r>
            <a:r>
              <a:rPr lang="en-IN" sz="2400" dirty="0"/>
              <a:t>E</a:t>
            </a:r>
            <a:r>
              <a:rPr lang="en-IN" sz="2400" dirty="0" smtClean="0"/>
              <a:t>motional Quotient(EQ) was coined by Baron  in 1988 as a counterpart to Intelligence Quotient(IQ). EQ is measure of one’s emotional intelligence, or one’s ability to use both the emotions and cognitive skills.</a:t>
            </a:r>
          </a:p>
          <a:p>
            <a:pPr marL="137160" indent="0">
              <a:buNone/>
            </a:pPr>
            <a:r>
              <a:rPr lang="en-IN" sz="2400" dirty="0"/>
              <a:t> </a:t>
            </a:r>
            <a:r>
              <a:rPr lang="en-IN" sz="2400" dirty="0" smtClean="0"/>
              <a:t>    According to </a:t>
            </a:r>
            <a:r>
              <a:rPr lang="en-IN" sz="2400" dirty="0" err="1" smtClean="0"/>
              <a:t>Dazier</a:t>
            </a:r>
            <a:r>
              <a:rPr lang="en-IN" sz="2400" dirty="0" smtClean="0"/>
              <a:t>, EQ is the ability to perceive and express emotion, assimilate emotion in thought, understand and reason with emotion, and regulate emotion in the self and others.</a:t>
            </a:r>
          </a:p>
          <a:p>
            <a:pPr marL="137160" indent="0">
              <a:buNone/>
            </a:pPr>
            <a:endParaRPr lang="en-IN" sz="2400" dirty="0"/>
          </a:p>
        </p:txBody>
      </p:sp>
    </p:spTree>
    <p:extLst>
      <p:ext uri="{BB962C8B-B14F-4D97-AF65-F5344CB8AC3E}">
        <p14:creationId xmlns:p14="http://schemas.microsoft.com/office/powerpoint/2010/main" val="20105012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mn-lt"/>
              </a:rPr>
              <a:t>COMPONENT OF EQ</a:t>
            </a:r>
            <a:endParaRPr lang="en-IN" sz="4400" dirty="0">
              <a:solidFill>
                <a:schemeClr val="tx1"/>
              </a:solidFill>
              <a:latin typeface="+mn-lt"/>
            </a:endParaRPr>
          </a:p>
        </p:txBody>
      </p:sp>
      <p:sp>
        <p:nvSpPr>
          <p:cNvPr id="3" name="Content Placeholder 2"/>
          <p:cNvSpPr>
            <a:spLocks noGrp="1"/>
          </p:cNvSpPr>
          <p:nvPr>
            <p:ph idx="1"/>
          </p:nvPr>
        </p:nvSpPr>
        <p:spPr/>
        <p:txBody>
          <a:bodyPr/>
          <a:lstStyle/>
          <a:p>
            <a:pPr marL="137160" indent="0">
              <a:buNone/>
            </a:pPr>
            <a:r>
              <a:rPr lang="en-IN" dirty="0" err="1" smtClean="0"/>
              <a:t>Goleman</a:t>
            </a:r>
            <a:r>
              <a:rPr lang="en-IN" dirty="0" smtClean="0"/>
              <a:t> identified the five ‘domains’ of EQ is</a:t>
            </a:r>
          </a:p>
          <a:p>
            <a:pPr marL="137160" indent="0">
              <a:buNone/>
            </a:pPr>
            <a:endParaRPr lang="en-IN" dirty="0" smtClean="0"/>
          </a:p>
          <a:p>
            <a:r>
              <a:rPr lang="en-IN" dirty="0" smtClean="0"/>
              <a:t>Knowing your emotions.</a:t>
            </a:r>
          </a:p>
          <a:p>
            <a:r>
              <a:rPr lang="en-IN" dirty="0" smtClean="0"/>
              <a:t>Managing your own emotions.</a:t>
            </a:r>
          </a:p>
          <a:p>
            <a:r>
              <a:rPr lang="en-IN" dirty="0" smtClean="0"/>
              <a:t>Motivating yourself.</a:t>
            </a:r>
          </a:p>
          <a:p>
            <a:r>
              <a:rPr lang="en-IN" dirty="0" smtClean="0"/>
              <a:t>Recognising and understand other people’s emotions.</a:t>
            </a:r>
          </a:p>
          <a:p>
            <a:r>
              <a:rPr lang="en-IN" dirty="0" smtClean="0"/>
              <a:t>Managing relationships .i.e.; managing the emotions of others.</a:t>
            </a:r>
          </a:p>
          <a:p>
            <a:endParaRPr lang="en-IN" dirty="0"/>
          </a:p>
        </p:txBody>
      </p:sp>
    </p:spTree>
    <p:extLst>
      <p:ext uri="{BB962C8B-B14F-4D97-AF65-F5344CB8AC3E}">
        <p14:creationId xmlns:p14="http://schemas.microsoft.com/office/powerpoint/2010/main" val="526375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chemeClr val="tx1"/>
                </a:solidFill>
                <a:latin typeface="+mn-lt"/>
              </a:rPr>
              <a:t>Guidelines for promoting EI in the school paving the way.</a:t>
            </a:r>
            <a:endParaRPr lang="en-IN" dirty="0">
              <a:solidFill>
                <a:schemeClr val="tx1"/>
              </a:solidFill>
              <a:latin typeface="+mn-lt"/>
            </a:endParaRPr>
          </a:p>
        </p:txBody>
      </p:sp>
      <p:sp>
        <p:nvSpPr>
          <p:cNvPr id="3" name="Content Placeholder 2"/>
          <p:cNvSpPr>
            <a:spLocks noGrp="1"/>
          </p:cNvSpPr>
          <p:nvPr>
            <p:ph idx="1"/>
          </p:nvPr>
        </p:nvSpPr>
        <p:spPr/>
        <p:txBody>
          <a:bodyPr/>
          <a:lstStyle/>
          <a:p>
            <a:r>
              <a:rPr lang="en-IN" dirty="0" smtClean="0"/>
              <a:t>Assessing the individual needs.</a:t>
            </a:r>
          </a:p>
          <a:p>
            <a:r>
              <a:rPr lang="en-IN" dirty="0" smtClean="0"/>
              <a:t>Assess the schools needs.</a:t>
            </a:r>
          </a:p>
          <a:p>
            <a:r>
              <a:rPr lang="en-IN" dirty="0" smtClean="0"/>
              <a:t>Delivering assessments with care.</a:t>
            </a:r>
          </a:p>
          <a:p>
            <a:r>
              <a:rPr lang="en-IN" dirty="0" smtClean="0"/>
              <a:t>Maximising learning choice.</a:t>
            </a:r>
          </a:p>
          <a:p>
            <a:r>
              <a:rPr lang="en-IN" dirty="0" smtClean="0"/>
              <a:t>Encouraging participation.</a:t>
            </a:r>
          </a:p>
          <a:p>
            <a:r>
              <a:rPr lang="en-IN" dirty="0" smtClean="0"/>
              <a:t>Linking goals and personal values.</a:t>
            </a:r>
          </a:p>
          <a:p>
            <a:r>
              <a:rPr lang="en-IN" dirty="0" smtClean="0"/>
              <a:t>Adjusting individual expectations.</a:t>
            </a:r>
          </a:p>
          <a:p>
            <a:r>
              <a:rPr lang="en-IN" dirty="0" smtClean="0"/>
              <a:t>Assessing readiness and motivation for EQ development.</a:t>
            </a:r>
          </a:p>
          <a:p>
            <a:endParaRPr lang="en-IN" dirty="0"/>
          </a:p>
        </p:txBody>
      </p:sp>
    </p:spTree>
    <p:extLst>
      <p:ext uri="{BB962C8B-B14F-4D97-AF65-F5344CB8AC3E}">
        <p14:creationId xmlns:p14="http://schemas.microsoft.com/office/powerpoint/2010/main" val="25722156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60648"/>
            <a:ext cx="8229600" cy="6293336"/>
          </a:xfrm>
        </p:spPr>
        <p:txBody>
          <a:bodyPr>
            <a:normAutofit fontScale="92500" lnSpcReduction="10000"/>
          </a:bodyPr>
          <a:lstStyle/>
          <a:p>
            <a:r>
              <a:rPr lang="en-IN" dirty="0" smtClean="0"/>
              <a:t>Foster relationships between EQ trainers, teachers and learners.</a:t>
            </a:r>
          </a:p>
          <a:p>
            <a:r>
              <a:rPr lang="en-IN" dirty="0" smtClean="0"/>
              <a:t>Self-directed change and learning.</a:t>
            </a:r>
          </a:p>
          <a:p>
            <a:r>
              <a:rPr lang="en-IN" dirty="0" smtClean="0"/>
              <a:t>Setting goals.</a:t>
            </a:r>
          </a:p>
          <a:p>
            <a:r>
              <a:rPr lang="en-IN" dirty="0" smtClean="0"/>
              <a:t>Breaking goals down into achievable steps.</a:t>
            </a:r>
          </a:p>
          <a:p>
            <a:r>
              <a:rPr lang="en-IN" dirty="0" smtClean="0"/>
              <a:t>Providing opportunities for practice.</a:t>
            </a:r>
          </a:p>
          <a:p>
            <a:r>
              <a:rPr lang="en-IN" dirty="0" smtClean="0"/>
              <a:t>Give feedback</a:t>
            </a:r>
          </a:p>
          <a:p>
            <a:r>
              <a:rPr lang="en-IN" dirty="0" smtClean="0"/>
              <a:t>Using experimental methods.</a:t>
            </a:r>
          </a:p>
          <a:p>
            <a:r>
              <a:rPr lang="en-IN" dirty="0" smtClean="0"/>
              <a:t>Develop organizational culture that supports learning.</a:t>
            </a:r>
          </a:p>
          <a:p>
            <a:r>
              <a:rPr lang="en-IN" dirty="0" smtClean="0"/>
              <a:t>Use models and examples.</a:t>
            </a:r>
          </a:p>
          <a:p>
            <a:r>
              <a:rPr lang="en-IN" dirty="0" smtClean="0"/>
              <a:t>Encourage insight and self-awareness.</a:t>
            </a:r>
          </a:p>
          <a:p>
            <a:r>
              <a:rPr lang="en-IN" dirty="0" smtClean="0"/>
              <a:t>Encourage application of new learning in our work.</a:t>
            </a:r>
          </a:p>
          <a:p>
            <a:endParaRPr lang="en-IN" dirty="0"/>
          </a:p>
        </p:txBody>
      </p:sp>
    </p:spTree>
    <p:extLst>
      <p:ext uri="{BB962C8B-B14F-4D97-AF65-F5344CB8AC3E}">
        <p14:creationId xmlns:p14="http://schemas.microsoft.com/office/powerpoint/2010/main" val="24443328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116632"/>
            <a:ext cx="8859301" cy="6597352"/>
          </a:xfrm>
          <a:prstGeom prst="rect">
            <a:avLst/>
          </a:prstGeom>
          <a:ln>
            <a:noFill/>
          </a:ln>
          <a:effectLst>
            <a:softEdge rad="112500"/>
          </a:effectLst>
        </p:spPr>
      </p:pic>
    </p:spTree>
    <p:extLst>
      <p:ext uri="{BB962C8B-B14F-4D97-AF65-F5344CB8AC3E}">
        <p14:creationId xmlns:p14="http://schemas.microsoft.com/office/powerpoint/2010/main" val="75997527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188</TotalTime>
  <Words>799</Words>
  <Application>Microsoft Office PowerPoint</Application>
  <PresentationFormat>On-screen Show (4:3)</PresentationFormat>
  <Paragraphs>81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Apex</vt:lpstr>
      <vt:lpstr>PowerPoint Presentation</vt:lpstr>
      <vt:lpstr>EMOTIONAL INTELLIGENCE(EI)</vt:lpstr>
      <vt:lpstr>EI - Meaning</vt:lpstr>
      <vt:lpstr>EI – The five domains</vt:lpstr>
      <vt:lpstr>PowerPoint Presentation</vt:lpstr>
      <vt:lpstr>SELF AWARENESS</vt:lpstr>
      <vt:lpstr>SELF REGULATION</vt:lpstr>
      <vt:lpstr>SELF MOTIVATION</vt:lpstr>
      <vt:lpstr>EMPATHY</vt:lpstr>
      <vt:lpstr>SOCIAL SKILLS</vt:lpstr>
      <vt:lpstr>EMOTIONAL QUOTIENT(EQ)</vt:lpstr>
      <vt:lpstr>COMPONENT OF EQ</vt:lpstr>
      <vt:lpstr>Guidelines for promoting EI in the school paving the way.</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EMOTIONAL INTELLIGENCE</dc:title>
  <dc:creator>User</dc:creator>
  <cp:lastModifiedBy>User</cp:lastModifiedBy>
  <cp:revision>19</cp:revision>
  <dcterms:created xsi:type="dcterms:W3CDTF">2017-10-12T04:25:29Z</dcterms:created>
  <dcterms:modified xsi:type="dcterms:W3CDTF">2017-10-12T11:51:05Z</dcterms:modified>
</cp:coreProperties>
</file>