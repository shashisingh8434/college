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4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9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96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7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7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56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8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5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9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2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73EE4-6CDD-475D-9D13-06758519BD4A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51F2E-9CB1-4AFC-A58C-E5A0005B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4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pple.com/pr/library/2013/05/16Apples-App-Store-Marks-Historic-50-Billionth-Download.html" TargetMode="External"/><Relationship Id="rId2" Type="http://schemas.openxmlformats.org/officeDocument/2006/relationships/hyperlink" Target="http://www.cnn.com/2013/02/06/tech/mobile/25-billion-itunes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://9to5mac.com/2015/01/27/apple-announces-1-billion-ios-devices-sold/" TargetMode="External"/><Relationship Id="rId4" Type="http://schemas.openxmlformats.org/officeDocument/2006/relationships/hyperlink" Target="http://www.forbes.com/sites/markrogowsky/2014/03/25/without-much-fanfare-apple-has-sold-its-500-millionth-iphone/#50f4f8db5a52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8439" y="732619"/>
            <a:ext cx="6825522" cy="1201112"/>
          </a:xfrm>
        </p:spPr>
        <p:txBody>
          <a:bodyPr/>
          <a:lstStyle/>
          <a:p>
            <a:r>
              <a:rPr lang="en-US" dirty="0" smtClean="0"/>
              <a:t>My Dream Company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18086" y="3796909"/>
            <a:ext cx="3992380" cy="1389687"/>
          </a:xfrm>
        </p:spPr>
        <p:txBody>
          <a:bodyPr>
            <a:normAutofit/>
          </a:bodyPr>
          <a:lstStyle/>
          <a:p>
            <a:r>
              <a:rPr lang="en-US" sz="6000" dirty="0" smtClean="0"/>
              <a:t>Apple</a:t>
            </a:r>
            <a:endParaRPr lang="en-US" sz="6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188" y="2653259"/>
            <a:ext cx="2238555" cy="276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47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5223"/>
            <a:ext cx="2294744" cy="1568606"/>
          </a:xfrm>
        </p:spPr>
        <p:txBody>
          <a:bodyPr/>
          <a:lstStyle/>
          <a:p>
            <a:r>
              <a:rPr lang="en-US" b="1" dirty="0" smtClean="0"/>
              <a:t>Vision 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Making Great products</a:t>
            </a:r>
          </a:p>
          <a:p>
            <a:r>
              <a:rPr lang="en-US" sz="2400" dirty="0" smtClean="0"/>
              <a:t>Focusing on innovating</a:t>
            </a:r>
          </a:p>
          <a:p>
            <a:r>
              <a:rPr lang="en-US" sz="2400" dirty="0" smtClean="0"/>
              <a:t>Believing in deep collaboration and cross pollination</a:t>
            </a:r>
          </a:p>
          <a:p>
            <a:r>
              <a:rPr lang="en-US" sz="2400" dirty="0"/>
              <a:t>B</a:t>
            </a:r>
            <a:r>
              <a:rPr lang="en-US" sz="2400" dirty="0" smtClean="0"/>
              <a:t>elieving </a:t>
            </a:r>
            <a:r>
              <a:rPr lang="en-US" sz="2400" dirty="0"/>
              <a:t>in the simple not the </a:t>
            </a:r>
            <a:r>
              <a:rPr lang="en-US" sz="2400" dirty="0" smtClean="0"/>
              <a:t>complex</a:t>
            </a:r>
          </a:p>
          <a:p>
            <a:r>
              <a:rPr lang="en-US" sz="2400" dirty="0" smtClean="0"/>
              <a:t>Admitting wrong </a:t>
            </a:r>
            <a:r>
              <a:rPr lang="en-US" sz="2400" dirty="0"/>
              <a:t>and the courage to change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Making </a:t>
            </a:r>
            <a:r>
              <a:rPr lang="en-US" sz="2400" dirty="0"/>
              <a:t>a significant contribution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4326" y="215223"/>
            <a:ext cx="819474" cy="101326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0" y="122848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98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519597" cy="1583596"/>
          </a:xfrm>
        </p:spPr>
        <p:txBody>
          <a:bodyPr/>
          <a:lstStyle/>
          <a:p>
            <a:r>
              <a:rPr lang="en-US" b="1" dirty="0" smtClean="0"/>
              <a:t>Mission 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Designs Macs,</a:t>
            </a:r>
            <a:r>
              <a:rPr lang="en-US" sz="2400" dirty="0"/>
              <a:t> OS X, </a:t>
            </a:r>
            <a:r>
              <a:rPr lang="en-US" sz="2400" dirty="0" err="1"/>
              <a:t>iLife</a:t>
            </a:r>
            <a:r>
              <a:rPr lang="en-US" sz="2400" dirty="0"/>
              <a:t>, iWork and professional </a:t>
            </a:r>
            <a:r>
              <a:rPr lang="en-US" sz="2400" dirty="0" smtClean="0"/>
              <a:t>software</a:t>
            </a:r>
          </a:p>
          <a:p>
            <a:r>
              <a:rPr lang="en-US" sz="2400" dirty="0" smtClean="0"/>
              <a:t>Bringing music revolution</a:t>
            </a:r>
          </a:p>
          <a:p>
            <a:r>
              <a:rPr lang="en-US" sz="2400" dirty="0" smtClean="0"/>
              <a:t>Reinventing </a:t>
            </a:r>
            <a:r>
              <a:rPr lang="en-US" sz="2400" dirty="0"/>
              <a:t>the mobile phone </a:t>
            </a:r>
            <a:endParaRPr lang="en-US" sz="2400" dirty="0" smtClean="0"/>
          </a:p>
          <a:p>
            <a:r>
              <a:rPr lang="en-US" sz="2400" dirty="0" smtClean="0"/>
              <a:t>Defining </a:t>
            </a:r>
            <a:r>
              <a:rPr lang="en-US" sz="2400" dirty="0"/>
              <a:t>the future </a:t>
            </a:r>
            <a:endParaRPr lang="en-US" sz="2400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972" y="365125"/>
            <a:ext cx="819474" cy="101326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0" y="137838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36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8219"/>
            <a:ext cx="2324725" cy="1460500"/>
          </a:xfrm>
        </p:spPr>
        <p:txBody>
          <a:bodyPr/>
          <a:lstStyle/>
          <a:p>
            <a:r>
              <a:rPr lang="en-US" b="1" dirty="0" smtClean="0"/>
              <a:t>Growth :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689" y="278219"/>
            <a:ext cx="819474" cy="101326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0" y="129147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Trailing 4th quarter revenues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322" y="1499016"/>
            <a:ext cx="10073390" cy="52315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643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134194" cy="1460500"/>
          </a:xfrm>
        </p:spPr>
        <p:txBody>
          <a:bodyPr>
            <a:normAutofit/>
          </a:bodyPr>
          <a:lstStyle/>
          <a:p>
            <a:r>
              <a:rPr lang="en-US" b="1" dirty="0" smtClean="0"/>
              <a:t>Milestones 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2400" u="sng" dirty="0">
                <a:solidFill>
                  <a:srgbClr val="0070C0"/>
                </a:solidFill>
              </a:rPr>
              <a:t>launch of Apple II</a:t>
            </a:r>
            <a:endParaRPr lang="en-US" sz="2400" u="sng" dirty="0" smtClean="0">
              <a:solidFill>
                <a:srgbClr val="0070C0"/>
              </a:solidFill>
              <a:hlinkClick r:id="rId2"/>
            </a:endParaRPr>
          </a:p>
          <a:p>
            <a:pPr>
              <a:buClr>
                <a:schemeClr val="tx1"/>
              </a:buClr>
            </a:pPr>
            <a:r>
              <a:rPr lang="en-US" sz="2400" u="sng" dirty="0" smtClean="0">
                <a:solidFill>
                  <a:srgbClr val="0070C0"/>
                </a:solidFill>
                <a:hlinkClick r:id="rId2"/>
              </a:rPr>
              <a:t>25 </a:t>
            </a:r>
            <a:r>
              <a:rPr lang="en-US" sz="2400" u="sng" dirty="0">
                <a:solidFill>
                  <a:srgbClr val="0070C0"/>
                </a:solidFill>
                <a:hlinkClick r:id="rId2"/>
              </a:rPr>
              <a:t>billionth purchased </a:t>
            </a:r>
            <a:r>
              <a:rPr lang="en-US" sz="2400" u="sng" dirty="0" smtClean="0">
                <a:solidFill>
                  <a:srgbClr val="0070C0"/>
                </a:solidFill>
                <a:hlinkClick r:id="rId2"/>
              </a:rPr>
              <a:t>song</a:t>
            </a:r>
            <a:endParaRPr lang="en-US" sz="2400" u="sng" dirty="0" smtClean="0">
              <a:solidFill>
                <a:srgbClr val="0070C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u="sng" dirty="0">
                <a:solidFill>
                  <a:srgbClr val="0070C0"/>
                </a:solidFill>
                <a:hlinkClick r:id="rId3"/>
              </a:rPr>
              <a:t>50 billionth downloaded </a:t>
            </a:r>
            <a:r>
              <a:rPr lang="en-US" sz="2400" u="sng" dirty="0" smtClean="0">
                <a:solidFill>
                  <a:srgbClr val="0070C0"/>
                </a:solidFill>
                <a:hlinkClick r:id="rId3"/>
              </a:rPr>
              <a:t>application</a:t>
            </a:r>
            <a:endParaRPr lang="en-US" sz="2400" u="sng" dirty="0" smtClean="0">
              <a:solidFill>
                <a:srgbClr val="0070C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u="sng" dirty="0">
                <a:solidFill>
                  <a:srgbClr val="0070C0"/>
                </a:solidFill>
              </a:rPr>
              <a:t> </a:t>
            </a:r>
            <a:r>
              <a:rPr lang="en-US" sz="2400" u="sng" dirty="0">
                <a:solidFill>
                  <a:srgbClr val="0070C0"/>
                </a:solidFill>
                <a:hlinkClick r:id="rId4"/>
              </a:rPr>
              <a:t>500 millionth </a:t>
            </a:r>
            <a:r>
              <a:rPr lang="en-US" sz="2400" u="sng" dirty="0" smtClean="0">
                <a:solidFill>
                  <a:srgbClr val="0070C0"/>
                </a:solidFill>
                <a:hlinkClick r:id="rId4"/>
              </a:rPr>
              <a:t>iPhone</a:t>
            </a:r>
            <a:endParaRPr lang="en-US" sz="2400" u="sng" dirty="0" smtClean="0">
              <a:solidFill>
                <a:srgbClr val="0070C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u="sng" dirty="0">
                <a:solidFill>
                  <a:srgbClr val="0070C0"/>
                </a:solidFill>
                <a:hlinkClick r:id="rId5"/>
              </a:rPr>
              <a:t>one-billionth </a:t>
            </a:r>
            <a:r>
              <a:rPr lang="en-US" sz="2400" u="sng" dirty="0" err="1">
                <a:solidFill>
                  <a:srgbClr val="0070C0"/>
                </a:solidFill>
                <a:hlinkClick r:id="rId5"/>
              </a:rPr>
              <a:t>iOS</a:t>
            </a:r>
            <a:r>
              <a:rPr lang="en-US" sz="2400" u="sng" dirty="0">
                <a:solidFill>
                  <a:srgbClr val="0070C0"/>
                </a:solidFill>
                <a:hlinkClick r:id="rId5"/>
              </a:rPr>
              <a:t> </a:t>
            </a:r>
            <a:r>
              <a:rPr lang="en-US" sz="2400" u="sng" dirty="0" smtClean="0">
                <a:solidFill>
                  <a:srgbClr val="0070C0"/>
                </a:solidFill>
                <a:hlinkClick r:id="rId5"/>
              </a:rPr>
              <a:t>device</a:t>
            </a:r>
            <a:endParaRPr lang="en-US" sz="2400" u="sng" dirty="0" smtClean="0">
              <a:solidFill>
                <a:srgbClr val="0070C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u="sng" dirty="0">
                <a:solidFill>
                  <a:srgbClr val="0070C0"/>
                </a:solidFill>
              </a:rPr>
              <a:t>privacy </a:t>
            </a:r>
            <a:r>
              <a:rPr lang="en-US" sz="2400" u="sng" dirty="0" smtClean="0">
                <a:solidFill>
                  <a:srgbClr val="0070C0"/>
                </a:solidFill>
              </a:rPr>
              <a:t>grounds: </a:t>
            </a:r>
            <a:r>
              <a:rPr lang="en-US" sz="2400" u="sng" dirty="0">
                <a:solidFill>
                  <a:srgbClr val="0070C0"/>
                </a:solidFill>
              </a:rPr>
              <a:t>Apple vs. FBI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689" y="278219"/>
            <a:ext cx="819474" cy="101326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0" y="129147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64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868711" cy="1253813"/>
          </a:xfrm>
        </p:spPr>
        <p:txBody>
          <a:bodyPr/>
          <a:lstStyle/>
          <a:p>
            <a:r>
              <a:rPr lang="en-US" b="1" dirty="0" smtClean="0"/>
              <a:t>Achievements 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Brand of the Year</a:t>
            </a:r>
          </a:p>
          <a:p>
            <a:r>
              <a:rPr lang="en-US" sz="2400" dirty="0"/>
              <a:t>Tech Emmy </a:t>
            </a:r>
            <a:r>
              <a:rPr lang="en-US" sz="2400" dirty="0" smtClean="0"/>
              <a:t>Award</a:t>
            </a:r>
          </a:p>
          <a:p>
            <a:r>
              <a:rPr lang="en-US" sz="2400" dirty="0"/>
              <a:t>Apple Design </a:t>
            </a:r>
            <a:r>
              <a:rPr lang="en-US" sz="2400" dirty="0" smtClean="0"/>
              <a:t>Awards/</a:t>
            </a:r>
            <a:r>
              <a:rPr lang="en-US" sz="2400" dirty="0"/>
              <a:t>Human Interface Design Excellence (HIDE) </a:t>
            </a:r>
            <a:r>
              <a:rPr lang="en-US" sz="2400" dirty="0" smtClean="0"/>
              <a:t>Awards</a:t>
            </a:r>
          </a:p>
          <a:p>
            <a:pPr lvl="0"/>
            <a:r>
              <a:rPr lang="en-US" sz="2400" dirty="0" smtClean="0"/>
              <a:t>Fastest-selling </a:t>
            </a:r>
            <a:r>
              <a:rPr lang="en-US" sz="2400" dirty="0"/>
              <a:t>PC in </a:t>
            </a:r>
            <a:r>
              <a:rPr lang="en-US" sz="2400" dirty="0" smtClean="0"/>
              <a:t>history</a:t>
            </a:r>
          </a:p>
          <a:p>
            <a:pPr lvl="0"/>
            <a:r>
              <a:rPr lang="en-US" sz="2400" dirty="0" smtClean="0"/>
              <a:t>Leading company in the field of technology</a:t>
            </a:r>
          </a:p>
          <a:p>
            <a:pPr lvl="0"/>
            <a:r>
              <a:rPr lang="en-US" sz="2400" dirty="0" smtClean="0"/>
              <a:t>National medal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689" y="278219"/>
            <a:ext cx="819474" cy="101326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0" y="129147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75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3560"/>
            <a:ext cx="4603230" cy="1460500"/>
          </a:xfrm>
        </p:spPr>
        <p:txBody>
          <a:bodyPr/>
          <a:lstStyle/>
          <a:p>
            <a:r>
              <a:rPr lang="en-US" b="1" dirty="0" smtClean="0"/>
              <a:t>Corporate culture: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Ruthless</a:t>
            </a:r>
          </a:p>
          <a:p>
            <a:r>
              <a:rPr lang="en-US" sz="2400" dirty="0" smtClean="0"/>
              <a:t>Self-motivated individuals</a:t>
            </a:r>
          </a:p>
          <a:p>
            <a:r>
              <a:rPr lang="en-US" sz="2400" dirty="0" smtClean="0"/>
              <a:t>Decision making in the hand of the people</a:t>
            </a:r>
          </a:p>
          <a:p>
            <a:r>
              <a:rPr lang="en-US" sz="2400" dirty="0" smtClean="0"/>
              <a:t>Confusing but delightful</a:t>
            </a:r>
          </a:p>
          <a:p>
            <a:r>
              <a:rPr lang="en-US" sz="2400" dirty="0" smtClean="0"/>
              <a:t>Brutal and unforgiving</a:t>
            </a:r>
          </a:p>
          <a:p>
            <a:r>
              <a:rPr lang="en-US" sz="2400" dirty="0" smtClean="0"/>
              <a:t>Directly responsible individual</a:t>
            </a:r>
          </a:p>
          <a:p>
            <a:r>
              <a:rPr lang="en-US" sz="2400" dirty="0" smtClean="0"/>
              <a:t>Simplicity breeds clarity</a:t>
            </a:r>
          </a:p>
          <a:p>
            <a:r>
              <a:rPr lang="en-US" sz="2400" dirty="0" smtClean="0"/>
              <a:t>Specialization is the norm at Apple</a:t>
            </a:r>
          </a:p>
          <a:p>
            <a:r>
              <a:rPr lang="en-US" sz="2400" dirty="0" smtClean="0"/>
              <a:t>Self Esteem and Self Efficiency </a:t>
            </a:r>
          </a:p>
          <a:p>
            <a:r>
              <a:rPr lang="en-US" sz="2400" dirty="0" smtClean="0"/>
              <a:t>DDADTTTI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689" y="278219"/>
            <a:ext cx="819474" cy="101326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0" y="129147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78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147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My Dream Company</vt:lpstr>
      <vt:lpstr>Vision :</vt:lpstr>
      <vt:lpstr>Mission :</vt:lpstr>
      <vt:lpstr>Growth :</vt:lpstr>
      <vt:lpstr>Milestones :</vt:lpstr>
      <vt:lpstr>Achievements :</vt:lpstr>
      <vt:lpstr>Corporate culture: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Dream Company</dc:title>
  <dc:creator>Shoikot</dc:creator>
  <cp:lastModifiedBy>Shoikot</cp:lastModifiedBy>
  <cp:revision>21</cp:revision>
  <dcterms:created xsi:type="dcterms:W3CDTF">2017-11-05T12:10:11Z</dcterms:created>
  <dcterms:modified xsi:type="dcterms:W3CDTF">2017-11-05T15:11:54Z</dcterms:modified>
</cp:coreProperties>
</file>