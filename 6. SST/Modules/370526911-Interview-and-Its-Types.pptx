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5" r:id="rId1"/>
  </p:sldMasterIdLst>
  <p:notesMasterIdLst>
    <p:notesMasterId r:id="rId41"/>
  </p:notesMasterIdLst>
  <p:sldIdLst>
    <p:sldId id="284" r:id="rId2"/>
    <p:sldId id="257" r:id="rId3"/>
    <p:sldId id="286" r:id="rId4"/>
    <p:sldId id="262" r:id="rId5"/>
    <p:sldId id="293" r:id="rId6"/>
    <p:sldId id="285" r:id="rId7"/>
    <p:sldId id="288" r:id="rId8"/>
    <p:sldId id="287" r:id="rId9"/>
    <p:sldId id="289" r:id="rId10"/>
    <p:sldId id="290" r:id="rId11"/>
    <p:sldId id="291" r:id="rId12"/>
    <p:sldId id="294" r:id="rId13"/>
    <p:sldId id="292" r:id="rId14"/>
    <p:sldId id="295" r:id="rId15"/>
    <p:sldId id="300" r:id="rId16"/>
    <p:sldId id="299" r:id="rId17"/>
    <p:sldId id="297" r:id="rId18"/>
    <p:sldId id="298" r:id="rId19"/>
    <p:sldId id="301" r:id="rId20"/>
    <p:sldId id="302" r:id="rId21"/>
    <p:sldId id="303" r:id="rId22"/>
    <p:sldId id="305" r:id="rId23"/>
    <p:sldId id="306" r:id="rId24"/>
    <p:sldId id="307" r:id="rId25"/>
    <p:sldId id="308" r:id="rId26"/>
    <p:sldId id="309" r:id="rId27"/>
    <p:sldId id="310" r:id="rId28"/>
    <p:sldId id="311" r:id="rId29"/>
    <p:sldId id="313" r:id="rId30"/>
    <p:sldId id="314" r:id="rId31"/>
    <p:sldId id="315" r:id="rId32"/>
    <p:sldId id="316" r:id="rId33"/>
    <p:sldId id="317" r:id="rId34"/>
    <p:sldId id="318" r:id="rId35"/>
    <p:sldId id="319" r:id="rId36"/>
    <p:sldId id="321" r:id="rId37"/>
    <p:sldId id="312" r:id="rId38"/>
    <p:sldId id="320" r:id="rId39"/>
    <p:sldId id="282" r:id="rId40"/>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ＭＳ Ｐゴシック" charset="0"/>
        <a:cs typeface="Arial" charset="0"/>
      </a:defRPr>
    </a:lvl1pPr>
    <a:lvl2pPr marL="457200" algn="l" rtl="0" fontAlgn="base">
      <a:spcBef>
        <a:spcPct val="0"/>
      </a:spcBef>
      <a:spcAft>
        <a:spcPct val="0"/>
      </a:spcAft>
      <a:defRPr kern="1200">
        <a:solidFill>
          <a:schemeClr val="tx1"/>
        </a:solidFill>
        <a:latin typeface="Arial" charset="0"/>
        <a:ea typeface="ＭＳ Ｐゴシック" charset="0"/>
        <a:cs typeface="Arial" charset="0"/>
      </a:defRPr>
    </a:lvl2pPr>
    <a:lvl3pPr marL="914400" algn="l" rtl="0" fontAlgn="base">
      <a:spcBef>
        <a:spcPct val="0"/>
      </a:spcBef>
      <a:spcAft>
        <a:spcPct val="0"/>
      </a:spcAft>
      <a:defRPr kern="1200">
        <a:solidFill>
          <a:schemeClr val="tx1"/>
        </a:solidFill>
        <a:latin typeface="Arial" charset="0"/>
        <a:ea typeface="ＭＳ Ｐゴシック" charset="0"/>
        <a:cs typeface="Arial" charset="0"/>
      </a:defRPr>
    </a:lvl3pPr>
    <a:lvl4pPr marL="1371600" algn="l" rtl="0" fontAlgn="base">
      <a:spcBef>
        <a:spcPct val="0"/>
      </a:spcBef>
      <a:spcAft>
        <a:spcPct val="0"/>
      </a:spcAft>
      <a:defRPr kern="1200">
        <a:solidFill>
          <a:schemeClr val="tx1"/>
        </a:solidFill>
        <a:latin typeface="Arial" charset="0"/>
        <a:ea typeface="ＭＳ Ｐゴシック" charset="0"/>
        <a:cs typeface="Arial" charset="0"/>
      </a:defRPr>
    </a:lvl4pPr>
    <a:lvl5pPr marL="1828800" algn="l"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2FAE5D-3927-C546-B89B-5A68C8E471C6}" type="doc">
      <dgm:prSet loTypeId="urn:microsoft.com/office/officeart/2008/layout/SquareAccentList" loCatId="" qsTypeId="urn:microsoft.com/office/officeart/2005/8/quickstyle/simple4" qsCatId="simple" csTypeId="urn:microsoft.com/office/officeart/2005/8/colors/accent1_2" csCatId="accent1" phldr="1"/>
      <dgm:spPr/>
      <dgm:t>
        <a:bodyPr/>
        <a:lstStyle/>
        <a:p>
          <a:endParaRPr lang="en-US"/>
        </a:p>
      </dgm:t>
    </dgm:pt>
    <dgm:pt modelId="{F90507E4-B4A9-D746-A62E-78C3D53DA0CC}">
      <dgm:prSet phldrT="[Text]" custT="1"/>
      <dgm:spPr/>
      <dgm:t>
        <a:bodyPr/>
        <a:lstStyle/>
        <a:p>
          <a:r>
            <a:rPr lang="en-US" sz="2800" dirty="0" smtClean="0"/>
            <a:t>ADVANTAGES</a:t>
          </a:r>
          <a:endParaRPr lang="en-US" sz="2800" dirty="0"/>
        </a:p>
      </dgm:t>
    </dgm:pt>
    <dgm:pt modelId="{98B06E29-CBFD-AE46-93F0-FC3CADC49AD1}" type="parTrans" cxnId="{6C09C8C1-99A2-C442-829E-BF4A5D7FAD85}">
      <dgm:prSet/>
      <dgm:spPr/>
      <dgm:t>
        <a:bodyPr/>
        <a:lstStyle/>
        <a:p>
          <a:endParaRPr lang="en-US"/>
        </a:p>
      </dgm:t>
    </dgm:pt>
    <dgm:pt modelId="{F4009F99-E409-8840-9219-9E9258F3B6CF}" type="sibTrans" cxnId="{6C09C8C1-99A2-C442-829E-BF4A5D7FAD85}">
      <dgm:prSet/>
      <dgm:spPr/>
      <dgm:t>
        <a:bodyPr/>
        <a:lstStyle/>
        <a:p>
          <a:endParaRPr lang="en-US"/>
        </a:p>
      </dgm:t>
    </dgm:pt>
    <dgm:pt modelId="{C27789D3-67D5-E54C-BCB0-A851A0274CFF}">
      <dgm:prSet phldrT="[Text]" custT="1"/>
      <dgm:spPr/>
      <dgm:t>
        <a:bodyPr/>
        <a:lstStyle/>
        <a:p>
          <a:r>
            <a:rPr lang="en-US" sz="2000" dirty="0" smtClean="0">
              <a:latin typeface="Constantia"/>
              <a:cs typeface="Constantia"/>
            </a:rPr>
            <a:t>Deep and free response</a:t>
          </a:r>
        </a:p>
      </dgm:t>
    </dgm:pt>
    <dgm:pt modelId="{20097BCE-D15C-EC4F-93DE-88CC94255A38}" type="parTrans" cxnId="{781F6FDD-B6D8-0448-978E-F43D752C4782}">
      <dgm:prSet/>
      <dgm:spPr/>
      <dgm:t>
        <a:bodyPr/>
        <a:lstStyle/>
        <a:p>
          <a:endParaRPr lang="en-US"/>
        </a:p>
      </dgm:t>
    </dgm:pt>
    <dgm:pt modelId="{2F97FA50-D488-CC4A-97A3-45B5BC5DC9AE}" type="sibTrans" cxnId="{781F6FDD-B6D8-0448-978E-F43D752C4782}">
      <dgm:prSet/>
      <dgm:spPr/>
      <dgm:t>
        <a:bodyPr/>
        <a:lstStyle/>
        <a:p>
          <a:endParaRPr lang="en-US"/>
        </a:p>
      </dgm:t>
    </dgm:pt>
    <dgm:pt modelId="{60F58BAD-7654-D941-9912-AD47EA1C916F}">
      <dgm:prSet phldrT="[Text]" custT="1"/>
      <dgm:spPr/>
      <dgm:t>
        <a:bodyPr/>
        <a:lstStyle/>
        <a:p>
          <a:r>
            <a:rPr lang="en-US" sz="2000" dirty="0" smtClean="0">
              <a:latin typeface="Constantia"/>
              <a:cs typeface="Constantia"/>
            </a:rPr>
            <a:t>Flexible, adaptable</a:t>
          </a:r>
          <a:endParaRPr lang="en-US" sz="2000" dirty="0">
            <a:latin typeface="Constantia"/>
            <a:cs typeface="Constantia"/>
          </a:endParaRPr>
        </a:p>
      </dgm:t>
    </dgm:pt>
    <dgm:pt modelId="{354C51BD-2E74-084B-9AA5-2616E5EE9321}" type="parTrans" cxnId="{19FBB826-3305-3C42-B5F9-FCB8DBC3F6DB}">
      <dgm:prSet/>
      <dgm:spPr/>
      <dgm:t>
        <a:bodyPr/>
        <a:lstStyle/>
        <a:p>
          <a:endParaRPr lang="en-US"/>
        </a:p>
      </dgm:t>
    </dgm:pt>
    <dgm:pt modelId="{55D6EBC1-CCAC-8741-9B86-2A6B3778A720}" type="sibTrans" cxnId="{19FBB826-3305-3C42-B5F9-FCB8DBC3F6DB}">
      <dgm:prSet/>
      <dgm:spPr/>
      <dgm:t>
        <a:bodyPr/>
        <a:lstStyle/>
        <a:p>
          <a:endParaRPr lang="en-US"/>
        </a:p>
      </dgm:t>
    </dgm:pt>
    <dgm:pt modelId="{6924FCCE-32C5-A349-BE51-7E913A85DF03}">
      <dgm:prSet phldrT="[Text]" custT="1"/>
      <dgm:spPr/>
      <dgm:t>
        <a:bodyPr/>
        <a:lstStyle/>
        <a:p>
          <a:r>
            <a:rPr lang="en-US" sz="2000" dirty="0" smtClean="0">
              <a:latin typeface="Constantia"/>
              <a:cs typeface="Constantia"/>
            </a:rPr>
            <a:t>Glimpse into respondent’s tone, gestures</a:t>
          </a:r>
          <a:endParaRPr lang="en-US" sz="2000" dirty="0">
            <a:latin typeface="Constantia"/>
            <a:cs typeface="Constantia"/>
          </a:endParaRPr>
        </a:p>
      </dgm:t>
    </dgm:pt>
    <dgm:pt modelId="{50D74497-AA7E-2042-B4BA-72D1AB3CD76B}" type="parTrans" cxnId="{9CBF5CF0-EFF7-7F44-8005-BFE2D630366C}">
      <dgm:prSet/>
      <dgm:spPr/>
      <dgm:t>
        <a:bodyPr/>
        <a:lstStyle/>
        <a:p>
          <a:endParaRPr lang="en-US"/>
        </a:p>
      </dgm:t>
    </dgm:pt>
    <dgm:pt modelId="{DFB572E4-4EF8-FB4F-80CE-0DD0EA60D635}" type="sibTrans" cxnId="{9CBF5CF0-EFF7-7F44-8005-BFE2D630366C}">
      <dgm:prSet/>
      <dgm:spPr/>
      <dgm:t>
        <a:bodyPr/>
        <a:lstStyle/>
        <a:p>
          <a:endParaRPr lang="en-US"/>
        </a:p>
      </dgm:t>
    </dgm:pt>
    <dgm:pt modelId="{D8E7E736-C9BB-724D-BE99-BDD5C4BBE5E2}">
      <dgm:prSet phldrT="[Text]" custT="1"/>
      <dgm:spPr/>
      <dgm:t>
        <a:bodyPr/>
        <a:lstStyle/>
        <a:p>
          <a:r>
            <a:rPr lang="en-US" sz="2800" dirty="0" smtClean="0"/>
            <a:t>DISADVANTAGES</a:t>
          </a:r>
          <a:endParaRPr lang="en-US" sz="2800" dirty="0"/>
        </a:p>
      </dgm:t>
    </dgm:pt>
    <dgm:pt modelId="{F728CDF7-2448-A144-871E-FFF5446F082F}" type="parTrans" cxnId="{ADF8B93F-6F63-0544-82BE-E14C5F815F73}">
      <dgm:prSet/>
      <dgm:spPr/>
      <dgm:t>
        <a:bodyPr/>
        <a:lstStyle/>
        <a:p>
          <a:endParaRPr lang="en-US"/>
        </a:p>
      </dgm:t>
    </dgm:pt>
    <dgm:pt modelId="{75AEC746-506E-1647-BF87-5E78C76BE069}" type="sibTrans" cxnId="{ADF8B93F-6F63-0544-82BE-E14C5F815F73}">
      <dgm:prSet/>
      <dgm:spPr/>
      <dgm:t>
        <a:bodyPr/>
        <a:lstStyle/>
        <a:p>
          <a:endParaRPr lang="en-US"/>
        </a:p>
      </dgm:t>
    </dgm:pt>
    <dgm:pt modelId="{26BD299A-AF66-E948-867D-4C3FCB64E793}">
      <dgm:prSet phldrT="[Text]" custT="1"/>
      <dgm:spPr/>
      <dgm:t>
        <a:bodyPr/>
        <a:lstStyle/>
        <a:p>
          <a:r>
            <a:rPr lang="en-US" sz="2000" dirty="0" smtClean="0">
              <a:latin typeface="Constantia"/>
              <a:cs typeface="Constantia"/>
            </a:rPr>
            <a:t>costly in time </a:t>
          </a:r>
          <a:br>
            <a:rPr lang="en-US" sz="2000" dirty="0" smtClean="0">
              <a:latin typeface="Constantia"/>
              <a:cs typeface="Constantia"/>
            </a:rPr>
          </a:br>
          <a:r>
            <a:rPr lang="en-US" sz="2000" dirty="0" smtClean="0">
              <a:latin typeface="Constantia"/>
              <a:cs typeface="Constantia"/>
            </a:rPr>
            <a:t>and personnel</a:t>
          </a:r>
          <a:endParaRPr lang="en-US" sz="2000" dirty="0">
            <a:latin typeface="Constantia"/>
            <a:cs typeface="Constantia"/>
          </a:endParaRPr>
        </a:p>
      </dgm:t>
    </dgm:pt>
    <dgm:pt modelId="{B00C8613-B681-5B40-AE83-13FB1E1C09AA}" type="parTrans" cxnId="{52541C11-DCEC-424D-8406-A58FEE9D4F75}">
      <dgm:prSet/>
      <dgm:spPr/>
      <dgm:t>
        <a:bodyPr/>
        <a:lstStyle/>
        <a:p>
          <a:endParaRPr lang="en-US"/>
        </a:p>
      </dgm:t>
    </dgm:pt>
    <dgm:pt modelId="{60B3FBD8-9A19-C348-894D-D1B5251CFBFD}" type="sibTrans" cxnId="{52541C11-DCEC-424D-8406-A58FEE9D4F75}">
      <dgm:prSet/>
      <dgm:spPr/>
      <dgm:t>
        <a:bodyPr/>
        <a:lstStyle/>
        <a:p>
          <a:endParaRPr lang="en-US"/>
        </a:p>
      </dgm:t>
    </dgm:pt>
    <dgm:pt modelId="{375A6D08-CBF2-5A4E-AF77-8D096FF1583D}">
      <dgm:prSet phldrT="[Text]" custT="1"/>
      <dgm:spPr/>
      <dgm:t>
        <a:bodyPr/>
        <a:lstStyle/>
        <a:p>
          <a:r>
            <a:rPr lang="en-US" sz="2000" dirty="0" smtClean="0">
              <a:latin typeface="Constantia"/>
              <a:cs typeface="Constantia"/>
            </a:rPr>
            <a:t>impractical with large numbers of respondents</a:t>
          </a:r>
          <a:endParaRPr lang="en-US" sz="2000" dirty="0">
            <a:latin typeface="Constantia"/>
            <a:cs typeface="Constantia"/>
          </a:endParaRPr>
        </a:p>
      </dgm:t>
    </dgm:pt>
    <dgm:pt modelId="{5017ACF7-F267-924F-B5C8-855D373BE8C9}" type="parTrans" cxnId="{8C14F927-34BD-1141-A730-6D076A55EBF2}">
      <dgm:prSet/>
      <dgm:spPr/>
      <dgm:t>
        <a:bodyPr/>
        <a:lstStyle/>
        <a:p>
          <a:endParaRPr lang="en-US"/>
        </a:p>
      </dgm:t>
    </dgm:pt>
    <dgm:pt modelId="{5D31CD4A-0044-794F-A3C3-87B991CD627D}" type="sibTrans" cxnId="{8C14F927-34BD-1141-A730-6D076A55EBF2}">
      <dgm:prSet/>
      <dgm:spPr/>
      <dgm:t>
        <a:bodyPr/>
        <a:lstStyle/>
        <a:p>
          <a:endParaRPr lang="en-US"/>
        </a:p>
      </dgm:t>
    </dgm:pt>
    <dgm:pt modelId="{98246CDA-9934-1F4C-BF0A-1185E3293361}">
      <dgm:prSet phldrT="[Text]" custT="1"/>
      <dgm:spPr/>
      <dgm:t>
        <a:bodyPr/>
        <a:lstStyle/>
        <a:p>
          <a:r>
            <a:rPr lang="en-US" sz="2000" dirty="0" smtClean="0">
              <a:latin typeface="Constantia"/>
              <a:cs typeface="Constantia"/>
            </a:rPr>
            <a:t>requires skill</a:t>
          </a:r>
          <a:endParaRPr lang="en-US" sz="2000" dirty="0">
            <a:latin typeface="Constantia"/>
            <a:cs typeface="Constantia"/>
          </a:endParaRPr>
        </a:p>
      </dgm:t>
    </dgm:pt>
    <dgm:pt modelId="{BCFD3ED7-38E3-F942-AD8B-A845D75413FF}" type="parTrans" cxnId="{68DF9487-E449-4748-925D-467564D20E8C}">
      <dgm:prSet/>
      <dgm:spPr/>
      <dgm:t>
        <a:bodyPr/>
        <a:lstStyle/>
        <a:p>
          <a:endParaRPr lang="en-US"/>
        </a:p>
      </dgm:t>
    </dgm:pt>
    <dgm:pt modelId="{407849E3-9524-954F-A829-12F4E44C8F45}" type="sibTrans" cxnId="{68DF9487-E449-4748-925D-467564D20E8C}">
      <dgm:prSet/>
      <dgm:spPr/>
      <dgm:t>
        <a:bodyPr/>
        <a:lstStyle/>
        <a:p>
          <a:endParaRPr lang="en-US"/>
        </a:p>
      </dgm:t>
    </dgm:pt>
    <dgm:pt modelId="{D8E15D79-09B9-0149-A91A-142B0E862922}">
      <dgm:prSet phldrT="[Text]" custT="1"/>
      <dgm:spPr/>
      <dgm:t>
        <a:bodyPr/>
        <a:lstStyle/>
        <a:p>
          <a:endParaRPr lang="en-US" sz="2000" dirty="0" smtClean="0">
            <a:latin typeface="Constantia"/>
            <a:cs typeface="Constantia"/>
          </a:endParaRPr>
        </a:p>
        <a:p>
          <a:r>
            <a:rPr lang="en-US" sz="2000" dirty="0" smtClean="0">
              <a:latin typeface="Constantia"/>
              <a:cs typeface="Constantia"/>
            </a:rPr>
            <a:t>Ability to probe, follow-up, clarify misunderstandings about questions</a:t>
          </a:r>
          <a:endParaRPr lang="en-US" sz="2000" dirty="0">
            <a:latin typeface="Constantia"/>
            <a:cs typeface="Constantia"/>
          </a:endParaRPr>
        </a:p>
      </dgm:t>
    </dgm:pt>
    <dgm:pt modelId="{F74DE8F2-DC37-9543-8DB2-690D825913C5}" type="parTrans" cxnId="{B2DB095B-E6FC-D942-A028-2300E1970A70}">
      <dgm:prSet/>
      <dgm:spPr/>
      <dgm:t>
        <a:bodyPr/>
        <a:lstStyle/>
        <a:p>
          <a:endParaRPr lang="en-US"/>
        </a:p>
      </dgm:t>
    </dgm:pt>
    <dgm:pt modelId="{DAB1B1FC-1096-AC40-AFA3-915F1CFE11B1}" type="sibTrans" cxnId="{B2DB095B-E6FC-D942-A028-2300E1970A70}">
      <dgm:prSet/>
      <dgm:spPr/>
      <dgm:t>
        <a:bodyPr/>
        <a:lstStyle/>
        <a:p>
          <a:endParaRPr lang="en-US"/>
        </a:p>
      </dgm:t>
    </dgm:pt>
    <dgm:pt modelId="{F4524026-A730-3C43-A543-13126A8AD01F}">
      <dgm:prSet phldrT="[Text]" custT="1"/>
      <dgm:spPr/>
      <dgm:t>
        <a:bodyPr/>
        <a:lstStyle/>
        <a:p>
          <a:r>
            <a:rPr lang="en-US" sz="2000" dirty="0" smtClean="0">
              <a:latin typeface="Constantia"/>
              <a:cs typeface="Constantia"/>
            </a:rPr>
            <a:t>possible biases: interviewer, respondent, situation</a:t>
          </a:r>
          <a:endParaRPr lang="en-US" sz="2000" dirty="0">
            <a:latin typeface="Constantia"/>
            <a:cs typeface="Constantia"/>
          </a:endParaRPr>
        </a:p>
      </dgm:t>
    </dgm:pt>
    <dgm:pt modelId="{6BED2B60-40CA-1644-98C1-B11B64CF4EB2}" type="parTrans" cxnId="{A4902CB4-B1D1-0447-BA2F-FB3B992EFFEF}">
      <dgm:prSet/>
      <dgm:spPr/>
      <dgm:t>
        <a:bodyPr/>
        <a:lstStyle/>
        <a:p>
          <a:endParaRPr lang="en-US"/>
        </a:p>
      </dgm:t>
    </dgm:pt>
    <dgm:pt modelId="{0BDF9306-EAC8-5546-B7C6-B4609A551786}" type="sibTrans" cxnId="{A4902CB4-B1D1-0447-BA2F-FB3B992EFFEF}">
      <dgm:prSet/>
      <dgm:spPr/>
      <dgm:t>
        <a:bodyPr/>
        <a:lstStyle/>
        <a:p>
          <a:endParaRPr lang="en-US"/>
        </a:p>
      </dgm:t>
    </dgm:pt>
    <dgm:pt modelId="{33C3B1A9-77F7-D14A-82F7-A07960911616}">
      <dgm:prSet phldrT="[Text]" custT="1"/>
      <dgm:spPr/>
      <dgm:t>
        <a:bodyPr/>
        <a:lstStyle/>
        <a:p>
          <a:r>
            <a:rPr lang="en-US" sz="2000" dirty="0" smtClean="0">
              <a:latin typeface="Constantia"/>
              <a:cs typeface="Constantia"/>
            </a:rPr>
            <a:t>may be difficult to summarize responses</a:t>
          </a:r>
          <a:endParaRPr lang="en-US" sz="2000" dirty="0">
            <a:latin typeface="Constantia"/>
            <a:cs typeface="Constantia"/>
          </a:endParaRPr>
        </a:p>
      </dgm:t>
    </dgm:pt>
    <dgm:pt modelId="{A18A8C6E-C336-C84E-9C52-5715ACAFA914}" type="parTrans" cxnId="{CF023E4E-0A99-F34F-9E89-06112B5BB775}">
      <dgm:prSet/>
      <dgm:spPr/>
      <dgm:t>
        <a:bodyPr/>
        <a:lstStyle/>
        <a:p>
          <a:endParaRPr lang="en-US"/>
        </a:p>
      </dgm:t>
    </dgm:pt>
    <dgm:pt modelId="{5F86626E-DDD4-FC4F-AC54-536E41338B26}" type="sibTrans" cxnId="{CF023E4E-0A99-F34F-9E89-06112B5BB775}">
      <dgm:prSet/>
      <dgm:spPr/>
      <dgm:t>
        <a:bodyPr/>
        <a:lstStyle/>
        <a:p>
          <a:endParaRPr lang="en-US"/>
        </a:p>
      </dgm:t>
    </dgm:pt>
    <dgm:pt modelId="{4FBBD469-944F-F147-A69F-4848712BE532}" type="pres">
      <dgm:prSet presAssocID="{BA2FAE5D-3927-C546-B89B-5A68C8E471C6}" presName="layout" presStyleCnt="0">
        <dgm:presLayoutVars>
          <dgm:chMax/>
          <dgm:chPref/>
          <dgm:dir/>
          <dgm:resizeHandles/>
        </dgm:presLayoutVars>
      </dgm:prSet>
      <dgm:spPr/>
      <dgm:t>
        <a:bodyPr/>
        <a:lstStyle/>
        <a:p>
          <a:endParaRPr lang="en-US"/>
        </a:p>
      </dgm:t>
    </dgm:pt>
    <dgm:pt modelId="{2C6AA0B7-630B-BB46-A948-9F3AB6D9EC2E}" type="pres">
      <dgm:prSet presAssocID="{F90507E4-B4A9-D746-A62E-78C3D53DA0CC}" presName="root" presStyleCnt="0">
        <dgm:presLayoutVars>
          <dgm:chMax/>
          <dgm:chPref/>
        </dgm:presLayoutVars>
      </dgm:prSet>
      <dgm:spPr/>
    </dgm:pt>
    <dgm:pt modelId="{8CA89BEE-AED3-EB40-BA94-5E62684EE198}" type="pres">
      <dgm:prSet presAssocID="{F90507E4-B4A9-D746-A62E-78C3D53DA0CC}" presName="rootComposite" presStyleCnt="0">
        <dgm:presLayoutVars/>
      </dgm:prSet>
      <dgm:spPr/>
    </dgm:pt>
    <dgm:pt modelId="{261651CE-1B72-9D47-A524-A974208D9E89}" type="pres">
      <dgm:prSet presAssocID="{F90507E4-B4A9-D746-A62E-78C3D53DA0CC}" presName="ParentAccent" presStyleLbl="alignNode1" presStyleIdx="0" presStyleCnt="2"/>
      <dgm:spPr/>
    </dgm:pt>
    <dgm:pt modelId="{5A688879-B665-5A4F-8020-A3A1027F5727}" type="pres">
      <dgm:prSet presAssocID="{F90507E4-B4A9-D746-A62E-78C3D53DA0CC}" presName="ParentSmallAccent" presStyleLbl="fgAcc1" presStyleIdx="0" presStyleCnt="2"/>
      <dgm:spPr/>
    </dgm:pt>
    <dgm:pt modelId="{58923B8D-B4CB-334A-BA35-3D0BBC4AA4B5}" type="pres">
      <dgm:prSet presAssocID="{F90507E4-B4A9-D746-A62E-78C3D53DA0CC}" presName="Parent" presStyleLbl="revTx" presStyleIdx="0" presStyleCnt="11">
        <dgm:presLayoutVars>
          <dgm:chMax/>
          <dgm:chPref val="4"/>
          <dgm:bulletEnabled val="1"/>
        </dgm:presLayoutVars>
      </dgm:prSet>
      <dgm:spPr/>
      <dgm:t>
        <a:bodyPr/>
        <a:lstStyle/>
        <a:p>
          <a:endParaRPr lang="en-US"/>
        </a:p>
      </dgm:t>
    </dgm:pt>
    <dgm:pt modelId="{B1D7130D-2094-DF44-81F5-B35A70EC318F}" type="pres">
      <dgm:prSet presAssocID="{F90507E4-B4A9-D746-A62E-78C3D53DA0CC}" presName="childShape" presStyleCnt="0">
        <dgm:presLayoutVars>
          <dgm:chMax val="0"/>
          <dgm:chPref val="0"/>
        </dgm:presLayoutVars>
      </dgm:prSet>
      <dgm:spPr/>
    </dgm:pt>
    <dgm:pt modelId="{B07D9CF4-2197-FE49-A8C3-743C7A34E1D5}" type="pres">
      <dgm:prSet presAssocID="{C27789D3-67D5-E54C-BCB0-A851A0274CFF}" presName="childComposite" presStyleCnt="0">
        <dgm:presLayoutVars>
          <dgm:chMax val="0"/>
          <dgm:chPref val="0"/>
        </dgm:presLayoutVars>
      </dgm:prSet>
      <dgm:spPr/>
    </dgm:pt>
    <dgm:pt modelId="{A659D28D-0222-3E4A-A5D8-517C5CB52463}" type="pres">
      <dgm:prSet presAssocID="{C27789D3-67D5-E54C-BCB0-A851A0274CFF}" presName="ChildAccent" presStyleLbl="solidFgAcc1" presStyleIdx="0" presStyleCnt="9"/>
      <dgm:spPr/>
    </dgm:pt>
    <dgm:pt modelId="{0A16EBD8-1011-0145-9E4C-6FDBABAAFFA9}" type="pres">
      <dgm:prSet presAssocID="{C27789D3-67D5-E54C-BCB0-A851A0274CFF}" presName="Child" presStyleLbl="revTx" presStyleIdx="1" presStyleCnt="11">
        <dgm:presLayoutVars>
          <dgm:chMax val="0"/>
          <dgm:chPref val="0"/>
          <dgm:bulletEnabled val="1"/>
        </dgm:presLayoutVars>
      </dgm:prSet>
      <dgm:spPr/>
      <dgm:t>
        <a:bodyPr/>
        <a:lstStyle/>
        <a:p>
          <a:endParaRPr lang="en-US"/>
        </a:p>
      </dgm:t>
    </dgm:pt>
    <dgm:pt modelId="{A46DDE8A-42F5-CF46-B0F0-F5A6086CE02B}" type="pres">
      <dgm:prSet presAssocID="{60F58BAD-7654-D941-9912-AD47EA1C916F}" presName="childComposite" presStyleCnt="0">
        <dgm:presLayoutVars>
          <dgm:chMax val="0"/>
          <dgm:chPref val="0"/>
        </dgm:presLayoutVars>
      </dgm:prSet>
      <dgm:spPr/>
    </dgm:pt>
    <dgm:pt modelId="{61D5841C-7A07-2645-B429-FE1E10F0BCEB}" type="pres">
      <dgm:prSet presAssocID="{60F58BAD-7654-D941-9912-AD47EA1C916F}" presName="ChildAccent" presStyleLbl="solidFgAcc1" presStyleIdx="1" presStyleCnt="9"/>
      <dgm:spPr/>
    </dgm:pt>
    <dgm:pt modelId="{ABADE880-D602-5A43-B367-B0A2C4E0E116}" type="pres">
      <dgm:prSet presAssocID="{60F58BAD-7654-D941-9912-AD47EA1C916F}" presName="Child" presStyleLbl="revTx" presStyleIdx="2" presStyleCnt="11">
        <dgm:presLayoutVars>
          <dgm:chMax val="0"/>
          <dgm:chPref val="0"/>
          <dgm:bulletEnabled val="1"/>
        </dgm:presLayoutVars>
      </dgm:prSet>
      <dgm:spPr/>
      <dgm:t>
        <a:bodyPr/>
        <a:lstStyle/>
        <a:p>
          <a:endParaRPr lang="en-US"/>
        </a:p>
      </dgm:t>
    </dgm:pt>
    <dgm:pt modelId="{3B66BB32-5A7F-4C4E-9E14-1686C5C8BC53}" type="pres">
      <dgm:prSet presAssocID="{6924FCCE-32C5-A349-BE51-7E913A85DF03}" presName="childComposite" presStyleCnt="0">
        <dgm:presLayoutVars>
          <dgm:chMax val="0"/>
          <dgm:chPref val="0"/>
        </dgm:presLayoutVars>
      </dgm:prSet>
      <dgm:spPr/>
    </dgm:pt>
    <dgm:pt modelId="{175FC9CC-9E0B-0546-ADFA-E3FE26D9EF34}" type="pres">
      <dgm:prSet presAssocID="{6924FCCE-32C5-A349-BE51-7E913A85DF03}" presName="ChildAccent" presStyleLbl="solidFgAcc1" presStyleIdx="2" presStyleCnt="9"/>
      <dgm:spPr/>
    </dgm:pt>
    <dgm:pt modelId="{55394E49-CD0D-5D40-9C79-4B3564777277}" type="pres">
      <dgm:prSet presAssocID="{6924FCCE-32C5-A349-BE51-7E913A85DF03}" presName="Child" presStyleLbl="revTx" presStyleIdx="3" presStyleCnt="11">
        <dgm:presLayoutVars>
          <dgm:chMax val="0"/>
          <dgm:chPref val="0"/>
          <dgm:bulletEnabled val="1"/>
        </dgm:presLayoutVars>
      </dgm:prSet>
      <dgm:spPr/>
      <dgm:t>
        <a:bodyPr/>
        <a:lstStyle/>
        <a:p>
          <a:endParaRPr lang="en-US"/>
        </a:p>
      </dgm:t>
    </dgm:pt>
    <dgm:pt modelId="{896E4508-8835-D94B-AD53-7BE9E2CC164F}" type="pres">
      <dgm:prSet presAssocID="{D8E15D79-09B9-0149-A91A-142B0E862922}" presName="childComposite" presStyleCnt="0">
        <dgm:presLayoutVars>
          <dgm:chMax val="0"/>
          <dgm:chPref val="0"/>
        </dgm:presLayoutVars>
      </dgm:prSet>
      <dgm:spPr/>
    </dgm:pt>
    <dgm:pt modelId="{15D00FB4-38BB-7B47-9F71-6E4C7A02E2BA}" type="pres">
      <dgm:prSet presAssocID="{D8E15D79-09B9-0149-A91A-142B0E862922}" presName="ChildAccent" presStyleLbl="solidFgAcc1" presStyleIdx="3" presStyleCnt="9"/>
      <dgm:spPr/>
    </dgm:pt>
    <dgm:pt modelId="{ABF0636A-FDBE-3B4C-BD8D-F74564AD9367}" type="pres">
      <dgm:prSet presAssocID="{D8E15D79-09B9-0149-A91A-142B0E862922}" presName="Child" presStyleLbl="revTx" presStyleIdx="4" presStyleCnt="11">
        <dgm:presLayoutVars>
          <dgm:chMax val="0"/>
          <dgm:chPref val="0"/>
          <dgm:bulletEnabled val="1"/>
        </dgm:presLayoutVars>
      </dgm:prSet>
      <dgm:spPr/>
      <dgm:t>
        <a:bodyPr/>
        <a:lstStyle/>
        <a:p>
          <a:endParaRPr lang="en-US"/>
        </a:p>
      </dgm:t>
    </dgm:pt>
    <dgm:pt modelId="{56DCA197-2AAE-A248-997D-6F4FA508B91A}" type="pres">
      <dgm:prSet presAssocID="{D8E7E736-C9BB-724D-BE99-BDD5C4BBE5E2}" presName="root" presStyleCnt="0">
        <dgm:presLayoutVars>
          <dgm:chMax/>
          <dgm:chPref/>
        </dgm:presLayoutVars>
      </dgm:prSet>
      <dgm:spPr/>
    </dgm:pt>
    <dgm:pt modelId="{01F8474D-CADB-394E-A8A1-DB9C3667FD03}" type="pres">
      <dgm:prSet presAssocID="{D8E7E736-C9BB-724D-BE99-BDD5C4BBE5E2}" presName="rootComposite" presStyleCnt="0">
        <dgm:presLayoutVars/>
      </dgm:prSet>
      <dgm:spPr/>
    </dgm:pt>
    <dgm:pt modelId="{CF857DAD-61F9-E147-B2E3-ECED3ED2F7EC}" type="pres">
      <dgm:prSet presAssocID="{D8E7E736-C9BB-724D-BE99-BDD5C4BBE5E2}" presName="ParentAccent" presStyleLbl="alignNode1" presStyleIdx="1" presStyleCnt="2"/>
      <dgm:spPr/>
    </dgm:pt>
    <dgm:pt modelId="{64102B01-D66F-D84C-929A-B666ECBF2897}" type="pres">
      <dgm:prSet presAssocID="{D8E7E736-C9BB-724D-BE99-BDD5C4BBE5E2}" presName="ParentSmallAccent" presStyleLbl="fgAcc1" presStyleIdx="1" presStyleCnt="2"/>
      <dgm:spPr/>
    </dgm:pt>
    <dgm:pt modelId="{2694688C-EFD5-444F-AFFB-9C85B165483D}" type="pres">
      <dgm:prSet presAssocID="{D8E7E736-C9BB-724D-BE99-BDD5C4BBE5E2}" presName="Parent" presStyleLbl="revTx" presStyleIdx="5" presStyleCnt="11">
        <dgm:presLayoutVars>
          <dgm:chMax/>
          <dgm:chPref val="4"/>
          <dgm:bulletEnabled val="1"/>
        </dgm:presLayoutVars>
      </dgm:prSet>
      <dgm:spPr/>
      <dgm:t>
        <a:bodyPr/>
        <a:lstStyle/>
        <a:p>
          <a:endParaRPr lang="en-US"/>
        </a:p>
      </dgm:t>
    </dgm:pt>
    <dgm:pt modelId="{6FC18D83-358F-1C47-A93D-4DE045081928}" type="pres">
      <dgm:prSet presAssocID="{D8E7E736-C9BB-724D-BE99-BDD5C4BBE5E2}" presName="childShape" presStyleCnt="0">
        <dgm:presLayoutVars>
          <dgm:chMax val="0"/>
          <dgm:chPref val="0"/>
        </dgm:presLayoutVars>
      </dgm:prSet>
      <dgm:spPr/>
    </dgm:pt>
    <dgm:pt modelId="{C58EB47D-87FD-F64A-9812-F184F7FDD557}" type="pres">
      <dgm:prSet presAssocID="{26BD299A-AF66-E948-867D-4C3FCB64E793}" presName="childComposite" presStyleCnt="0">
        <dgm:presLayoutVars>
          <dgm:chMax val="0"/>
          <dgm:chPref val="0"/>
        </dgm:presLayoutVars>
      </dgm:prSet>
      <dgm:spPr/>
    </dgm:pt>
    <dgm:pt modelId="{B9698885-FFEE-5540-ABD8-AF5FD6AB9B77}" type="pres">
      <dgm:prSet presAssocID="{26BD299A-AF66-E948-867D-4C3FCB64E793}" presName="ChildAccent" presStyleLbl="solidFgAcc1" presStyleIdx="4" presStyleCnt="9"/>
      <dgm:spPr/>
    </dgm:pt>
    <dgm:pt modelId="{D3B37A61-1843-DA4D-A866-4DE475B969EC}" type="pres">
      <dgm:prSet presAssocID="{26BD299A-AF66-E948-867D-4C3FCB64E793}" presName="Child" presStyleLbl="revTx" presStyleIdx="6" presStyleCnt="11">
        <dgm:presLayoutVars>
          <dgm:chMax val="0"/>
          <dgm:chPref val="0"/>
          <dgm:bulletEnabled val="1"/>
        </dgm:presLayoutVars>
      </dgm:prSet>
      <dgm:spPr/>
      <dgm:t>
        <a:bodyPr/>
        <a:lstStyle/>
        <a:p>
          <a:endParaRPr lang="en-US"/>
        </a:p>
      </dgm:t>
    </dgm:pt>
    <dgm:pt modelId="{4C45818D-DA98-A848-AD92-C037F68067FC}" type="pres">
      <dgm:prSet presAssocID="{375A6D08-CBF2-5A4E-AF77-8D096FF1583D}" presName="childComposite" presStyleCnt="0">
        <dgm:presLayoutVars>
          <dgm:chMax val="0"/>
          <dgm:chPref val="0"/>
        </dgm:presLayoutVars>
      </dgm:prSet>
      <dgm:spPr/>
    </dgm:pt>
    <dgm:pt modelId="{A7C0369C-0577-7241-A35C-F7D28238F68A}" type="pres">
      <dgm:prSet presAssocID="{375A6D08-CBF2-5A4E-AF77-8D096FF1583D}" presName="ChildAccent" presStyleLbl="solidFgAcc1" presStyleIdx="5" presStyleCnt="9"/>
      <dgm:spPr/>
    </dgm:pt>
    <dgm:pt modelId="{9F2B4A93-BEEE-DB44-8577-191669F982E9}" type="pres">
      <dgm:prSet presAssocID="{375A6D08-CBF2-5A4E-AF77-8D096FF1583D}" presName="Child" presStyleLbl="revTx" presStyleIdx="7" presStyleCnt="11">
        <dgm:presLayoutVars>
          <dgm:chMax val="0"/>
          <dgm:chPref val="0"/>
          <dgm:bulletEnabled val="1"/>
        </dgm:presLayoutVars>
      </dgm:prSet>
      <dgm:spPr/>
      <dgm:t>
        <a:bodyPr/>
        <a:lstStyle/>
        <a:p>
          <a:endParaRPr lang="en-US"/>
        </a:p>
      </dgm:t>
    </dgm:pt>
    <dgm:pt modelId="{AF1F8DE0-2371-BE48-8365-7C8E354F6AC9}" type="pres">
      <dgm:prSet presAssocID="{98246CDA-9934-1F4C-BF0A-1185E3293361}" presName="childComposite" presStyleCnt="0">
        <dgm:presLayoutVars>
          <dgm:chMax val="0"/>
          <dgm:chPref val="0"/>
        </dgm:presLayoutVars>
      </dgm:prSet>
      <dgm:spPr/>
    </dgm:pt>
    <dgm:pt modelId="{3FA87220-0ADC-1F45-8A08-2FDF4B350350}" type="pres">
      <dgm:prSet presAssocID="{98246CDA-9934-1F4C-BF0A-1185E3293361}" presName="ChildAccent" presStyleLbl="solidFgAcc1" presStyleIdx="6" presStyleCnt="9"/>
      <dgm:spPr/>
    </dgm:pt>
    <dgm:pt modelId="{E532AFC4-ED63-C247-AAD1-AC9AEE906136}" type="pres">
      <dgm:prSet presAssocID="{98246CDA-9934-1F4C-BF0A-1185E3293361}" presName="Child" presStyleLbl="revTx" presStyleIdx="8" presStyleCnt="11">
        <dgm:presLayoutVars>
          <dgm:chMax val="0"/>
          <dgm:chPref val="0"/>
          <dgm:bulletEnabled val="1"/>
        </dgm:presLayoutVars>
      </dgm:prSet>
      <dgm:spPr/>
      <dgm:t>
        <a:bodyPr/>
        <a:lstStyle/>
        <a:p>
          <a:endParaRPr lang="en-US"/>
        </a:p>
      </dgm:t>
    </dgm:pt>
    <dgm:pt modelId="{FCB10A8F-3CBF-C54E-BF47-F30A9C1D504F}" type="pres">
      <dgm:prSet presAssocID="{33C3B1A9-77F7-D14A-82F7-A07960911616}" presName="childComposite" presStyleCnt="0">
        <dgm:presLayoutVars>
          <dgm:chMax val="0"/>
          <dgm:chPref val="0"/>
        </dgm:presLayoutVars>
      </dgm:prSet>
      <dgm:spPr/>
    </dgm:pt>
    <dgm:pt modelId="{BE9A1115-4756-6C49-B2DA-A59F996A8FB6}" type="pres">
      <dgm:prSet presAssocID="{33C3B1A9-77F7-D14A-82F7-A07960911616}" presName="ChildAccent" presStyleLbl="solidFgAcc1" presStyleIdx="7" presStyleCnt="9"/>
      <dgm:spPr/>
    </dgm:pt>
    <dgm:pt modelId="{7B6750F8-41D0-5246-8A0A-CF96DD562A08}" type="pres">
      <dgm:prSet presAssocID="{33C3B1A9-77F7-D14A-82F7-A07960911616}" presName="Child" presStyleLbl="revTx" presStyleIdx="9" presStyleCnt="11">
        <dgm:presLayoutVars>
          <dgm:chMax val="0"/>
          <dgm:chPref val="0"/>
          <dgm:bulletEnabled val="1"/>
        </dgm:presLayoutVars>
      </dgm:prSet>
      <dgm:spPr/>
      <dgm:t>
        <a:bodyPr/>
        <a:lstStyle/>
        <a:p>
          <a:endParaRPr lang="en-US"/>
        </a:p>
      </dgm:t>
    </dgm:pt>
    <dgm:pt modelId="{2829221A-0BE0-BA4C-8838-0DCE40859115}" type="pres">
      <dgm:prSet presAssocID="{F4524026-A730-3C43-A543-13126A8AD01F}" presName="childComposite" presStyleCnt="0">
        <dgm:presLayoutVars>
          <dgm:chMax val="0"/>
          <dgm:chPref val="0"/>
        </dgm:presLayoutVars>
      </dgm:prSet>
      <dgm:spPr/>
    </dgm:pt>
    <dgm:pt modelId="{1E39C7D0-E924-3342-97EB-5709B9F58E89}" type="pres">
      <dgm:prSet presAssocID="{F4524026-A730-3C43-A543-13126A8AD01F}" presName="ChildAccent" presStyleLbl="solidFgAcc1" presStyleIdx="8" presStyleCnt="9"/>
      <dgm:spPr/>
    </dgm:pt>
    <dgm:pt modelId="{C5C67A5C-E83F-744E-A8AD-A8F157A1FD09}" type="pres">
      <dgm:prSet presAssocID="{F4524026-A730-3C43-A543-13126A8AD01F}" presName="Child" presStyleLbl="revTx" presStyleIdx="10" presStyleCnt="11">
        <dgm:presLayoutVars>
          <dgm:chMax val="0"/>
          <dgm:chPref val="0"/>
          <dgm:bulletEnabled val="1"/>
        </dgm:presLayoutVars>
      </dgm:prSet>
      <dgm:spPr/>
      <dgm:t>
        <a:bodyPr/>
        <a:lstStyle/>
        <a:p>
          <a:endParaRPr lang="en-US"/>
        </a:p>
      </dgm:t>
    </dgm:pt>
  </dgm:ptLst>
  <dgm:cxnLst>
    <dgm:cxn modelId="{15E8DDDE-6FFC-3842-B817-288F8410DE60}" type="presOf" srcId="{26BD299A-AF66-E948-867D-4C3FCB64E793}" destId="{D3B37A61-1843-DA4D-A866-4DE475B969EC}" srcOrd="0" destOrd="0" presId="urn:microsoft.com/office/officeart/2008/layout/SquareAccentList"/>
    <dgm:cxn modelId="{68DF9487-E449-4748-925D-467564D20E8C}" srcId="{D8E7E736-C9BB-724D-BE99-BDD5C4BBE5E2}" destId="{98246CDA-9934-1F4C-BF0A-1185E3293361}" srcOrd="2" destOrd="0" parTransId="{BCFD3ED7-38E3-F942-AD8B-A845D75413FF}" sibTransId="{407849E3-9524-954F-A829-12F4E44C8F45}"/>
    <dgm:cxn modelId="{6C09C8C1-99A2-C442-829E-BF4A5D7FAD85}" srcId="{BA2FAE5D-3927-C546-B89B-5A68C8E471C6}" destId="{F90507E4-B4A9-D746-A62E-78C3D53DA0CC}" srcOrd="0" destOrd="0" parTransId="{98B06E29-CBFD-AE46-93F0-FC3CADC49AD1}" sibTransId="{F4009F99-E409-8840-9219-9E9258F3B6CF}"/>
    <dgm:cxn modelId="{CEB3F7A3-1CA4-F84F-943F-CF53422D4EBB}" type="presOf" srcId="{33C3B1A9-77F7-D14A-82F7-A07960911616}" destId="{7B6750F8-41D0-5246-8A0A-CF96DD562A08}" srcOrd="0" destOrd="0" presId="urn:microsoft.com/office/officeart/2008/layout/SquareAccentList"/>
    <dgm:cxn modelId="{D72B000C-C01F-0C48-9379-FC1E572E94EA}" type="presOf" srcId="{F4524026-A730-3C43-A543-13126A8AD01F}" destId="{C5C67A5C-E83F-744E-A8AD-A8F157A1FD09}" srcOrd="0" destOrd="0" presId="urn:microsoft.com/office/officeart/2008/layout/SquareAccentList"/>
    <dgm:cxn modelId="{B2F8C473-62DC-744B-B9D3-CC414EC8ED3D}" type="presOf" srcId="{D8E15D79-09B9-0149-A91A-142B0E862922}" destId="{ABF0636A-FDBE-3B4C-BD8D-F74564AD9367}" srcOrd="0" destOrd="0" presId="urn:microsoft.com/office/officeart/2008/layout/SquareAccentList"/>
    <dgm:cxn modelId="{6FE616A3-4EAF-094F-B177-67A2B57074D4}" type="presOf" srcId="{60F58BAD-7654-D941-9912-AD47EA1C916F}" destId="{ABADE880-D602-5A43-B367-B0A2C4E0E116}" srcOrd="0" destOrd="0" presId="urn:microsoft.com/office/officeart/2008/layout/SquareAccentList"/>
    <dgm:cxn modelId="{EC0BF569-401C-B548-825B-7B758A690F6F}" type="presOf" srcId="{F90507E4-B4A9-D746-A62E-78C3D53DA0CC}" destId="{58923B8D-B4CB-334A-BA35-3D0BBC4AA4B5}" srcOrd="0" destOrd="0" presId="urn:microsoft.com/office/officeart/2008/layout/SquareAccentList"/>
    <dgm:cxn modelId="{F6E2E98B-C8BA-5B46-9717-DB93F184CC48}" type="presOf" srcId="{BA2FAE5D-3927-C546-B89B-5A68C8E471C6}" destId="{4FBBD469-944F-F147-A69F-4848712BE532}" srcOrd="0" destOrd="0" presId="urn:microsoft.com/office/officeart/2008/layout/SquareAccentList"/>
    <dgm:cxn modelId="{A4902CB4-B1D1-0447-BA2F-FB3B992EFFEF}" srcId="{D8E7E736-C9BB-724D-BE99-BDD5C4BBE5E2}" destId="{F4524026-A730-3C43-A543-13126A8AD01F}" srcOrd="4" destOrd="0" parTransId="{6BED2B60-40CA-1644-98C1-B11B64CF4EB2}" sibTransId="{0BDF9306-EAC8-5546-B7C6-B4609A551786}"/>
    <dgm:cxn modelId="{19FBB826-3305-3C42-B5F9-FCB8DBC3F6DB}" srcId="{F90507E4-B4A9-D746-A62E-78C3D53DA0CC}" destId="{60F58BAD-7654-D941-9912-AD47EA1C916F}" srcOrd="1" destOrd="0" parTransId="{354C51BD-2E74-084B-9AA5-2616E5EE9321}" sibTransId="{55D6EBC1-CCAC-8741-9B86-2A6B3778A720}"/>
    <dgm:cxn modelId="{3112179E-90CA-E446-8F4B-1EFD4EB4FF37}" type="presOf" srcId="{C27789D3-67D5-E54C-BCB0-A851A0274CFF}" destId="{0A16EBD8-1011-0145-9E4C-6FDBABAAFFA9}" srcOrd="0" destOrd="0" presId="urn:microsoft.com/office/officeart/2008/layout/SquareAccentList"/>
    <dgm:cxn modelId="{BD29CA08-C852-7543-A065-D5DE3319F640}" type="presOf" srcId="{6924FCCE-32C5-A349-BE51-7E913A85DF03}" destId="{55394E49-CD0D-5D40-9C79-4B3564777277}" srcOrd="0" destOrd="0" presId="urn:microsoft.com/office/officeart/2008/layout/SquareAccentList"/>
    <dgm:cxn modelId="{CF023E4E-0A99-F34F-9E89-06112B5BB775}" srcId="{D8E7E736-C9BB-724D-BE99-BDD5C4BBE5E2}" destId="{33C3B1A9-77F7-D14A-82F7-A07960911616}" srcOrd="3" destOrd="0" parTransId="{A18A8C6E-C336-C84E-9C52-5715ACAFA914}" sibTransId="{5F86626E-DDD4-FC4F-AC54-536E41338B26}"/>
    <dgm:cxn modelId="{9CBF5CF0-EFF7-7F44-8005-BFE2D630366C}" srcId="{F90507E4-B4A9-D746-A62E-78C3D53DA0CC}" destId="{6924FCCE-32C5-A349-BE51-7E913A85DF03}" srcOrd="2" destOrd="0" parTransId="{50D74497-AA7E-2042-B4BA-72D1AB3CD76B}" sibTransId="{DFB572E4-4EF8-FB4F-80CE-0DD0EA60D635}"/>
    <dgm:cxn modelId="{8B1C75DE-B1CC-A041-BF18-626BB19AB024}" type="presOf" srcId="{98246CDA-9934-1F4C-BF0A-1185E3293361}" destId="{E532AFC4-ED63-C247-AAD1-AC9AEE906136}" srcOrd="0" destOrd="0" presId="urn:microsoft.com/office/officeart/2008/layout/SquareAccentList"/>
    <dgm:cxn modelId="{8C14F927-34BD-1141-A730-6D076A55EBF2}" srcId="{D8E7E736-C9BB-724D-BE99-BDD5C4BBE5E2}" destId="{375A6D08-CBF2-5A4E-AF77-8D096FF1583D}" srcOrd="1" destOrd="0" parTransId="{5017ACF7-F267-924F-B5C8-855D373BE8C9}" sibTransId="{5D31CD4A-0044-794F-A3C3-87B991CD627D}"/>
    <dgm:cxn modelId="{781F6FDD-B6D8-0448-978E-F43D752C4782}" srcId="{F90507E4-B4A9-D746-A62E-78C3D53DA0CC}" destId="{C27789D3-67D5-E54C-BCB0-A851A0274CFF}" srcOrd="0" destOrd="0" parTransId="{20097BCE-D15C-EC4F-93DE-88CC94255A38}" sibTransId="{2F97FA50-D488-CC4A-97A3-45B5BC5DC9AE}"/>
    <dgm:cxn modelId="{ADF8B93F-6F63-0544-82BE-E14C5F815F73}" srcId="{BA2FAE5D-3927-C546-B89B-5A68C8E471C6}" destId="{D8E7E736-C9BB-724D-BE99-BDD5C4BBE5E2}" srcOrd="1" destOrd="0" parTransId="{F728CDF7-2448-A144-871E-FFF5446F082F}" sibTransId="{75AEC746-506E-1647-BF87-5E78C76BE069}"/>
    <dgm:cxn modelId="{89378D71-157C-AB47-BC76-88469A13867A}" type="presOf" srcId="{D8E7E736-C9BB-724D-BE99-BDD5C4BBE5E2}" destId="{2694688C-EFD5-444F-AFFB-9C85B165483D}" srcOrd="0" destOrd="0" presId="urn:microsoft.com/office/officeart/2008/layout/SquareAccentList"/>
    <dgm:cxn modelId="{52541C11-DCEC-424D-8406-A58FEE9D4F75}" srcId="{D8E7E736-C9BB-724D-BE99-BDD5C4BBE5E2}" destId="{26BD299A-AF66-E948-867D-4C3FCB64E793}" srcOrd="0" destOrd="0" parTransId="{B00C8613-B681-5B40-AE83-13FB1E1C09AA}" sibTransId="{60B3FBD8-9A19-C348-894D-D1B5251CFBFD}"/>
    <dgm:cxn modelId="{B2DB095B-E6FC-D942-A028-2300E1970A70}" srcId="{F90507E4-B4A9-D746-A62E-78C3D53DA0CC}" destId="{D8E15D79-09B9-0149-A91A-142B0E862922}" srcOrd="3" destOrd="0" parTransId="{F74DE8F2-DC37-9543-8DB2-690D825913C5}" sibTransId="{DAB1B1FC-1096-AC40-AFA3-915F1CFE11B1}"/>
    <dgm:cxn modelId="{79E6EA95-EF88-324D-8A49-ADAAD3235CF2}" type="presOf" srcId="{375A6D08-CBF2-5A4E-AF77-8D096FF1583D}" destId="{9F2B4A93-BEEE-DB44-8577-191669F982E9}" srcOrd="0" destOrd="0" presId="urn:microsoft.com/office/officeart/2008/layout/SquareAccentList"/>
    <dgm:cxn modelId="{469D4152-0496-094B-A810-7AA754249E51}" type="presParOf" srcId="{4FBBD469-944F-F147-A69F-4848712BE532}" destId="{2C6AA0B7-630B-BB46-A948-9F3AB6D9EC2E}" srcOrd="0" destOrd="0" presId="urn:microsoft.com/office/officeart/2008/layout/SquareAccentList"/>
    <dgm:cxn modelId="{CE6FFF26-44F8-0E44-AC2A-FC1E5333CED7}" type="presParOf" srcId="{2C6AA0B7-630B-BB46-A948-9F3AB6D9EC2E}" destId="{8CA89BEE-AED3-EB40-BA94-5E62684EE198}" srcOrd="0" destOrd="0" presId="urn:microsoft.com/office/officeart/2008/layout/SquareAccentList"/>
    <dgm:cxn modelId="{F91856A5-BBDC-494F-A912-7CCA81BB42F0}" type="presParOf" srcId="{8CA89BEE-AED3-EB40-BA94-5E62684EE198}" destId="{261651CE-1B72-9D47-A524-A974208D9E89}" srcOrd="0" destOrd="0" presId="urn:microsoft.com/office/officeart/2008/layout/SquareAccentList"/>
    <dgm:cxn modelId="{455652F6-CFD4-724F-9EEF-F4BD04655763}" type="presParOf" srcId="{8CA89BEE-AED3-EB40-BA94-5E62684EE198}" destId="{5A688879-B665-5A4F-8020-A3A1027F5727}" srcOrd="1" destOrd="0" presId="urn:microsoft.com/office/officeart/2008/layout/SquareAccentList"/>
    <dgm:cxn modelId="{E5836C23-EDDD-3C4F-B66B-A430B71FFE05}" type="presParOf" srcId="{8CA89BEE-AED3-EB40-BA94-5E62684EE198}" destId="{58923B8D-B4CB-334A-BA35-3D0BBC4AA4B5}" srcOrd="2" destOrd="0" presId="urn:microsoft.com/office/officeart/2008/layout/SquareAccentList"/>
    <dgm:cxn modelId="{A505742C-22E8-C04F-B0A2-F5E0F741D177}" type="presParOf" srcId="{2C6AA0B7-630B-BB46-A948-9F3AB6D9EC2E}" destId="{B1D7130D-2094-DF44-81F5-B35A70EC318F}" srcOrd="1" destOrd="0" presId="urn:microsoft.com/office/officeart/2008/layout/SquareAccentList"/>
    <dgm:cxn modelId="{F92BE31C-B111-9C41-BE06-8DA7E6BA7761}" type="presParOf" srcId="{B1D7130D-2094-DF44-81F5-B35A70EC318F}" destId="{B07D9CF4-2197-FE49-A8C3-743C7A34E1D5}" srcOrd="0" destOrd="0" presId="urn:microsoft.com/office/officeart/2008/layout/SquareAccentList"/>
    <dgm:cxn modelId="{4D9515E1-7FB9-2E46-AA66-00460C844AEB}" type="presParOf" srcId="{B07D9CF4-2197-FE49-A8C3-743C7A34E1D5}" destId="{A659D28D-0222-3E4A-A5D8-517C5CB52463}" srcOrd="0" destOrd="0" presId="urn:microsoft.com/office/officeart/2008/layout/SquareAccentList"/>
    <dgm:cxn modelId="{5E8AE19B-8ABB-E14B-9263-64B41F75D666}" type="presParOf" srcId="{B07D9CF4-2197-FE49-A8C3-743C7A34E1D5}" destId="{0A16EBD8-1011-0145-9E4C-6FDBABAAFFA9}" srcOrd="1" destOrd="0" presId="urn:microsoft.com/office/officeart/2008/layout/SquareAccentList"/>
    <dgm:cxn modelId="{F24C2F4D-1A4D-B043-8B71-C3C18AAF8E2B}" type="presParOf" srcId="{B1D7130D-2094-DF44-81F5-B35A70EC318F}" destId="{A46DDE8A-42F5-CF46-B0F0-F5A6086CE02B}" srcOrd="1" destOrd="0" presId="urn:microsoft.com/office/officeart/2008/layout/SquareAccentList"/>
    <dgm:cxn modelId="{C12CDA98-3EB5-F941-B621-78F8FA9C3DEF}" type="presParOf" srcId="{A46DDE8A-42F5-CF46-B0F0-F5A6086CE02B}" destId="{61D5841C-7A07-2645-B429-FE1E10F0BCEB}" srcOrd="0" destOrd="0" presId="urn:microsoft.com/office/officeart/2008/layout/SquareAccentList"/>
    <dgm:cxn modelId="{8DA37AB3-2F1E-BF48-A9EC-5D2EE22199B1}" type="presParOf" srcId="{A46DDE8A-42F5-CF46-B0F0-F5A6086CE02B}" destId="{ABADE880-D602-5A43-B367-B0A2C4E0E116}" srcOrd="1" destOrd="0" presId="urn:microsoft.com/office/officeart/2008/layout/SquareAccentList"/>
    <dgm:cxn modelId="{94015774-17FF-054E-8C06-315C82676A63}" type="presParOf" srcId="{B1D7130D-2094-DF44-81F5-B35A70EC318F}" destId="{3B66BB32-5A7F-4C4E-9E14-1686C5C8BC53}" srcOrd="2" destOrd="0" presId="urn:microsoft.com/office/officeart/2008/layout/SquareAccentList"/>
    <dgm:cxn modelId="{1C2560CC-3FBB-774D-AA08-5F83BBC095A6}" type="presParOf" srcId="{3B66BB32-5A7F-4C4E-9E14-1686C5C8BC53}" destId="{175FC9CC-9E0B-0546-ADFA-E3FE26D9EF34}" srcOrd="0" destOrd="0" presId="urn:microsoft.com/office/officeart/2008/layout/SquareAccentList"/>
    <dgm:cxn modelId="{9656FC33-7952-5D43-A083-F751DE5E42A9}" type="presParOf" srcId="{3B66BB32-5A7F-4C4E-9E14-1686C5C8BC53}" destId="{55394E49-CD0D-5D40-9C79-4B3564777277}" srcOrd="1" destOrd="0" presId="urn:microsoft.com/office/officeart/2008/layout/SquareAccentList"/>
    <dgm:cxn modelId="{A7F5C5F2-0673-DD42-8566-6DDFE919F8FB}" type="presParOf" srcId="{B1D7130D-2094-DF44-81F5-B35A70EC318F}" destId="{896E4508-8835-D94B-AD53-7BE9E2CC164F}" srcOrd="3" destOrd="0" presId="urn:microsoft.com/office/officeart/2008/layout/SquareAccentList"/>
    <dgm:cxn modelId="{5BA934C1-C57F-F14F-96AE-683C2095FA92}" type="presParOf" srcId="{896E4508-8835-D94B-AD53-7BE9E2CC164F}" destId="{15D00FB4-38BB-7B47-9F71-6E4C7A02E2BA}" srcOrd="0" destOrd="0" presId="urn:microsoft.com/office/officeart/2008/layout/SquareAccentList"/>
    <dgm:cxn modelId="{D3FDA01E-FF9E-E14A-8077-E23C22EFBB95}" type="presParOf" srcId="{896E4508-8835-D94B-AD53-7BE9E2CC164F}" destId="{ABF0636A-FDBE-3B4C-BD8D-F74564AD9367}" srcOrd="1" destOrd="0" presId="urn:microsoft.com/office/officeart/2008/layout/SquareAccentList"/>
    <dgm:cxn modelId="{CB51240A-42E7-6B4C-84B1-6077C5A692C2}" type="presParOf" srcId="{4FBBD469-944F-F147-A69F-4848712BE532}" destId="{56DCA197-2AAE-A248-997D-6F4FA508B91A}" srcOrd="1" destOrd="0" presId="urn:microsoft.com/office/officeart/2008/layout/SquareAccentList"/>
    <dgm:cxn modelId="{4C59BA6E-1BDB-F742-8B80-E89DC4A19A21}" type="presParOf" srcId="{56DCA197-2AAE-A248-997D-6F4FA508B91A}" destId="{01F8474D-CADB-394E-A8A1-DB9C3667FD03}" srcOrd="0" destOrd="0" presId="urn:microsoft.com/office/officeart/2008/layout/SquareAccentList"/>
    <dgm:cxn modelId="{919CECB5-C0E7-4648-AB2B-E9BB535BEB23}" type="presParOf" srcId="{01F8474D-CADB-394E-A8A1-DB9C3667FD03}" destId="{CF857DAD-61F9-E147-B2E3-ECED3ED2F7EC}" srcOrd="0" destOrd="0" presId="urn:microsoft.com/office/officeart/2008/layout/SquareAccentList"/>
    <dgm:cxn modelId="{34084FBD-6C84-C041-A35A-5BFBA7CF6E27}" type="presParOf" srcId="{01F8474D-CADB-394E-A8A1-DB9C3667FD03}" destId="{64102B01-D66F-D84C-929A-B666ECBF2897}" srcOrd="1" destOrd="0" presId="urn:microsoft.com/office/officeart/2008/layout/SquareAccentList"/>
    <dgm:cxn modelId="{EF970DBF-7357-8640-8DEC-C0CEE3291714}" type="presParOf" srcId="{01F8474D-CADB-394E-A8A1-DB9C3667FD03}" destId="{2694688C-EFD5-444F-AFFB-9C85B165483D}" srcOrd="2" destOrd="0" presId="urn:microsoft.com/office/officeart/2008/layout/SquareAccentList"/>
    <dgm:cxn modelId="{A6F95D1F-970D-C743-9DF3-433F55F36027}" type="presParOf" srcId="{56DCA197-2AAE-A248-997D-6F4FA508B91A}" destId="{6FC18D83-358F-1C47-A93D-4DE045081928}" srcOrd="1" destOrd="0" presId="urn:microsoft.com/office/officeart/2008/layout/SquareAccentList"/>
    <dgm:cxn modelId="{DF43014B-80A0-0F47-905F-A5AD475DDBF2}" type="presParOf" srcId="{6FC18D83-358F-1C47-A93D-4DE045081928}" destId="{C58EB47D-87FD-F64A-9812-F184F7FDD557}" srcOrd="0" destOrd="0" presId="urn:microsoft.com/office/officeart/2008/layout/SquareAccentList"/>
    <dgm:cxn modelId="{1CAAAE88-51E8-C24C-BB7E-FBD4FFA37FD3}" type="presParOf" srcId="{C58EB47D-87FD-F64A-9812-F184F7FDD557}" destId="{B9698885-FFEE-5540-ABD8-AF5FD6AB9B77}" srcOrd="0" destOrd="0" presId="urn:microsoft.com/office/officeart/2008/layout/SquareAccentList"/>
    <dgm:cxn modelId="{3C63A513-8305-8C4C-BAB1-6DD0F02568C4}" type="presParOf" srcId="{C58EB47D-87FD-F64A-9812-F184F7FDD557}" destId="{D3B37A61-1843-DA4D-A866-4DE475B969EC}" srcOrd="1" destOrd="0" presId="urn:microsoft.com/office/officeart/2008/layout/SquareAccentList"/>
    <dgm:cxn modelId="{6F66302A-ED66-4545-ADEF-7C479C64D0C6}" type="presParOf" srcId="{6FC18D83-358F-1C47-A93D-4DE045081928}" destId="{4C45818D-DA98-A848-AD92-C037F68067FC}" srcOrd="1" destOrd="0" presId="urn:microsoft.com/office/officeart/2008/layout/SquareAccentList"/>
    <dgm:cxn modelId="{605314E7-980F-8E44-8589-371102D20CB5}" type="presParOf" srcId="{4C45818D-DA98-A848-AD92-C037F68067FC}" destId="{A7C0369C-0577-7241-A35C-F7D28238F68A}" srcOrd="0" destOrd="0" presId="urn:microsoft.com/office/officeart/2008/layout/SquareAccentList"/>
    <dgm:cxn modelId="{E7446FE2-C1F0-914F-942B-0842F42630B4}" type="presParOf" srcId="{4C45818D-DA98-A848-AD92-C037F68067FC}" destId="{9F2B4A93-BEEE-DB44-8577-191669F982E9}" srcOrd="1" destOrd="0" presId="urn:microsoft.com/office/officeart/2008/layout/SquareAccentList"/>
    <dgm:cxn modelId="{552E429B-C301-774C-9EE4-01638ECA9CE7}" type="presParOf" srcId="{6FC18D83-358F-1C47-A93D-4DE045081928}" destId="{AF1F8DE0-2371-BE48-8365-7C8E354F6AC9}" srcOrd="2" destOrd="0" presId="urn:microsoft.com/office/officeart/2008/layout/SquareAccentList"/>
    <dgm:cxn modelId="{0EB7EE39-D326-AD4E-885D-42AE14FD30CA}" type="presParOf" srcId="{AF1F8DE0-2371-BE48-8365-7C8E354F6AC9}" destId="{3FA87220-0ADC-1F45-8A08-2FDF4B350350}" srcOrd="0" destOrd="0" presId="urn:microsoft.com/office/officeart/2008/layout/SquareAccentList"/>
    <dgm:cxn modelId="{78814D94-BE71-BD45-A205-55399C6BDB72}" type="presParOf" srcId="{AF1F8DE0-2371-BE48-8365-7C8E354F6AC9}" destId="{E532AFC4-ED63-C247-AAD1-AC9AEE906136}" srcOrd="1" destOrd="0" presId="urn:microsoft.com/office/officeart/2008/layout/SquareAccentList"/>
    <dgm:cxn modelId="{1F1C1A57-97F8-B248-8C47-D1BF680448B5}" type="presParOf" srcId="{6FC18D83-358F-1C47-A93D-4DE045081928}" destId="{FCB10A8F-3CBF-C54E-BF47-F30A9C1D504F}" srcOrd="3" destOrd="0" presId="urn:microsoft.com/office/officeart/2008/layout/SquareAccentList"/>
    <dgm:cxn modelId="{DF01BF3C-2FA1-2B42-8D8D-E7CDB8F73564}" type="presParOf" srcId="{FCB10A8F-3CBF-C54E-BF47-F30A9C1D504F}" destId="{BE9A1115-4756-6C49-B2DA-A59F996A8FB6}" srcOrd="0" destOrd="0" presId="urn:microsoft.com/office/officeart/2008/layout/SquareAccentList"/>
    <dgm:cxn modelId="{2576B5F1-23CD-D449-A2DB-0F5223307230}" type="presParOf" srcId="{FCB10A8F-3CBF-C54E-BF47-F30A9C1D504F}" destId="{7B6750F8-41D0-5246-8A0A-CF96DD562A08}" srcOrd="1" destOrd="0" presId="urn:microsoft.com/office/officeart/2008/layout/SquareAccentList"/>
    <dgm:cxn modelId="{E2FB3CC3-64C8-2542-AD99-7D3B8D180F2E}" type="presParOf" srcId="{6FC18D83-358F-1C47-A93D-4DE045081928}" destId="{2829221A-0BE0-BA4C-8838-0DCE40859115}" srcOrd="4" destOrd="0" presId="urn:microsoft.com/office/officeart/2008/layout/SquareAccentList"/>
    <dgm:cxn modelId="{F409F07D-3489-1D4D-8E85-534A44838F58}" type="presParOf" srcId="{2829221A-0BE0-BA4C-8838-0DCE40859115}" destId="{1E39C7D0-E924-3342-97EB-5709B9F58E89}" srcOrd="0" destOrd="0" presId="urn:microsoft.com/office/officeart/2008/layout/SquareAccentList"/>
    <dgm:cxn modelId="{82D9BB66-77BD-B94F-9B3A-C0B4BA979FE8}" type="presParOf" srcId="{2829221A-0BE0-BA4C-8838-0DCE40859115}" destId="{C5C67A5C-E83F-744E-A8AD-A8F157A1FD09}" srcOrd="1" destOrd="0" presId="urn:microsoft.com/office/officeart/2008/layout/SquareAccent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ru-RU" dirty="0"/>
          </a:p>
        </p:txBody>
      </p:sp>
      <p:sp>
        <p:nvSpPr>
          <p:cNvPr id="3" name="Дата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fld id="{A5CA69CF-DE30-3B43-8BF5-4EDB034EC078}" type="datetimeFigureOut">
              <a:rPr lang="ru-RU"/>
              <a:pPr/>
              <a:t>20.04.2017</a:t>
            </a:fld>
            <a:endParaRPr lang="ru-RU" dirty="0"/>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ru-RU" noProof="0" dirty="0"/>
          </a:p>
        </p:txBody>
      </p:sp>
      <p:sp>
        <p:nvSpPr>
          <p:cNvPr id="5" name="Заметки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ru-RU" dirty="0"/>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fld id="{3C29C7FA-ED3E-554D-8D60-FAEDB5BE1DF5}" type="slidenum">
              <a:rPr lang="ru-RU"/>
              <a:pPr/>
              <a:t>‹#›</a:t>
            </a:fld>
            <a:endParaRPr lang="ru-RU" dirty="0"/>
          </a:p>
        </p:txBody>
      </p:sp>
    </p:spTree>
    <p:extLst>
      <p:ext uri="{BB962C8B-B14F-4D97-AF65-F5344CB8AC3E}">
        <p14:creationId xmlns:p14="http://schemas.microsoft.com/office/powerpoint/2010/main" xmlns="" val="422695129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ＭＳ Ｐゴシック" charset="0"/>
        <a:cs typeface="+mn-cs"/>
      </a:defRPr>
    </a:lvl1pPr>
    <a:lvl2pPr marL="457200" algn="l" rtl="0" fontAlgn="base">
      <a:spcBef>
        <a:spcPct val="30000"/>
      </a:spcBef>
      <a:spcAft>
        <a:spcPct val="0"/>
      </a:spcAft>
      <a:defRPr sz="1200" kern="1200">
        <a:solidFill>
          <a:schemeClr val="tx1"/>
        </a:solidFill>
        <a:latin typeface="+mn-lt"/>
        <a:ea typeface="ＭＳ Ｐゴシック" charset="0"/>
        <a:cs typeface="+mn-cs"/>
      </a:defRPr>
    </a:lvl2pPr>
    <a:lvl3pPr marL="914400" algn="l" rtl="0" fontAlgn="base">
      <a:spcBef>
        <a:spcPct val="30000"/>
      </a:spcBef>
      <a:spcAft>
        <a:spcPct val="0"/>
      </a:spcAft>
      <a:defRPr sz="1200" kern="1200">
        <a:solidFill>
          <a:schemeClr val="tx1"/>
        </a:solidFill>
        <a:latin typeface="+mn-lt"/>
        <a:ea typeface="ＭＳ Ｐゴシック" charset="0"/>
        <a:cs typeface="+mn-cs"/>
      </a:defRPr>
    </a:lvl3pPr>
    <a:lvl4pPr marL="1371600" algn="l" rtl="0" fontAlgn="base">
      <a:spcBef>
        <a:spcPct val="30000"/>
      </a:spcBef>
      <a:spcAft>
        <a:spcPct val="0"/>
      </a:spcAft>
      <a:defRPr sz="1200" kern="1200">
        <a:solidFill>
          <a:schemeClr val="tx1"/>
        </a:solidFill>
        <a:latin typeface="+mn-lt"/>
        <a:ea typeface="ＭＳ Ｐゴシック" charset="0"/>
        <a:cs typeface="+mn-cs"/>
      </a:defRPr>
    </a:lvl4pPr>
    <a:lvl5pPr marL="1828800" algn="l" rtl="0" fontAlgn="base">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C29C7FA-ED3E-554D-8D60-FAEDB5BE1DF5}" type="slidenum">
              <a:rPr lang="ru-RU" smtClean="0"/>
              <a:pPr/>
              <a:t>16</a:t>
            </a:fld>
            <a:endParaRPr lang="ru-RU" dirty="0"/>
          </a:p>
        </p:txBody>
      </p:sp>
    </p:spTree>
    <p:extLst>
      <p:ext uri="{BB962C8B-B14F-4D97-AF65-F5344CB8AC3E}">
        <p14:creationId xmlns:p14="http://schemas.microsoft.com/office/powerpoint/2010/main" xmlns="" val="2012513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F9EDEE12-F4DC-6C4D-A494-E82755247A26}" type="datetimeFigureOut">
              <a:rPr lang="ru-RU" smtClean="0"/>
              <a:pPr/>
              <a:t>20.04.2017</a:t>
            </a:fld>
            <a:endParaRPr lang="ru-RU" dirty="0"/>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defRPr/>
            </a:pPr>
            <a:endParaRPr lang="ru-RU" dirty="0"/>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9D2C864-9362-43C7-A136-D9C41D93A96D}"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F9EDEE12-F4DC-6C4D-A494-E82755247A26}" type="datetimeFigureOut">
              <a:rPr lang="ru-RU" smtClean="0"/>
              <a:pPr/>
              <a:t>20.04.2017</a:t>
            </a:fld>
            <a:endParaRPr lang="ru-RU" dirty="0"/>
          </a:p>
        </p:txBody>
      </p:sp>
      <p:sp>
        <p:nvSpPr>
          <p:cNvPr id="5" name="Footer Placeholder 4"/>
          <p:cNvSpPr>
            <a:spLocks noGrp="1"/>
          </p:cNvSpPr>
          <p:nvPr>
            <p:ph type="ftr" sz="quarter" idx="11"/>
          </p:nvPr>
        </p:nvSpPr>
        <p:spPr/>
        <p:txBody>
          <a:bodyPr/>
          <a:lstStyle/>
          <a:p>
            <a:pPr>
              <a:defRPr/>
            </a:pPr>
            <a:endParaRPr lang="ru-RU"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D1014E50-EDBB-9543-B7EE-E88C7D6BE5E6}" type="slidenum">
              <a:rPr lang="ru-RU" smtClean="0"/>
              <a:pPr/>
              <a:t>‹#›</a:t>
            </a:fld>
            <a:endParaRPr lang="ru-RU" dirty="0"/>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F9EDEE12-F4DC-6C4D-A494-E82755247A26}" type="datetimeFigureOut">
              <a:rPr lang="ru-RU" smtClean="0"/>
              <a:pPr/>
              <a:t>20.04.2017</a:t>
            </a:fld>
            <a:endParaRPr lang="ru-RU" dirty="0"/>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D1014E50-EDBB-9543-B7EE-E88C7D6BE5E6}" type="slidenum">
              <a:rPr lang="ru-RU" smtClean="0"/>
              <a:pPr/>
              <a:t>‹#›</a:t>
            </a:fld>
            <a:endParaRPr lang="ru-RU" dirty="0"/>
          </a:p>
        </p:txBody>
      </p:sp>
      <p:sp>
        <p:nvSpPr>
          <p:cNvPr id="14" name="Footer Placeholder 13"/>
          <p:cNvSpPr>
            <a:spLocks noGrp="1"/>
          </p:cNvSpPr>
          <p:nvPr>
            <p:ph type="ftr" sz="quarter" idx="12"/>
          </p:nvPr>
        </p:nvSpPr>
        <p:spPr/>
        <p:txBody>
          <a:bodyPr/>
          <a:lstStyle/>
          <a:p>
            <a:pPr>
              <a:defRPr/>
            </a:pPr>
            <a:endParaRPr lang="ru-RU"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F9EDEE12-F4DC-6C4D-A494-E82755247A26}" type="datetimeFigureOut">
              <a:rPr lang="ru-RU" smtClean="0"/>
              <a:pPr/>
              <a:t>20.04.2017</a:t>
            </a:fld>
            <a:endParaRPr lang="ru-RU" dirty="0"/>
          </a:p>
        </p:txBody>
      </p:sp>
      <p:sp>
        <p:nvSpPr>
          <p:cNvPr id="10" name="Slide Number Placeholder 9"/>
          <p:cNvSpPr>
            <a:spLocks noGrp="1"/>
          </p:cNvSpPr>
          <p:nvPr>
            <p:ph type="sldNum" sz="quarter" idx="16"/>
          </p:nvPr>
        </p:nvSpPr>
        <p:spPr/>
        <p:txBody>
          <a:bodyPr rtlCol="0"/>
          <a:lstStyle/>
          <a:p>
            <a:fld id="{D1014E50-EDBB-9543-B7EE-E88C7D6BE5E6}" type="slidenum">
              <a:rPr lang="ru-RU" smtClean="0"/>
              <a:pPr/>
              <a:t>‹#›</a:t>
            </a:fld>
            <a:endParaRPr lang="ru-RU" dirty="0"/>
          </a:p>
        </p:txBody>
      </p:sp>
      <p:sp>
        <p:nvSpPr>
          <p:cNvPr id="12" name="Footer Placeholder 11"/>
          <p:cNvSpPr>
            <a:spLocks noGrp="1"/>
          </p:cNvSpPr>
          <p:nvPr>
            <p:ph type="ftr" sz="quarter" idx="17"/>
          </p:nvPr>
        </p:nvSpPr>
        <p:spPr/>
        <p:txBody>
          <a:bodyPr rtlCol="0"/>
          <a:lstStyle/>
          <a:p>
            <a:pPr>
              <a:defRPr/>
            </a:pPr>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F9EDEE12-F4DC-6C4D-A494-E82755247A26}" type="datetimeFigureOut">
              <a:rPr lang="ru-RU" smtClean="0"/>
              <a:pPr/>
              <a:t>20.04.2017</a:t>
            </a:fld>
            <a:endParaRPr lang="ru-RU" dirty="0"/>
          </a:p>
        </p:txBody>
      </p:sp>
      <p:sp>
        <p:nvSpPr>
          <p:cNvPr id="12" name="Slide Number Placeholder 11"/>
          <p:cNvSpPr>
            <a:spLocks noGrp="1"/>
          </p:cNvSpPr>
          <p:nvPr>
            <p:ph type="sldNum" sz="quarter" idx="16"/>
          </p:nvPr>
        </p:nvSpPr>
        <p:spPr/>
        <p:txBody>
          <a:bodyPr rtlCol="0"/>
          <a:lstStyle/>
          <a:p>
            <a:fld id="{D1014E50-EDBB-9543-B7EE-E88C7D6BE5E6}" type="slidenum">
              <a:rPr lang="ru-RU" smtClean="0"/>
              <a:pPr/>
              <a:t>‹#›</a:t>
            </a:fld>
            <a:endParaRPr lang="ru-RU" dirty="0"/>
          </a:p>
        </p:txBody>
      </p:sp>
      <p:sp>
        <p:nvSpPr>
          <p:cNvPr id="14" name="Footer Placeholder 13"/>
          <p:cNvSpPr>
            <a:spLocks noGrp="1"/>
          </p:cNvSpPr>
          <p:nvPr>
            <p:ph type="ftr" sz="quarter" idx="17"/>
          </p:nvPr>
        </p:nvSpPr>
        <p:spPr/>
        <p:txBody>
          <a:bodyPr rtlCol="0"/>
          <a:lstStyle/>
          <a:p>
            <a:pPr>
              <a:defRPr/>
            </a:pPr>
            <a:endParaRPr lang="ru-RU"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9EDEE12-F4DC-6C4D-A494-E82755247A26}" type="datetimeFigureOut">
              <a:rPr lang="ru-RU" smtClean="0"/>
              <a:pPr/>
              <a:t>20.04.2017</a:t>
            </a:fld>
            <a:endParaRPr lang="ru-RU" dirty="0"/>
          </a:p>
        </p:txBody>
      </p:sp>
      <p:sp>
        <p:nvSpPr>
          <p:cNvPr id="4" name="Footer Placeholder 3"/>
          <p:cNvSpPr>
            <a:spLocks noGrp="1"/>
          </p:cNvSpPr>
          <p:nvPr>
            <p:ph type="ftr" sz="quarter" idx="11"/>
          </p:nvPr>
        </p:nvSpPr>
        <p:spPr/>
        <p:txBody>
          <a:bodyPr/>
          <a:lstStyle/>
          <a:p>
            <a:pPr>
              <a:defRPr/>
            </a:pPr>
            <a:endParaRPr lang="ru-RU"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D1014E50-EDBB-9543-B7EE-E88C7D6BE5E6}" type="slidenum">
              <a:rPr lang="ru-RU" smtClean="0"/>
              <a:pPr/>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EDEE12-F4DC-6C4D-A494-E82755247A26}" type="datetimeFigureOut">
              <a:rPr lang="ru-RU" smtClean="0"/>
              <a:pPr/>
              <a:t>20.04.2017</a:t>
            </a:fld>
            <a:endParaRPr lang="ru-RU" dirty="0"/>
          </a:p>
        </p:txBody>
      </p:sp>
      <p:sp>
        <p:nvSpPr>
          <p:cNvPr id="3" name="Footer Placeholder 2"/>
          <p:cNvSpPr>
            <a:spLocks noGrp="1"/>
          </p:cNvSpPr>
          <p:nvPr>
            <p:ph type="ftr" sz="quarter" idx="11"/>
          </p:nvPr>
        </p:nvSpPr>
        <p:spPr/>
        <p:txBody>
          <a:bodyPr/>
          <a:lstStyle/>
          <a:p>
            <a:pPr>
              <a:defRPr/>
            </a:pPr>
            <a:endParaRPr lang="ru-RU"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D1014E50-EDBB-9543-B7EE-E88C7D6BE5E6}" type="slidenum">
              <a:rPr lang="ru-RU" smtClean="0"/>
              <a:pPr/>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F9EDEE12-F4DC-6C4D-A494-E82755247A26}" type="datetimeFigureOut">
              <a:rPr lang="ru-RU" smtClean="0"/>
              <a:pPr/>
              <a:t>20.04.2017</a:t>
            </a:fld>
            <a:endParaRPr lang="ru-RU" dirty="0"/>
          </a:p>
        </p:txBody>
      </p:sp>
      <p:sp>
        <p:nvSpPr>
          <p:cNvPr id="6" name="Footer Placeholder 5"/>
          <p:cNvSpPr>
            <a:spLocks noGrp="1"/>
          </p:cNvSpPr>
          <p:nvPr>
            <p:ph type="ftr" sz="quarter" idx="11"/>
          </p:nvPr>
        </p:nvSpPr>
        <p:spPr/>
        <p:txBody>
          <a:bodyPr/>
          <a:lstStyle/>
          <a:p>
            <a:pPr>
              <a:defRPr/>
            </a:pPr>
            <a:endParaRPr lang="ru-RU"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D1014E50-EDBB-9543-B7EE-E88C7D6BE5E6}" type="slidenum">
              <a:rPr lang="ru-RU" smtClean="0"/>
              <a:pPr/>
              <a:t>‹#›</a:t>
            </a:fld>
            <a:endParaRPr lang="ru-RU"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Date Placeholder 11"/>
          <p:cNvSpPr>
            <a:spLocks noGrp="1"/>
          </p:cNvSpPr>
          <p:nvPr>
            <p:ph type="dt" sz="half" idx="10"/>
          </p:nvPr>
        </p:nvSpPr>
        <p:spPr>
          <a:xfrm>
            <a:off x="6248400" y="6248400"/>
            <a:ext cx="2667000" cy="365125"/>
          </a:xfrm>
        </p:spPr>
        <p:txBody>
          <a:bodyPr rtlCol="0"/>
          <a:lstStyle/>
          <a:p>
            <a:fld id="{F9EDEE12-F4DC-6C4D-A494-E82755247A26}" type="datetimeFigureOut">
              <a:rPr lang="ru-RU" smtClean="0"/>
              <a:pPr/>
              <a:t>20.04.2017</a:t>
            </a:fld>
            <a:endParaRPr lang="ru-RU" dirty="0"/>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D1014E50-EDBB-9543-B7EE-E88C7D6BE5E6}" type="slidenum">
              <a:rPr lang="ru-RU" smtClean="0"/>
              <a:pPr/>
              <a:t>‹#›</a:t>
            </a:fld>
            <a:endParaRPr lang="ru-RU" dirty="0"/>
          </a:p>
        </p:txBody>
      </p:sp>
      <p:sp>
        <p:nvSpPr>
          <p:cNvPr id="14" name="Footer Placeholder 13"/>
          <p:cNvSpPr>
            <a:spLocks noGrp="1"/>
          </p:cNvSpPr>
          <p:nvPr>
            <p:ph type="ftr" sz="quarter" idx="12"/>
          </p:nvPr>
        </p:nvSpPr>
        <p:spPr>
          <a:xfrm>
            <a:off x="1600200" y="6248206"/>
            <a:ext cx="4572000" cy="365125"/>
          </a:xfrm>
        </p:spPr>
        <p:txBody>
          <a:bodyPr rtlCol="0"/>
          <a:lstStyle/>
          <a:p>
            <a:pPr>
              <a:defRPr/>
            </a:pPr>
            <a:endParaRPr lang="ru-RU"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dirty="0" smtClean="0"/>
              <a:t>Drag picture to placeholder or click icon to add</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9EDEE12-F4DC-6C4D-A494-E82755247A26}" type="datetimeFigureOut">
              <a:rPr lang="ru-RU" smtClean="0"/>
              <a:pPr/>
              <a:t>20.04.2017</a:t>
            </a:fld>
            <a:endParaRPr lang="ru-RU" dirty="0"/>
          </a:p>
        </p:txBody>
      </p:sp>
      <p:sp>
        <p:nvSpPr>
          <p:cNvPr id="5" name="Footer Placeholder 4"/>
          <p:cNvSpPr>
            <a:spLocks noGrp="1"/>
          </p:cNvSpPr>
          <p:nvPr>
            <p:ph type="ftr" sz="quarter" idx="11"/>
          </p:nvPr>
        </p:nvSpPr>
        <p:spPr/>
        <p:txBody>
          <a:bodyPr/>
          <a:lstStyle/>
          <a:p>
            <a:pPr>
              <a:defRPr/>
            </a:pPr>
            <a:endParaRPr lang="ru-RU" dirty="0"/>
          </a:p>
        </p:txBody>
      </p:sp>
      <p:sp>
        <p:nvSpPr>
          <p:cNvPr id="6" name="Slide Number Placeholder 5"/>
          <p:cNvSpPr>
            <a:spLocks noGrp="1"/>
          </p:cNvSpPr>
          <p:nvPr>
            <p:ph type="sldNum" sz="quarter" idx="12"/>
          </p:nvPr>
        </p:nvSpPr>
        <p:spPr/>
        <p:txBody>
          <a:bodyPr/>
          <a:lstStyle/>
          <a:p>
            <a:fld id="{D1014E50-EDBB-9543-B7EE-E88C7D6BE5E6}" type="slidenum">
              <a:rPr lang="ru-RU" smtClean="0"/>
              <a:pPr/>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F9EDEE12-F4DC-6C4D-A494-E82755247A26}" type="datetimeFigureOut">
              <a:rPr lang="ru-RU" smtClean="0"/>
              <a:pPr/>
              <a:t>20.04.2017</a:t>
            </a:fld>
            <a:endParaRPr lang="ru-RU" dirty="0"/>
          </a:p>
        </p:txBody>
      </p:sp>
      <p:sp>
        <p:nvSpPr>
          <p:cNvPr id="5" name="Footer Placeholder 4"/>
          <p:cNvSpPr>
            <a:spLocks noGrp="1"/>
          </p:cNvSpPr>
          <p:nvPr>
            <p:ph type="ftr" sz="quarter" idx="11"/>
          </p:nvPr>
        </p:nvSpPr>
        <p:spPr>
          <a:xfrm>
            <a:off x="457201" y="6248207"/>
            <a:ext cx="5573483" cy="365125"/>
          </a:xfrm>
        </p:spPr>
        <p:txBody>
          <a:bodyPr/>
          <a:lstStyle/>
          <a:p>
            <a:pPr>
              <a:defRPr/>
            </a:pPr>
            <a:endParaRPr lang="ru-RU"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6" name="Slide Number Placeholder 5"/>
          <p:cNvSpPr>
            <a:spLocks noGrp="1"/>
          </p:cNvSpPr>
          <p:nvPr>
            <p:ph type="sldNum" sz="quarter" idx="12"/>
          </p:nvPr>
        </p:nvSpPr>
        <p:spPr>
          <a:xfrm rot="5400000">
            <a:off x="5989638" y="144462"/>
            <a:ext cx="533400" cy="244476"/>
          </a:xfrm>
        </p:spPr>
        <p:txBody>
          <a:bodyPr/>
          <a:lstStyle/>
          <a:p>
            <a:fld id="{D1014E50-EDBB-9543-B7EE-E88C7D6BE5E6}" type="slidenum">
              <a:rPr lang="ru-RU" smtClean="0"/>
              <a:pPr/>
              <a:t>‹#›</a:t>
            </a:fld>
            <a:endParaRPr lang="ru-RU"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9EDEE12-F4DC-6C4D-A494-E82755247A26}" type="datetimeFigureOut">
              <a:rPr lang="ru-RU" smtClean="0"/>
              <a:pPr/>
              <a:t>20.04.2017</a:t>
            </a:fld>
            <a:endParaRPr lang="ru-RU" dirty="0"/>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ru-RU"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D1014E50-EDBB-9543-B7EE-E88C7D6BE5E6}" type="slidenum">
              <a:rPr lang="ru-RU" smtClean="0"/>
              <a:pPr/>
              <a:t>‹#›</a:t>
            </a:fld>
            <a:endParaRPr lang="ru-RU" dirty="0"/>
          </a:p>
        </p:txBody>
      </p:sp>
    </p:spTree>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en.wikipedia.org/wiki/Ques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commons.wikipedia.org/wiki/Image:Interview.jp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thestaffingadvisor.files.wordpress.com/2009/05/panel-interview1.jp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3035" y="4179528"/>
            <a:ext cx="6706165" cy="1687872"/>
          </a:xfrm>
        </p:spPr>
        <p:txBody>
          <a:bodyPr/>
          <a:lstStyle/>
          <a:p>
            <a:r>
              <a:rPr lang="en-US" b="1" dirty="0" smtClean="0"/>
              <a:t>Interview and its various Types</a:t>
            </a:r>
            <a:endParaRPr lang="en-US" b="1" dirty="0"/>
          </a:p>
        </p:txBody>
      </p:sp>
      <p:sp>
        <p:nvSpPr>
          <p:cNvPr id="3" name="Subtitle 2"/>
          <p:cNvSpPr>
            <a:spLocks noGrp="1"/>
          </p:cNvSpPr>
          <p:nvPr>
            <p:ph type="subTitle" idx="1"/>
          </p:nvPr>
        </p:nvSpPr>
        <p:spPr/>
        <p:txBody>
          <a:bodyPr>
            <a:normAutofit/>
          </a:bodyPr>
          <a:lstStyle/>
          <a:p>
            <a:endParaRPr lang="en-US" dirty="0"/>
          </a:p>
        </p:txBody>
      </p:sp>
      <p:pic>
        <p:nvPicPr>
          <p:cNvPr id="5" name="Picture 4"/>
          <p:cNvPicPr>
            <a:picLocks noChangeAspect="1"/>
          </p:cNvPicPr>
          <p:nvPr/>
        </p:nvPicPr>
        <p:blipFill>
          <a:blip r:embed="rId2" cstate="print"/>
          <a:stretch>
            <a:fillRect/>
          </a:stretch>
        </p:blipFill>
        <p:spPr>
          <a:xfrm>
            <a:off x="698640" y="675580"/>
            <a:ext cx="4368580" cy="3194524"/>
          </a:xfrm>
          <a:prstGeom prst="rect">
            <a:avLst/>
          </a:prstGeom>
        </p:spPr>
      </p:pic>
    </p:spTree>
    <p:extLst>
      <p:ext uri="{BB962C8B-B14F-4D97-AF65-F5344CB8AC3E}">
        <p14:creationId xmlns:p14="http://schemas.microsoft.com/office/powerpoint/2010/main" xmlns="" val="371910415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Заголовок 1"/>
          <p:cNvSpPr>
            <a:spLocks noGrp="1"/>
          </p:cNvSpPr>
          <p:nvPr>
            <p:ph type="title"/>
          </p:nvPr>
        </p:nvSpPr>
        <p:spPr/>
        <p:txBody>
          <a:bodyPr/>
          <a:lstStyle/>
          <a:p>
            <a:pPr algn="ctr"/>
            <a:r>
              <a:rPr lang="en-US" b="1" dirty="0">
                <a:latin typeface="Calibri" charset="0"/>
              </a:rPr>
              <a:t>What is an interview?</a:t>
            </a:r>
            <a:endParaRPr lang="ru-RU" b="1" dirty="0">
              <a:latin typeface="Calibri" charset="0"/>
            </a:endParaRPr>
          </a:p>
        </p:txBody>
      </p:sp>
      <p:sp>
        <p:nvSpPr>
          <p:cNvPr id="3" name="Содержимое 2"/>
          <p:cNvSpPr>
            <a:spLocks noGrp="1"/>
          </p:cNvSpPr>
          <p:nvPr>
            <p:ph sz="quarter" idx="1"/>
          </p:nvPr>
        </p:nvSpPr>
        <p:spPr/>
        <p:txBody>
          <a:bodyPr numCol="2">
            <a:normAutofit/>
          </a:bodyPr>
          <a:lstStyle/>
          <a:p>
            <a:pPr marL="0" indent="0" fontAlgn="auto">
              <a:spcAft>
                <a:spcPts val="0"/>
              </a:spcAft>
              <a:buClr>
                <a:schemeClr val="accent3"/>
              </a:buClr>
              <a:buNone/>
              <a:defRPr/>
            </a:pPr>
            <a:r>
              <a:rPr lang="en-US" dirty="0" smtClean="0">
                <a:ea typeface="+mn-ea"/>
              </a:rPr>
              <a:t>The term interview has  been derived from the </a:t>
            </a:r>
            <a:r>
              <a:rPr lang="en-US" dirty="0"/>
              <a:t>F</a:t>
            </a:r>
            <a:r>
              <a:rPr lang="en-US" dirty="0" smtClean="0">
                <a:ea typeface="+mn-ea"/>
              </a:rPr>
              <a:t>rench word </a:t>
            </a:r>
            <a:r>
              <a:rPr lang="en-US" dirty="0" smtClean="0">
                <a:solidFill>
                  <a:srgbClr val="FF0000"/>
                </a:solidFill>
              </a:rPr>
              <a:t>entre voir </a:t>
            </a:r>
            <a:r>
              <a:rPr lang="en-US" dirty="0" smtClean="0"/>
              <a:t>that means to glimpse or to see each other.</a:t>
            </a:r>
          </a:p>
          <a:p>
            <a:pPr marL="0" indent="0" fontAlgn="auto">
              <a:spcAft>
                <a:spcPts val="0"/>
              </a:spcAft>
              <a:buClr>
                <a:schemeClr val="accent3"/>
              </a:buClr>
              <a:buNone/>
              <a:defRPr/>
            </a:pPr>
            <a:r>
              <a:rPr lang="en-US" dirty="0" smtClean="0">
                <a:ea typeface="+mn-ea"/>
              </a:rPr>
              <a:t>By definition it means a meeting for obtaining information by questioning a person or persons.</a:t>
            </a:r>
          </a:p>
          <a:p>
            <a:pPr marL="0" indent="0" fontAlgn="auto">
              <a:spcAft>
                <a:spcPts val="0"/>
              </a:spcAft>
              <a:buClr>
                <a:schemeClr val="accent3"/>
              </a:buClr>
              <a:buNone/>
              <a:defRPr/>
            </a:pPr>
            <a:endParaRPr lang="en-US" dirty="0" smtClean="0">
              <a:ea typeface="+mn-ea"/>
            </a:endParaRPr>
          </a:p>
          <a:p>
            <a:pPr marL="274320" indent="-274320" fontAlgn="auto">
              <a:spcAft>
                <a:spcPts val="0"/>
              </a:spcAft>
              <a:buClr>
                <a:schemeClr val="accent3"/>
              </a:buClr>
              <a:buFont typeface="Wingdings 2"/>
              <a:buChar char=""/>
              <a:defRPr/>
            </a:pPr>
            <a:endParaRPr lang="en-US" dirty="0"/>
          </a:p>
          <a:p>
            <a:pPr marL="274320" indent="-274320" fontAlgn="auto">
              <a:spcAft>
                <a:spcPts val="0"/>
              </a:spcAft>
              <a:buClr>
                <a:schemeClr val="accent3"/>
              </a:buClr>
              <a:buFont typeface="Wingdings 2"/>
              <a:buChar char=""/>
              <a:defRPr/>
            </a:pPr>
            <a:endParaRPr lang="en-US" dirty="0" smtClean="0">
              <a:ea typeface="+mn-ea"/>
            </a:endParaRPr>
          </a:p>
          <a:p>
            <a:pPr marL="274320" indent="-274320" fontAlgn="auto">
              <a:spcAft>
                <a:spcPts val="0"/>
              </a:spcAft>
              <a:buClr>
                <a:schemeClr val="accent3"/>
              </a:buClr>
              <a:buFont typeface="Wingdings 2"/>
              <a:buChar char=""/>
              <a:defRPr/>
            </a:pPr>
            <a:endParaRPr lang="en-US" dirty="0"/>
          </a:p>
          <a:p>
            <a:pPr marL="274320" indent="-274320" fontAlgn="auto">
              <a:spcAft>
                <a:spcPts val="0"/>
              </a:spcAft>
              <a:buClr>
                <a:schemeClr val="accent3"/>
              </a:buClr>
              <a:buFont typeface="Wingdings 2"/>
              <a:buChar char=""/>
              <a:defRPr/>
            </a:pPr>
            <a:endParaRPr lang="en-US" dirty="0" smtClean="0">
              <a:ea typeface="+mn-ea"/>
            </a:endParaRPr>
          </a:p>
          <a:p>
            <a:pPr marL="274320" indent="-274320" fontAlgn="auto">
              <a:spcAft>
                <a:spcPts val="0"/>
              </a:spcAft>
              <a:buClr>
                <a:schemeClr val="accent3"/>
              </a:buClr>
              <a:buFont typeface="Wingdings 2"/>
              <a:buChar char=""/>
              <a:defRPr/>
            </a:pPr>
            <a:endParaRPr lang="en-US" dirty="0"/>
          </a:p>
          <a:p>
            <a:pPr marL="274320" indent="-274320" fontAlgn="auto">
              <a:spcAft>
                <a:spcPts val="0"/>
              </a:spcAft>
              <a:buClr>
                <a:schemeClr val="accent3"/>
              </a:buClr>
              <a:buFont typeface="Wingdings 2"/>
              <a:buChar char=""/>
              <a:defRPr/>
            </a:pPr>
            <a:endParaRPr lang="en-US" dirty="0" smtClean="0">
              <a:ea typeface="+mn-ea"/>
            </a:endParaRPr>
          </a:p>
          <a:p>
            <a:pPr marL="274320" indent="-274320" fontAlgn="auto">
              <a:spcAft>
                <a:spcPts val="0"/>
              </a:spcAft>
              <a:buClr>
                <a:schemeClr val="accent3"/>
              </a:buClr>
              <a:buFont typeface="Wingdings 2"/>
              <a:buChar char=""/>
              <a:defRPr/>
            </a:pPr>
            <a:endParaRPr lang="en-US" dirty="0"/>
          </a:p>
          <a:p>
            <a:pPr marL="274320" indent="-274320" fontAlgn="auto">
              <a:spcAft>
                <a:spcPts val="0"/>
              </a:spcAft>
              <a:buClr>
                <a:schemeClr val="accent3"/>
              </a:buClr>
              <a:buFont typeface="Wingdings 2"/>
              <a:buChar char=""/>
              <a:defRPr/>
            </a:pPr>
            <a:endParaRPr lang="en-US" dirty="0" smtClean="0">
              <a:ea typeface="+mn-ea"/>
            </a:endParaRPr>
          </a:p>
          <a:p>
            <a:pPr marL="274320" indent="-274320" fontAlgn="auto">
              <a:spcAft>
                <a:spcPts val="0"/>
              </a:spcAft>
              <a:buClr>
                <a:schemeClr val="accent3"/>
              </a:buClr>
              <a:buFont typeface="Wingdings 2"/>
              <a:buChar char=""/>
              <a:defRPr/>
            </a:pPr>
            <a:endParaRPr lang="en-US" dirty="0"/>
          </a:p>
          <a:p>
            <a:pPr marL="274320" indent="-274320" fontAlgn="auto">
              <a:spcAft>
                <a:spcPts val="0"/>
              </a:spcAft>
              <a:buClr>
                <a:schemeClr val="accent3"/>
              </a:buClr>
              <a:buFont typeface="Wingdings 2"/>
              <a:buChar char=""/>
              <a:defRPr/>
            </a:pPr>
            <a:endParaRPr lang="en-US" dirty="0" smtClean="0">
              <a:ea typeface="+mn-ea"/>
            </a:endParaRPr>
          </a:p>
          <a:p>
            <a:pPr marL="274320" indent="-274320" fontAlgn="auto">
              <a:spcAft>
                <a:spcPts val="0"/>
              </a:spcAft>
              <a:buClr>
                <a:schemeClr val="accent3"/>
              </a:buClr>
              <a:buFont typeface="Wingdings 2"/>
              <a:buChar char=""/>
              <a:defRPr/>
            </a:pPr>
            <a:endParaRPr lang="en-US" dirty="0"/>
          </a:p>
          <a:p>
            <a:pPr marL="274320" indent="-274320" fontAlgn="auto">
              <a:spcAft>
                <a:spcPts val="0"/>
              </a:spcAft>
              <a:buClr>
                <a:schemeClr val="accent3"/>
              </a:buClr>
              <a:buFont typeface="Wingdings 2"/>
              <a:buChar char=""/>
              <a:defRPr/>
            </a:pPr>
            <a:endParaRPr lang="en-US" dirty="0" smtClean="0">
              <a:ea typeface="+mn-ea"/>
            </a:endParaRPr>
          </a:p>
          <a:p>
            <a:pPr marL="274320" indent="-274320" fontAlgn="auto">
              <a:spcAft>
                <a:spcPts val="0"/>
              </a:spcAft>
              <a:buClr>
                <a:schemeClr val="accent3"/>
              </a:buClr>
              <a:buFont typeface="Wingdings 2"/>
              <a:buChar char=""/>
              <a:defRPr/>
            </a:pPr>
            <a:endParaRPr lang="en-US" dirty="0"/>
          </a:p>
          <a:p>
            <a:pPr marL="274320" indent="-274320" fontAlgn="auto">
              <a:spcAft>
                <a:spcPts val="0"/>
              </a:spcAft>
              <a:buClr>
                <a:schemeClr val="accent3"/>
              </a:buClr>
              <a:buFont typeface="Wingdings 2"/>
              <a:buChar char=""/>
              <a:defRPr/>
            </a:pPr>
            <a:endParaRPr lang="en-US" dirty="0" smtClean="0">
              <a:ea typeface="+mn-ea"/>
            </a:endParaRPr>
          </a:p>
          <a:p>
            <a:pPr marL="274320" indent="-274320" fontAlgn="auto">
              <a:spcAft>
                <a:spcPts val="0"/>
              </a:spcAft>
              <a:buClr>
                <a:schemeClr val="accent3"/>
              </a:buClr>
              <a:buFont typeface="Wingdings 2"/>
              <a:buChar char=""/>
              <a:defRPr/>
            </a:pPr>
            <a:endParaRPr lang="en-US" dirty="0"/>
          </a:p>
          <a:p>
            <a:pPr marL="274320" indent="-274320" fontAlgn="auto">
              <a:spcAft>
                <a:spcPts val="0"/>
              </a:spcAft>
              <a:buClr>
                <a:schemeClr val="accent3"/>
              </a:buClr>
              <a:buFont typeface="Wingdings 2"/>
              <a:buChar char=""/>
              <a:defRPr/>
            </a:pPr>
            <a:endParaRPr lang="en-US" dirty="0" smtClean="0">
              <a:ea typeface="+mn-ea"/>
            </a:endParaRPr>
          </a:p>
          <a:p>
            <a:pPr marL="274320" indent="-274320" fontAlgn="auto">
              <a:spcAft>
                <a:spcPts val="0"/>
              </a:spcAft>
              <a:buClr>
                <a:schemeClr val="accent3"/>
              </a:buClr>
              <a:buFont typeface="Wingdings 2"/>
              <a:buChar char=""/>
              <a:defRPr/>
            </a:pPr>
            <a:endParaRPr lang="en-US" dirty="0"/>
          </a:p>
          <a:p>
            <a:pPr marL="274320" indent="-274320" fontAlgn="auto">
              <a:spcAft>
                <a:spcPts val="0"/>
              </a:spcAft>
              <a:buClr>
                <a:schemeClr val="accent3"/>
              </a:buClr>
              <a:buFont typeface="Wingdings 2"/>
              <a:buChar char=""/>
              <a:defRPr/>
            </a:pPr>
            <a:endParaRPr lang="en-US" dirty="0" smtClean="0">
              <a:ea typeface="+mn-ea"/>
            </a:endParaRPr>
          </a:p>
          <a:p>
            <a:pPr marL="274320" indent="-274320" fontAlgn="auto">
              <a:spcAft>
                <a:spcPts val="0"/>
              </a:spcAft>
              <a:buClr>
                <a:schemeClr val="accent3"/>
              </a:buClr>
              <a:buFont typeface="Wingdings 2"/>
              <a:buChar char=""/>
              <a:defRPr/>
            </a:pPr>
            <a:endParaRPr lang="en-US" dirty="0"/>
          </a:p>
          <a:p>
            <a:pPr marL="274320" indent="-274320" fontAlgn="auto">
              <a:spcAft>
                <a:spcPts val="0"/>
              </a:spcAft>
              <a:buClr>
                <a:schemeClr val="accent3"/>
              </a:buClr>
              <a:buFont typeface="Wingdings 2"/>
              <a:buChar char=""/>
              <a:defRPr/>
            </a:pPr>
            <a:endParaRPr lang="en-US" dirty="0" smtClean="0">
              <a:ea typeface="+mn-ea"/>
            </a:endParaRPr>
          </a:p>
          <a:p>
            <a:pPr marL="274320" indent="-274320" fontAlgn="auto">
              <a:spcAft>
                <a:spcPts val="0"/>
              </a:spcAft>
              <a:buClr>
                <a:schemeClr val="accent3"/>
              </a:buClr>
              <a:buFont typeface="Wingdings 2"/>
              <a:buChar char=""/>
              <a:defRPr/>
            </a:pPr>
            <a:endParaRPr lang="en-US" dirty="0"/>
          </a:p>
        </p:txBody>
      </p:sp>
      <p:pic>
        <p:nvPicPr>
          <p:cNvPr id="6148" name="Picture 2" descr="http://2.bp.blogspot.com/-9a8IRWSWaiQ/TYn5tZTVZoI/AAAAAAAAHmE/RYmHC9pw40Y/s1600/Interview.preview.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48200" y="2276475"/>
            <a:ext cx="4160838" cy="2081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9552" y="1700808"/>
            <a:ext cx="8226496" cy="4395192"/>
          </a:xfrm>
        </p:spPr>
        <p:txBody>
          <a:bodyPr/>
          <a:lstStyle/>
          <a:p>
            <a:r>
              <a:rPr lang="en-US" dirty="0" smtClean="0"/>
              <a:t>A formal meeting at which somebody is asked questions to see if they are suitable for a particular job or course of study of a college/university.</a:t>
            </a:r>
          </a:p>
          <a:p>
            <a:r>
              <a:rPr lang="en-US" dirty="0" smtClean="0"/>
              <a:t>Private meeting between people where questions are asked and answered.</a:t>
            </a:r>
          </a:p>
          <a:p>
            <a:r>
              <a:rPr lang="en-US" dirty="0" smtClean="0"/>
              <a:t>To ask somebody about their life, opinions especially on radio or television or for the newspaper or magazine.</a:t>
            </a:r>
          </a:p>
          <a:p>
            <a:r>
              <a:rPr lang="en-US" dirty="0" smtClean="0"/>
              <a:t>To give an interview is to agree to answer questions.</a:t>
            </a:r>
          </a:p>
          <a:p>
            <a:endParaRPr lang="en-US" dirty="0"/>
          </a:p>
        </p:txBody>
      </p:sp>
      <p:sp>
        <p:nvSpPr>
          <p:cNvPr id="4" name="TextBox 3"/>
          <p:cNvSpPr txBox="1"/>
          <p:nvPr/>
        </p:nvSpPr>
        <p:spPr>
          <a:xfrm>
            <a:off x="395536" y="188641"/>
            <a:ext cx="8568952" cy="1323439"/>
          </a:xfrm>
          <a:prstGeom prst="rect">
            <a:avLst/>
          </a:prstGeom>
          <a:noFill/>
        </p:spPr>
        <p:txBody>
          <a:bodyPr wrap="square" rtlCol="0">
            <a:spAutoFit/>
          </a:bodyPr>
          <a:lstStyle/>
          <a:p>
            <a:pPr marL="0" indent="0" algn="ctr">
              <a:buNone/>
            </a:pPr>
            <a:r>
              <a:rPr lang="en-US" sz="4000" b="1" dirty="0" smtClean="0">
                <a:solidFill>
                  <a:schemeClr val="tx2"/>
                </a:solidFill>
                <a:latin typeface="+mj-lt"/>
                <a:cs typeface="Tw Cen MT (Headings)"/>
              </a:rPr>
              <a:t>Interview as defined by The Oxford Advanced Learner’s dictionary</a:t>
            </a:r>
            <a:endParaRPr lang="ru-RU" sz="4000" b="1" dirty="0">
              <a:solidFill>
                <a:schemeClr val="tx2"/>
              </a:solidFill>
              <a:latin typeface="+mj-lt"/>
              <a:cs typeface="Tw Cen MT (Headings)"/>
            </a:endParaRPr>
          </a:p>
        </p:txBody>
      </p:sp>
    </p:spTree>
    <p:extLst>
      <p:ext uri="{BB962C8B-B14F-4D97-AF65-F5344CB8AC3E}">
        <p14:creationId xmlns:p14="http://schemas.microsoft.com/office/powerpoint/2010/main" xmlns="" val="16000486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fontAlgn="auto">
              <a:spcAft>
                <a:spcPts val="0"/>
              </a:spcAft>
              <a:defRPr/>
            </a:pPr>
            <a:r>
              <a:rPr lang="en-US" b="1" dirty="0" smtClean="0"/>
              <a:t>Meaning of the term ‘Interview’</a:t>
            </a:r>
            <a:endParaRPr lang="ru-RU" b="1" dirty="0"/>
          </a:p>
        </p:txBody>
      </p:sp>
      <p:sp>
        <p:nvSpPr>
          <p:cNvPr id="7171" name="Содержимое 2"/>
          <p:cNvSpPr>
            <a:spLocks noGrp="1"/>
          </p:cNvSpPr>
          <p:nvPr>
            <p:ph sz="quarter" idx="1"/>
          </p:nvPr>
        </p:nvSpPr>
        <p:spPr/>
        <p:txBody>
          <a:bodyPr>
            <a:normAutofit/>
          </a:bodyPr>
          <a:lstStyle/>
          <a:p>
            <a:pPr algn="just">
              <a:buFont typeface="Wingdings" charset="2"/>
              <a:buChar char="u"/>
            </a:pPr>
            <a:r>
              <a:rPr lang="en-US" sz="2400" dirty="0">
                <a:latin typeface="Constantia"/>
                <a:cs typeface="Constantia"/>
              </a:rPr>
              <a:t>Basically ,an </a:t>
            </a:r>
            <a:r>
              <a:rPr lang="en-US" sz="2400" b="1" dirty="0">
                <a:latin typeface="Constantia"/>
                <a:cs typeface="Constantia"/>
              </a:rPr>
              <a:t>interview</a:t>
            </a:r>
            <a:r>
              <a:rPr lang="en-US" sz="2400" dirty="0">
                <a:latin typeface="Constantia"/>
                <a:cs typeface="Constantia"/>
              </a:rPr>
              <a:t> is a conversation between two people (the interviewer and the interviewee) where </a:t>
            </a:r>
            <a:r>
              <a:rPr lang="en-US" sz="2400" u="sng" dirty="0">
                <a:latin typeface="Constantia"/>
                <a:cs typeface="Constantia"/>
                <a:hlinkClick r:id="rId2" action="ppaction://hlinkfile" tooltip="Question"/>
              </a:rPr>
              <a:t>questions</a:t>
            </a:r>
            <a:r>
              <a:rPr lang="en-US" sz="2400" dirty="0">
                <a:latin typeface="Constantia"/>
                <a:cs typeface="Constantia"/>
              </a:rPr>
              <a:t> are asked by the interviewer to obtain information from the interviewee.</a:t>
            </a:r>
          </a:p>
          <a:p>
            <a:pPr algn="just">
              <a:buFont typeface="Wingdings" charset="2"/>
              <a:buChar char="u"/>
            </a:pPr>
            <a:r>
              <a:rPr lang="en-US" sz="2400" dirty="0" smtClean="0">
                <a:latin typeface="Constantia"/>
                <a:cs typeface="Constantia"/>
              </a:rPr>
              <a:t>The </a:t>
            </a:r>
            <a:r>
              <a:rPr lang="en-US" sz="2400" dirty="0">
                <a:latin typeface="Constantia"/>
                <a:cs typeface="Constantia"/>
              </a:rPr>
              <a:t>word interview can </a:t>
            </a:r>
            <a:r>
              <a:rPr lang="en-US" sz="2400" dirty="0" smtClean="0">
                <a:latin typeface="Constantia"/>
                <a:cs typeface="Constantia"/>
              </a:rPr>
              <a:t>have different meanings. </a:t>
            </a:r>
            <a:r>
              <a:rPr lang="en-US" sz="2400" dirty="0">
                <a:latin typeface="Constantia"/>
                <a:cs typeface="Constantia"/>
              </a:rPr>
              <a:t>For example a reporter interviews a celebrity for television. This kind of interviews can be </a:t>
            </a:r>
            <a:r>
              <a:rPr lang="en-US" sz="2400" dirty="0">
                <a:solidFill>
                  <a:srgbClr val="FF0000"/>
                </a:solidFill>
                <a:latin typeface="Constantia"/>
                <a:cs typeface="Constantia"/>
              </a:rPr>
              <a:t>one-on-one</a:t>
            </a:r>
            <a:r>
              <a:rPr lang="en-US" sz="2400" dirty="0">
                <a:latin typeface="Constantia"/>
                <a:cs typeface="Constantia"/>
              </a:rPr>
              <a:t> but usually when it comes to television there are many reporters from different channels</a:t>
            </a:r>
            <a:r>
              <a:rPr lang="en-US" sz="2400" dirty="0" smtClean="0">
                <a:latin typeface="Constantia"/>
                <a:cs typeface="Constantia"/>
              </a:rPr>
              <a:t>.</a:t>
            </a:r>
          </a:p>
          <a:p>
            <a:pPr algn="just">
              <a:buFont typeface="Wingdings" charset="2"/>
              <a:buChar char="u"/>
            </a:pPr>
            <a:endParaRPr lang="en-US" dirty="0">
              <a:latin typeface="Constantia" charset="0"/>
            </a:endParaRPr>
          </a:p>
        </p:txBody>
      </p:sp>
    </p:spTree>
  </p:cSld>
  <p:clrMapOvr>
    <a:masterClrMapping/>
  </p:clrMapOvr>
  <p:transition>
    <p:pull dir="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9552" y="1124744"/>
            <a:ext cx="8064896" cy="5184576"/>
          </a:xfrm>
        </p:spPr>
        <p:txBody>
          <a:bodyPr>
            <a:normAutofit fontScale="25000" lnSpcReduction="20000"/>
          </a:bodyPr>
          <a:lstStyle/>
          <a:p>
            <a:pPr algn="just">
              <a:lnSpc>
                <a:spcPct val="140000"/>
              </a:lnSpc>
              <a:buFont typeface="Wingdings" charset="2"/>
              <a:buChar char="u"/>
            </a:pPr>
            <a:endParaRPr lang="en-US" sz="5100" dirty="0" smtClean="0">
              <a:latin typeface="Constantia" charset="0"/>
            </a:endParaRPr>
          </a:p>
          <a:p>
            <a:pPr algn="just">
              <a:lnSpc>
                <a:spcPct val="140000"/>
              </a:lnSpc>
              <a:buFont typeface="Wingdings" charset="2"/>
              <a:buChar char="u"/>
            </a:pPr>
            <a:r>
              <a:rPr lang="en-US" sz="9600" dirty="0" smtClean="0">
                <a:latin typeface="Constantia" charset="0"/>
              </a:rPr>
              <a:t>There </a:t>
            </a:r>
            <a:r>
              <a:rPr lang="en-US" sz="9600" dirty="0">
                <a:latin typeface="Constantia" charset="0"/>
              </a:rPr>
              <a:t>are also </a:t>
            </a:r>
            <a:r>
              <a:rPr lang="en-US" sz="9600" dirty="0">
                <a:solidFill>
                  <a:srgbClr val="FF0000"/>
                </a:solidFill>
                <a:latin typeface="Constantia" charset="0"/>
              </a:rPr>
              <a:t>job interviews </a:t>
            </a:r>
            <a:r>
              <a:rPr lang="en-US" sz="9600" dirty="0">
                <a:latin typeface="Constantia" charset="0"/>
              </a:rPr>
              <a:t>which a person has to go through in order to get a job he wants. Job interviews are </a:t>
            </a:r>
            <a:r>
              <a:rPr lang="en-US" sz="9600" dirty="0">
                <a:solidFill>
                  <a:srgbClr val="FF0000"/>
                </a:solidFill>
                <a:latin typeface="Constantia" charset="0"/>
              </a:rPr>
              <a:t>usually face-to-face interviews</a:t>
            </a:r>
            <a:r>
              <a:rPr lang="en-US" sz="9600" dirty="0">
                <a:latin typeface="Constantia" charset="0"/>
              </a:rPr>
              <a:t> </a:t>
            </a:r>
            <a:r>
              <a:rPr lang="en-US" sz="9600" dirty="0" smtClean="0">
                <a:latin typeface="Constantia" charset="0"/>
              </a:rPr>
              <a:t>and include </a:t>
            </a:r>
            <a:r>
              <a:rPr lang="en-US" sz="9600" dirty="0">
                <a:latin typeface="Constantia" charset="0"/>
              </a:rPr>
              <a:t>paperwork.</a:t>
            </a:r>
            <a:endParaRPr lang="ru-RU" sz="9600" dirty="0">
              <a:latin typeface="Constantia" charset="0"/>
            </a:endParaRPr>
          </a:p>
          <a:p>
            <a:pPr algn="just">
              <a:lnSpc>
                <a:spcPct val="140000"/>
              </a:lnSpc>
              <a:buFont typeface="Wingdings" charset="2"/>
              <a:buChar char="u"/>
            </a:pPr>
            <a:r>
              <a:rPr lang="en-US" sz="9600" dirty="0" smtClean="0">
                <a:latin typeface="Constantia" charset="0"/>
              </a:rPr>
              <a:t>During </a:t>
            </a:r>
            <a:r>
              <a:rPr lang="en-US" sz="9600" dirty="0">
                <a:latin typeface="Constantia" charset="0"/>
              </a:rPr>
              <a:t>an interview you can expect to be asked questions </a:t>
            </a:r>
            <a:r>
              <a:rPr lang="en-US" sz="9600" dirty="0" smtClean="0">
                <a:latin typeface="Constantia" charset="0"/>
              </a:rPr>
              <a:t>about </a:t>
            </a:r>
            <a:r>
              <a:rPr lang="en-US" sz="9600" dirty="0">
                <a:latin typeface="Constantia" charset="0"/>
              </a:rPr>
              <a:t>your </a:t>
            </a:r>
            <a:r>
              <a:rPr lang="en-US" sz="9600" dirty="0">
                <a:solidFill>
                  <a:srgbClr val="FF0000"/>
                </a:solidFill>
                <a:latin typeface="Constantia" charset="0"/>
              </a:rPr>
              <a:t>educational background, previous work experiences and questions relating to your personal characteristics and goals</a:t>
            </a:r>
            <a:r>
              <a:rPr lang="en-US" sz="9600" dirty="0">
                <a:latin typeface="Constantia" charset="0"/>
              </a:rPr>
              <a:t>. But what happens after that? It depends on what </a:t>
            </a:r>
            <a:r>
              <a:rPr lang="en-US" sz="9600" dirty="0">
                <a:solidFill>
                  <a:srgbClr val="FF0000"/>
                </a:solidFill>
                <a:latin typeface="Constantia" charset="0"/>
              </a:rPr>
              <a:t>interview style </a:t>
            </a:r>
            <a:r>
              <a:rPr lang="en-US" sz="9600" dirty="0">
                <a:latin typeface="Constantia" charset="0"/>
              </a:rPr>
              <a:t>your interviewer prefers. Below are some of the more common interview styles used.</a:t>
            </a:r>
            <a:br>
              <a:rPr lang="en-US" sz="9600" dirty="0">
                <a:latin typeface="Constantia" charset="0"/>
              </a:rPr>
            </a:br>
            <a:r>
              <a:rPr lang="en-US" sz="9600" dirty="0">
                <a:latin typeface="Constantia" charset="0"/>
              </a:rPr>
              <a:t/>
            </a:r>
            <a:br>
              <a:rPr lang="en-US" sz="9600" dirty="0">
                <a:latin typeface="Constantia" charset="0"/>
              </a:rPr>
            </a:br>
            <a:endParaRPr lang="en-US" sz="9600" dirty="0">
              <a:latin typeface="Constantia" charset="0"/>
            </a:endParaRPr>
          </a:p>
          <a:p>
            <a:endParaRPr lang="en-US" dirty="0"/>
          </a:p>
        </p:txBody>
      </p:sp>
    </p:spTree>
    <p:extLst>
      <p:ext uri="{BB962C8B-B14F-4D97-AF65-F5344CB8AC3E}">
        <p14:creationId xmlns:p14="http://schemas.microsoft.com/office/powerpoint/2010/main" xmlns="" val="30444481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The Purpose of an Interview</a:t>
            </a:r>
            <a:endParaRPr lang="en-US" b="1" dirty="0"/>
          </a:p>
        </p:txBody>
      </p:sp>
      <p:sp>
        <p:nvSpPr>
          <p:cNvPr id="3" name="Content Placeholder 2"/>
          <p:cNvSpPr>
            <a:spLocks noGrp="1"/>
          </p:cNvSpPr>
          <p:nvPr>
            <p:ph sz="quarter" idx="1"/>
          </p:nvPr>
        </p:nvSpPr>
        <p:spPr/>
        <p:txBody>
          <a:bodyPr/>
          <a:lstStyle/>
          <a:p>
            <a:pPr marL="0" indent="0">
              <a:buNone/>
            </a:pPr>
            <a:r>
              <a:rPr lang="en-US" dirty="0" smtClean="0"/>
              <a:t>  </a:t>
            </a:r>
          </a:p>
          <a:p>
            <a:pPr marL="0" indent="0">
              <a:buNone/>
            </a:pPr>
            <a:r>
              <a:rPr lang="en-US" dirty="0" smtClean="0"/>
              <a:t>An interview has two</a:t>
            </a:r>
          </a:p>
          <a:p>
            <a:pPr marL="0" indent="0">
              <a:buNone/>
            </a:pPr>
            <a:r>
              <a:rPr lang="en-US" dirty="0" smtClean="0"/>
              <a:t>purposes :-</a:t>
            </a:r>
          </a:p>
          <a:p>
            <a:pPr marL="0" indent="0">
              <a:buNone/>
            </a:pPr>
            <a:endParaRPr lang="en-US" dirty="0"/>
          </a:p>
          <a:p>
            <a:pPr marL="0" indent="0">
              <a:buNone/>
            </a:pPr>
            <a:endParaRPr lang="en-US" dirty="0"/>
          </a:p>
          <a:p>
            <a:pPr>
              <a:buFont typeface="Wingdings" charset="2"/>
              <a:buChar char="u"/>
            </a:pPr>
            <a:r>
              <a:rPr lang="en-US" dirty="0" smtClean="0"/>
              <a:t>To find if the candidate has the right attitude and fits the requirement and company culture</a:t>
            </a:r>
          </a:p>
          <a:p>
            <a:pPr>
              <a:buFont typeface="Wingdings" charset="2"/>
              <a:buChar char="u"/>
            </a:pPr>
            <a:r>
              <a:rPr lang="en-US" dirty="0" smtClean="0"/>
              <a:t>To find the best candidate to fill a vacancy</a:t>
            </a:r>
          </a:p>
          <a:p>
            <a:pPr>
              <a:buFont typeface="Wingdings" charset="2"/>
              <a:buChar char="u"/>
            </a:pPr>
            <a:endParaRPr lang="en-US" dirty="0"/>
          </a:p>
          <a:p>
            <a:pPr>
              <a:buFont typeface="Wingdings" charset="2"/>
              <a:buChar char="u"/>
            </a:pPr>
            <a:endParaRPr lang="en-US" dirty="0"/>
          </a:p>
        </p:txBody>
      </p:sp>
      <p:pic>
        <p:nvPicPr>
          <p:cNvPr id="4" name="Picture 4" descr="http://images.stanzapub.com/readers/2009/07/19/interview_1.jpg">
            <a:hlinkClick r:id="rId2"/>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88024" y="1700808"/>
            <a:ext cx="3312368" cy="22082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8186245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Interviews </a:t>
            </a:r>
            <a:endParaRPr lang="en-US" b="1" dirty="0"/>
          </a:p>
        </p:txBody>
      </p:sp>
      <p:graphicFrame>
        <p:nvGraphicFramePr>
          <p:cNvPr id="6" name="Content Placeholder 5"/>
          <p:cNvGraphicFramePr>
            <a:graphicFrameLocks noGrp="1"/>
          </p:cNvGraphicFramePr>
          <p:nvPr>
            <p:ph sz="quarter" idx="1"/>
            <p:extLst>
              <p:ext uri="{D42A27DB-BD31-4B8C-83A1-F6EECF244321}">
                <p14:modId xmlns:p14="http://schemas.microsoft.com/office/powerpoint/2010/main" xmlns="" val="1013600272"/>
              </p:ext>
            </p:extLst>
          </p:nvPr>
        </p:nvGraphicFramePr>
        <p:xfrm>
          <a:off x="539552" y="1628800"/>
          <a:ext cx="8496944" cy="49251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6836458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What does an interviewer look for ?</a:t>
            </a:r>
            <a:endParaRPr lang="en-US" b="1" dirty="0"/>
          </a:p>
        </p:txBody>
      </p:sp>
      <p:sp>
        <p:nvSpPr>
          <p:cNvPr id="3" name="Content Placeholder 2"/>
          <p:cNvSpPr>
            <a:spLocks noGrp="1"/>
          </p:cNvSpPr>
          <p:nvPr>
            <p:ph sz="quarter" idx="1"/>
          </p:nvPr>
        </p:nvSpPr>
        <p:spPr/>
        <p:txBody>
          <a:bodyPr/>
          <a:lstStyle/>
          <a:p>
            <a:r>
              <a:rPr lang="en-US" dirty="0" smtClean="0">
                <a:latin typeface="Constantia"/>
                <a:cs typeface="Constantia"/>
              </a:rPr>
              <a:t>Who you are as a person</a:t>
            </a:r>
          </a:p>
          <a:p>
            <a:r>
              <a:rPr lang="en-US" dirty="0" smtClean="0">
                <a:latin typeface="Constantia"/>
                <a:cs typeface="Constantia"/>
              </a:rPr>
              <a:t>Your knowledge</a:t>
            </a:r>
          </a:p>
          <a:p>
            <a:r>
              <a:rPr lang="en-US" dirty="0" smtClean="0">
                <a:latin typeface="Constantia"/>
                <a:cs typeface="Constantia"/>
              </a:rPr>
              <a:t>Your skills</a:t>
            </a:r>
          </a:p>
          <a:p>
            <a:r>
              <a:rPr lang="en-US" dirty="0" smtClean="0">
                <a:latin typeface="Constantia"/>
                <a:cs typeface="Constantia"/>
              </a:rPr>
              <a:t>Your attitude</a:t>
            </a:r>
          </a:p>
          <a:p>
            <a:r>
              <a:rPr lang="en-US" dirty="0" smtClean="0">
                <a:latin typeface="Constantia"/>
                <a:cs typeface="Constantia"/>
              </a:rPr>
              <a:t>Your ability to interact with people</a:t>
            </a:r>
          </a:p>
          <a:p>
            <a:r>
              <a:rPr lang="en-US" dirty="0" smtClean="0">
                <a:latin typeface="Constantia"/>
                <a:cs typeface="Constantia"/>
              </a:rPr>
              <a:t>Your capacity to take work pressure</a:t>
            </a:r>
            <a:endParaRPr lang="en-US" dirty="0">
              <a:latin typeface="Constantia"/>
              <a:cs typeface="Constantia"/>
            </a:endParaRPr>
          </a:p>
        </p:txBody>
      </p:sp>
    </p:spTree>
    <p:extLst>
      <p:ext uri="{BB962C8B-B14F-4D97-AF65-F5344CB8AC3E}">
        <p14:creationId xmlns:p14="http://schemas.microsoft.com/office/powerpoint/2010/main" xmlns="" val="35895079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Types of Interviews </a:t>
            </a:r>
            <a:endParaRPr lang="en-US" b="1"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xmlns="" val="647042749"/>
              </p:ext>
            </p:extLst>
          </p:nvPr>
        </p:nvGraphicFramePr>
        <p:xfrm>
          <a:off x="539552" y="1600200"/>
          <a:ext cx="8226623" cy="4401452"/>
        </p:xfrm>
        <a:graphic>
          <a:graphicData uri="http://schemas.openxmlformats.org/drawingml/2006/table">
            <a:tbl>
              <a:tblPr firstRow="1" bandRow="1">
                <a:tableStyleId>{5C22544A-7EE6-4342-B048-85BDC9FD1C3A}</a:tableStyleId>
              </a:tblPr>
              <a:tblGrid>
                <a:gridCol w="8226623"/>
              </a:tblGrid>
              <a:tr h="783406">
                <a:tc>
                  <a:txBody>
                    <a:bodyPr/>
                    <a:lstStyle/>
                    <a:p>
                      <a:r>
                        <a:rPr lang="en-US" sz="3600" dirty="0" smtClean="0"/>
                        <a:t>   BASIS</a:t>
                      </a:r>
                      <a:endParaRPr lang="en-US" sz="3600" dirty="0"/>
                    </a:p>
                  </a:txBody>
                  <a:tcPr/>
                </a:tc>
              </a:tr>
              <a:tr h="783406">
                <a:tc>
                  <a:txBody>
                    <a:bodyPr/>
                    <a:lstStyle/>
                    <a:p>
                      <a:r>
                        <a:rPr lang="en-US" sz="2400" dirty="0" smtClean="0"/>
                        <a:t>CLASSIFICATION ACCORDING TO STRUCTURE</a:t>
                      </a:r>
                      <a:endParaRPr lang="en-US" sz="2400" dirty="0"/>
                    </a:p>
                  </a:txBody>
                  <a:tcPr/>
                </a:tc>
              </a:tr>
              <a:tr h="7834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CLASSIFICATION ACCORDING TO THE PURPOSE</a:t>
                      </a:r>
                    </a:p>
                    <a:p>
                      <a:endParaRPr lang="en-US" sz="2400" dirty="0"/>
                    </a:p>
                  </a:txBody>
                  <a:tcPr/>
                </a:tc>
              </a:tr>
              <a:tr h="7834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CLASSIFICATION ACCORDING TO INTERVIEW’S CONTENT</a:t>
                      </a:r>
                    </a:p>
                    <a:p>
                      <a:endParaRPr lang="en-US" sz="2400" dirty="0"/>
                    </a:p>
                  </a:txBody>
                  <a:tcPr/>
                </a:tc>
              </a:tr>
              <a:tr h="7834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CLASSIFICATION ACCORDING TO ADMINISTERING THE INTERVIEW</a:t>
                      </a:r>
                    </a:p>
                    <a:p>
                      <a:endParaRPr lang="en-US" sz="2400" dirty="0"/>
                    </a:p>
                  </a:txBody>
                  <a:tcPr/>
                </a:tc>
              </a:tr>
            </a:tbl>
          </a:graphicData>
        </a:graphic>
      </p:graphicFrame>
    </p:spTree>
    <p:extLst>
      <p:ext uri="{BB962C8B-B14F-4D97-AF65-F5344CB8AC3E}">
        <p14:creationId xmlns:p14="http://schemas.microsoft.com/office/powerpoint/2010/main" xmlns="" val="13663654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b="1" dirty="0" smtClean="0"/>
              <a:t>I. CLASSIFICATION ACCORDING TO STRUCTURE</a:t>
            </a:r>
            <a:endParaRPr lang="en-US" sz="3200" b="1" dirty="0"/>
          </a:p>
        </p:txBody>
      </p:sp>
      <p:sp>
        <p:nvSpPr>
          <p:cNvPr id="6" name="Content Placeholder 5"/>
          <p:cNvSpPr>
            <a:spLocks noGrp="1"/>
          </p:cNvSpPr>
          <p:nvPr>
            <p:ph sz="quarter" idx="1"/>
          </p:nvPr>
        </p:nvSpPr>
        <p:spPr/>
        <p:txBody>
          <a:bodyPr/>
          <a:lstStyle/>
          <a:p>
            <a:r>
              <a:rPr lang="en-US" dirty="0" smtClean="0">
                <a:solidFill>
                  <a:srgbClr val="FF0000"/>
                </a:solidFill>
              </a:rPr>
              <a:t>1.</a:t>
            </a:r>
            <a:r>
              <a:rPr lang="en-US" dirty="0" smtClean="0"/>
              <a:t> </a:t>
            </a:r>
            <a:r>
              <a:rPr lang="en-US" dirty="0" smtClean="0">
                <a:solidFill>
                  <a:srgbClr val="FF0000"/>
                </a:solidFill>
              </a:rPr>
              <a:t>STRUCTURED OR DIRECT INTERVIEW</a:t>
            </a:r>
          </a:p>
          <a:p>
            <a:endParaRPr lang="en-US" dirty="0" smtClean="0">
              <a:solidFill>
                <a:srgbClr val="FF0000"/>
              </a:solidFill>
            </a:endParaRPr>
          </a:p>
          <a:p>
            <a:pPr>
              <a:buFont typeface="Wingdings" charset="2"/>
              <a:buChar char="Ø"/>
            </a:pPr>
            <a:r>
              <a:rPr lang="en-US" sz="2800" dirty="0" smtClean="0">
                <a:cs typeface="Constantia"/>
              </a:rPr>
              <a:t>The questions and acceptable responses are specified in advance</a:t>
            </a:r>
          </a:p>
          <a:p>
            <a:pPr>
              <a:buFont typeface="Wingdings" charset="2"/>
              <a:buChar char="Ø"/>
            </a:pPr>
            <a:r>
              <a:rPr lang="en-US" sz="2800" dirty="0" smtClean="0">
                <a:cs typeface="Constantia"/>
              </a:rPr>
              <a:t>Responses are rated for appropriateness of content</a:t>
            </a:r>
          </a:p>
          <a:p>
            <a:pPr>
              <a:buFont typeface="Wingdings" charset="2"/>
              <a:buChar char="Ø"/>
            </a:pPr>
            <a:r>
              <a:rPr lang="en-US" sz="2800" dirty="0" smtClean="0">
                <a:cs typeface="Constantia"/>
              </a:rPr>
              <a:t>Also called </a:t>
            </a:r>
            <a:r>
              <a:rPr lang="en-US" sz="2800" dirty="0" smtClean="0">
                <a:solidFill>
                  <a:srgbClr val="FF6600"/>
                </a:solidFill>
                <a:cs typeface="Constantia"/>
              </a:rPr>
              <a:t>standardized interviews</a:t>
            </a:r>
            <a:r>
              <a:rPr lang="en-US" sz="2800" dirty="0" smtClean="0">
                <a:cs typeface="Constantia"/>
              </a:rPr>
              <a:t> as they are </a:t>
            </a:r>
            <a:r>
              <a:rPr lang="en-US" sz="2800" dirty="0" smtClean="0">
                <a:solidFill>
                  <a:srgbClr val="FF6600"/>
                </a:solidFill>
                <a:cs typeface="Constantia"/>
              </a:rPr>
              <a:t>pre planned</a:t>
            </a:r>
            <a:r>
              <a:rPr lang="en-US" sz="2800" dirty="0" smtClean="0">
                <a:cs typeface="Constantia"/>
              </a:rPr>
              <a:t> to a high degree of accuracy and precision</a:t>
            </a:r>
          </a:p>
          <a:p>
            <a:pPr marL="0" indent="0">
              <a:buNone/>
            </a:pPr>
            <a:endParaRPr lang="en-US" sz="2800" dirty="0"/>
          </a:p>
        </p:txBody>
      </p:sp>
    </p:spTree>
    <p:extLst>
      <p:ext uri="{BB962C8B-B14F-4D97-AF65-F5344CB8AC3E}">
        <p14:creationId xmlns:p14="http://schemas.microsoft.com/office/powerpoint/2010/main" xmlns="" val="15891109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11560" y="404664"/>
            <a:ext cx="8154488" cy="5691336"/>
          </a:xfrm>
        </p:spPr>
        <p:txBody>
          <a:bodyPr>
            <a:normAutofit/>
          </a:bodyPr>
          <a:lstStyle/>
          <a:p>
            <a:r>
              <a:rPr lang="en-US" dirty="0" smtClean="0">
                <a:solidFill>
                  <a:srgbClr val="FF0000"/>
                </a:solidFill>
              </a:rPr>
              <a:t>2. UNSTRUCTURED OR INDIRECT INTERVIEW OR OPEN-ENDED INTERVIEW</a:t>
            </a:r>
          </a:p>
          <a:p>
            <a:endParaRPr lang="en-US" dirty="0" smtClean="0">
              <a:solidFill>
                <a:srgbClr val="FF0000"/>
              </a:solidFill>
            </a:endParaRPr>
          </a:p>
          <a:p>
            <a:pPr>
              <a:buFont typeface="Wingdings" charset="2"/>
              <a:buChar char="Ø"/>
            </a:pPr>
            <a:r>
              <a:rPr lang="en-US" sz="2800" dirty="0" smtClean="0"/>
              <a:t>Not directed by questions or comments as to what the candidate should be asked</a:t>
            </a:r>
          </a:p>
          <a:p>
            <a:pPr>
              <a:buFont typeface="Wingdings" charset="2"/>
              <a:buChar char="Ø"/>
            </a:pPr>
            <a:r>
              <a:rPr lang="en-US" sz="2800" dirty="0" smtClean="0"/>
              <a:t>No set format is followed</a:t>
            </a:r>
          </a:p>
          <a:p>
            <a:pPr>
              <a:buFont typeface="Wingdings" charset="2"/>
              <a:buChar char="Ø"/>
            </a:pPr>
            <a:r>
              <a:rPr lang="en-US" sz="2800" dirty="0" smtClean="0"/>
              <a:t>Candidate is encouraged to express himself on any topic of his interest, his expectations, background etc.</a:t>
            </a:r>
          </a:p>
          <a:p>
            <a:pPr>
              <a:buFont typeface="Wingdings" charset="2"/>
              <a:buChar char="Ø"/>
            </a:pPr>
            <a:r>
              <a:rPr lang="en-US" sz="2800" dirty="0" smtClean="0"/>
              <a:t>Interviewers look for traits of character and nature of his aspirations, strengths, weaknesses, potential etc.</a:t>
            </a:r>
            <a:endParaRPr lang="en-US" sz="2800" dirty="0"/>
          </a:p>
        </p:txBody>
      </p:sp>
    </p:spTree>
    <p:extLst>
      <p:ext uri="{BB962C8B-B14F-4D97-AF65-F5344CB8AC3E}">
        <p14:creationId xmlns:p14="http://schemas.microsoft.com/office/powerpoint/2010/main" xmlns="" val="8089291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11560" y="620688"/>
            <a:ext cx="8154488" cy="5475312"/>
          </a:xfrm>
        </p:spPr>
        <p:txBody>
          <a:bodyPr/>
          <a:lstStyle/>
          <a:p>
            <a:r>
              <a:rPr lang="en-US" dirty="0" smtClean="0">
                <a:solidFill>
                  <a:srgbClr val="FF0000"/>
                </a:solidFill>
              </a:rPr>
              <a:t>3. SEMI-STRUCTURED INTERVIEW</a:t>
            </a:r>
          </a:p>
          <a:p>
            <a:endParaRPr lang="en-US" dirty="0" smtClean="0">
              <a:solidFill>
                <a:srgbClr val="FF0000"/>
              </a:solidFill>
            </a:endParaRPr>
          </a:p>
          <a:p>
            <a:pPr>
              <a:buFont typeface="Wingdings" charset="2"/>
              <a:buChar char="Ø"/>
            </a:pPr>
            <a:r>
              <a:rPr lang="en-US" sz="2800" dirty="0" smtClean="0"/>
              <a:t>specific </a:t>
            </a:r>
            <a:r>
              <a:rPr lang="en-US" sz="2800" dirty="0"/>
              <a:t>topic </a:t>
            </a:r>
            <a:r>
              <a:rPr lang="en-US" sz="2800" dirty="0" smtClean="0"/>
              <a:t>areas</a:t>
            </a:r>
          </a:p>
          <a:p>
            <a:pPr>
              <a:buFont typeface="Wingdings" charset="2"/>
              <a:buChar char="Ø"/>
            </a:pPr>
            <a:r>
              <a:rPr lang="en-US" sz="2800" dirty="0" smtClean="0"/>
              <a:t>a </a:t>
            </a:r>
            <a:r>
              <a:rPr lang="en-US" sz="2800" dirty="0"/>
              <a:t>general set of questions </a:t>
            </a:r>
            <a:endParaRPr lang="en-US" sz="2800" dirty="0" smtClean="0"/>
          </a:p>
          <a:p>
            <a:pPr>
              <a:buFont typeface="Wingdings" charset="2"/>
              <a:buChar char="Ø"/>
            </a:pPr>
            <a:r>
              <a:rPr lang="en-US" sz="2800" dirty="0" smtClean="0"/>
              <a:t>but </a:t>
            </a:r>
            <a:r>
              <a:rPr lang="en-US" sz="2800" dirty="0"/>
              <a:t>the interview flows like a conversation and topics  are covered as they come up. </a:t>
            </a:r>
          </a:p>
          <a:p>
            <a:endParaRPr lang="en-US" sz="2800" dirty="0">
              <a:latin typeface="HandelGotDLig" charset="0"/>
            </a:endParaRPr>
          </a:p>
          <a:p>
            <a:endParaRPr lang="en-US" dirty="0"/>
          </a:p>
        </p:txBody>
      </p:sp>
    </p:spTree>
    <p:extLst>
      <p:ext uri="{BB962C8B-B14F-4D97-AF65-F5344CB8AC3E}">
        <p14:creationId xmlns:p14="http://schemas.microsoft.com/office/powerpoint/2010/main" xmlns="" val="16564747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Pros and Cons of Structured &amp; Unstructured Interview</a:t>
            </a:r>
            <a:endParaRPr lang="en-US" b="1" dirty="0"/>
          </a:p>
        </p:txBody>
      </p:sp>
      <p:sp>
        <p:nvSpPr>
          <p:cNvPr id="3" name="Content Placeholder 2"/>
          <p:cNvSpPr>
            <a:spLocks noGrp="1"/>
          </p:cNvSpPr>
          <p:nvPr>
            <p:ph sz="quarter" idx="1"/>
          </p:nvPr>
        </p:nvSpPr>
        <p:spPr/>
        <p:txBody>
          <a:bodyPr>
            <a:normAutofit lnSpcReduction="10000"/>
          </a:bodyPr>
          <a:lstStyle/>
          <a:p>
            <a:pPr>
              <a:buFont typeface="Wingdings" charset="2"/>
              <a:buChar char="q"/>
            </a:pPr>
            <a:r>
              <a:rPr lang="en-US" dirty="0" smtClean="0">
                <a:solidFill>
                  <a:srgbClr val="FF0000"/>
                </a:solidFill>
              </a:rPr>
              <a:t>STRUCTURED INTERVIEWS</a:t>
            </a:r>
          </a:p>
          <a:p>
            <a:pPr>
              <a:buFont typeface="Wingdings" charset="2"/>
              <a:buChar char="Ø"/>
            </a:pPr>
            <a:r>
              <a:rPr lang="en-US" dirty="0" smtClean="0"/>
              <a:t>More reliable and valid as all candidates are asked the same set of questions</a:t>
            </a:r>
          </a:p>
          <a:p>
            <a:pPr>
              <a:buFont typeface="Wingdings" charset="2"/>
              <a:buChar char="Ø"/>
            </a:pPr>
            <a:r>
              <a:rPr lang="en-US" dirty="0" smtClean="0"/>
              <a:t>Enhance consistency across candidates</a:t>
            </a:r>
          </a:p>
          <a:p>
            <a:pPr>
              <a:buFont typeface="Wingdings" charset="2"/>
              <a:buChar char="q"/>
            </a:pPr>
            <a:r>
              <a:rPr lang="en-US" dirty="0" smtClean="0">
                <a:solidFill>
                  <a:srgbClr val="FF0000"/>
                </a:solidFill>
              </a:rPr>
              <a:t>UNSTRUCTURED INTERVIEWS</a:t>
            </a:r>
          </a:p>
          <a:p>
            <a:pPr>
              <a:buFont typeface="Wingdings" charset="2"/>
              <a:buChar char="Ø"/>
            </a:pPr>
            <a:r>
              <a:rPr lang="en-US" dirty="0" smtClean="0"/>
              <a:t>Flexibility to pursue points of interest as they develop</a:t>
            </a:r>
          </a:p>
          <a:p>
            <a:pPr>
              <a:buFont typeface="Wingdings" charset="2"/>
              <a:buChar char="Ø"/>
            </a:pPr>
            <a:r>
              <a:rPr lang="en-US" dirty="0" smtClean="0"/>
              <a:t>Help in assessing the clarity of thoughts of the candidate</a:t>
            </a:r>
            <a:endParaRPr lang="en-US" dirty="0"/>
          </a:p>
        </p:txBody>
      </p:sp>
    </p:spTree>
    <p:extLst>
      <p:ext uri="{BB962C8B-B14F-4D97-AF65-F5344CB8AC3E}">
        <p14:creationId xmlns:p14="http://schemas.microsoft.com/office/powerpoint/2010/main" xmlns="" val="5054798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II. CLASSIFICATION ACCORDING TO PURPOSE</a:t>
            </a:r>
            <a:endParaRPr lang="en-US" sz="3200" b="1" dirty="0"/>
          </a:p>
        </p:txBody>
      </p:sp>
      <p:sp>
        <p:nvSpPr>
          <p:cNvPr id="3" name="Content Placeholder 2"/>
          <p:cNvSpPr>
            <a:spLocks noGrp="1"/>
          </p:cNvSpPr>
          <p:nvPr>
            <p:ph sz="quarter" idx="1"/>
          </p:nvPr>
        </p:nvSpPr>
        <p:spPr>
          <a:xfrm>
            <a:off x="539552" y="1556792"/>
            <a:ext cx="8153400" cy="4495800"/>
          </a:xfrm>
        </p:spPr>
        <p:txBody>
          <a:bodyPr/>
          <a:lstStyle/>
          <a:p>
            <a:r>
              <a:rPr lang="en-US" dirty="0" smtClean="0">
                <a:solidFill>
                  <a:srgbClr val="FF0000"/>
                </a:solidFill>
              </a:rPr>
              <a:t>1. STRESS INTERVIEW</a:t>
            </a:r>
          </a:p>
          <a:p>
            <a:endParaRPr lang="en-US" dirty="0" smtClean="0">
              <a:solidFill>
                <a:srgbClr val="FF0000"/>
              </a:solidFill>
            </a:endParaRPr>
          </a:p>
          <a:p>
            <a:pPr marL="0" indent="0">
              <a:buNone/>
            </a:pPr>
            <a:r>
              <a:rPr lang="en-US" sz="2400" dirty="0">
                <a:latin typeface="Constantia" charset="0"/>
              </a:rPr>
              <a:t>This type of interview is </a:t>
            </a:r>
            <a:r>
              <a:rPr lang="en-US" sz="2400" dirty="0" smtClean="0">
                <a:latin typeface="Constantia" charset="0"/>
              </a:rPr>
              <a:t>rare</a:t>
            </a:r>
          </a:p>
          <a:p>
            <a:pPr marL="0" indent="0">
              <a:buNone/>
            </a:pPr>
            <a:r>
              <a:rPr lang="en-US" sz="2400" dirty="0" smtClean="0">
                <a:latin typeface="Constantia" charset="0"/>
              </a:rPr>
              <a:t> in </a:t>
            </a:r>
            <a:r>
              <a:rPr lang="en-US" sz="2400" dirty="0">
                <a:latin typeface="Constantia" charset="0"/>
              </a:rPr>
              <a:t>the present job scenario. </a:t>
            </a:r>
            <a:endParaRPr lang="en-US" sz="2400" dirty="0" smtClean="0">
              <a:latin typeface="Constantia" charset="0"/>
            </a:endParaRPr>
          </a:p>
          <a:p>
            <a:pPr marL="0" indent="0">
              <a:buNone/>
            </a:pPr>
            <a:r>
              <a:rPr lang="en-US" sz="2400" dirty="0" smtClean="0">
                <a:latin typeface="Constantia" charset="0"/>
              </a:rPr>
              <a:t>It </a:t>
            </a:r>
            <a:r>
              <a:rPr lang="en-US" sz="2400" dirty="0">
                <a:latin typeface="Constantia" charset="0"/>
              </a:rPr>
              <a:t>was a very </a:t>
            </a:r>
            <a:r>
              <a:rPr lang="en-US" sz="2400" dirty="0" smtClean="0">
                <a:latin typeface="Constantia" charset="0"/>
              </a:rPr>
              <a:t>common </a:t>
            </a:r>
          </a:p>
          <a:p>
            <a:pPr marL="0" indent="0">
              <a:buNone/>
            </a:pPr>
            <a:r>
              <a:rPr lang="en-US" sz="2400" dirty="0" smtClean="0">
                <a:latin typeface="Constantia" charset="0"/>
              </a:rPr>
              <a:t>interview </a:t>
            </a:r>
            <a:r>
              <a:rPr lang="en-US" sz="2400" dirty="0">
                <a:latin typeface="Constantia" charset="0"/>
              </a:rPr>
              <a:t>method when </a:t>
            </a:r>
            <a:endParaRPr lang="en-US" sz="2400" dirty="0" smtClean="0">
              <a:latin typeface="Constantia" charset="0"/>
            </a:endParaRPr>
          </a:p>
          <a:p>
            <a:pPr marL="0" indent="0">
              <a:buNone/>
            </a:pPr>
            <a:r>
              <a:rPr lang="en-US" sz="2400" dirty="0" smtClean="0">
                <a:latin typeface="Constantia" charset="0"/>
              </a:rPr>
              <a:t>selecting </a:t>
            </a:r>
            <a:r>
              <a:rPr lang="en-US" sz="2400" dirty="0">
                <a:latin typeface="Constantia" charset="0"/>
              </a:rPr>
              <a:t>for sales position. </a:t>
            </a:r>
          </a:p>
          <a:p>
            <a:endParaRPr lang="en-US" sz="2400" dirty="0" smtClean="0">
              <a:solidFill>
                <a:srgbClr val="FF0000"/>
              </a:solidFill>
            </a:endParaRPr>
          </a:p>
        </p:txBody>
      </p:sp>
      <p:sp>
        <p:nvSpPr>
          <p:cNvPr id="4" name="Заголовок 1"/>
          <p:cNvSpPr txBox="1">
            <a:spLocks/>
          </p:cNvSpPr>
          <p:nvPr/>
        </p:nvSpPr>
        <p:spPr>
          <a:xfrm>
            <a:off x="683568" y="332656"/>
            <a:ext cx="8153400" cy="990600"/>
          </a:xfrm>
          <a:prstGeom prst="rect">
            <a:avLst/>
          </a:prstGeom>
        </p:spPr>
        <p:txBody>
          <a:bodyPr vert="horz" anchor="ctr">
            <a:normAutofit/>
          </a:bodyPr>
          <a:lstStyle>
            <a:lvl1pPr algn="l" rtl="0" eaLnBrk="1" latinLnBrk="0" hangingPunct="1">
              <a:spcBef>
                <a:spcPct val="0"/>
              </a:spcBef>
              <a:buNone/>
              <a:defRPr kumimoji="0" sz="4400" kern="1200">
                <a:solidFill>
                  <a:schemeClr val="tx2"/>
                </a:solidFill>
                <a:latin typeface="+mj-lt"/>
                <a:ea typeface="+mj-ea"/>
                <a:cs typeface="+mj-cs"/>
              </a:defRPr>
            </a:lvl1pPr>
          </a:lstStyle>
          <a:p>
            <a:endParaRPr lang="ru-RU" dirty="0">
              <a:latin typeface="Calibri" charset="0"/>
            </a:endParaRPr>
          </a:p>
        </p:txBody>
      </p:sp>
      <p:pic>
        <p:nvPicPr>
          <p:cNvPr id="6" name="Picture 2" descr="http://leverageacademy.com/blog/wp-content/uploads/2009/11/business-anxiety1.jpg"/>
          <p:cNvPicPr>
            <a:picLocks noChangeAspect="1" noChangeArrowheads="1"/>
          </p:cNvPicPr>
          <p:nvPr/>
        </p:nvPicPr>
        <p:blipFill>
          <a:blip r:embed="rId2" cstate="print"/>
          <a:srcRect/>
          <a:stretch>
            <a:fillRect/>
          </a:stretch>
        </p:blipFill>
        <p:spPr bwMode="auto">
          <a:xfrm>
            <a:off x="4716016" y="1844824"/>
            <a:ext cx="3528392" cy="4009517"/>
          </a:xfrm>
          <a:prstGeom prst="rect">
            <a:avLst/>
          </a:prstGeom>
          <a:ln>
            <a:noFill/>
          </a:ln>
          <a:effectLst>
            <a:softEdge rad="112500"/>
          </a:effectLst>
        </p:spPr>
      </p:pic>
    </p:spTree>
    <p:extLst>
      <p:ext uri="{BB962C8B-B14F-4D97-AF65-F5344CB8AC3E}">
        <p14:creationId xmlns:p14="http://schemas.microsoft.com/office/powerpoint/2010/main" xmlns="" val="10065524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Заголовок 1"/>
          <p:cNvSpPr>
            <a:spLocks noGrp="1"/>
          </p:cNvSpPr>
          <p:nvPr>
            <p:ph type="title"/>
          </p:nvPr>
        </p:nvSpPr>
        <p:spPr/>
        <p:txBody>
          <a:bodyPr/>
          <a:lstStyle/>
          <a:p>
            <a:r>
              <a:rPr lang="en-US" b="1" dirty="0"/>
              <a:t>Stress interview means-</a:t>
            </a:r>
            <a:endParaRPr lang="ru-RU" b="1" dirty="0"/>
          </a:p>
        </p:txBody>
      </p:sp>
      <p:sp>
        <p:nvSpPr>
          <p:cNvPr id="24579" name="Содержимое 2"/>
          <p:cNvSpPr>
            <a:spLocks noGrp="1"/>
          </p:cNvSpPr>
          <p:nvPr>
            <p:ph sz="quarter" idx="1"/>
          </p:nvPr>
        </p:nvSpPr>
        <p:spPr/>
        <p:txBody>
          <a:bodyPr/>
          <a:lstStyle/>
          <a:p>
            <a:r>
              <a:rPr lang="en-US" sz="2400" dirty="0">
                <a:latin typeface="Constantia"/>
                <a:cs typeface="Constantia"/>
              </a:rPr>
              <a:t>Being asked more than one </a:t>
            </a:r>
            <a:r>
              <a:rPr lang="en-US" sz="2400" dirty="0" smtClean="0">
                <a:latin typeface="Constantia"/>
                <a:cs typeface="Constantia"/>
              </a:rPr>
              <a:t>question </a:t>
            </a:r>
            <a:r>
              <a:rPr lang="en-US" sz="2400" dirty="0">
                <a:latin typeface="Constantia"/>
                <a:cs typeface="Constantia"/>
              </a:rPr>
              <a:t>at a time;</a:t>
            </a:r>
          </a:p>
          <a:p>
            <a:r>
              <a:rPr lang="en-US" sz="2400" dirty="0">
                <a:latin typeface="Constantia"/>
                <a:cs typeface="Constantia"/>
              </a:rPr>
              <a:t>Being asked further questions without being allowed adequate time to respond;</a:t>
            </a:r>
          </a:p>
          <a:p>
            <a:r>
              <a:rPr lang="en-US" sz="2400" dirty="0" smtClean="0">
                <a:latin typeface="Constantia"/>
                <a:cs typeface="Constantia"/>
              </a:rPr>
              <a:t>The interviewer</a:t>
            </a:r>
            <a:r>
              <a:rPr lang="en-US" sz="2400" dirty="0">
                <a:latin typeface="Constantia" charset="0"/>
              </a:rPr>
              <a:t> </a:t>
            </a:r>
            <a:r>
              <a:rPr lang="en-US" sz="2400" dirty="0" smtClean="0">
                <a:latin typeface="Constantia" charset="0"/>
              </a:rPr>
              <a:t>adopts a hostile behavior and deliberately puts the candidate on defensive by trying to annoy, embarrass or frustrate him;</a:t>
            </a:r>
          </a:p>
          <a:p>
            <a:r>
              <a:rPr lang="en-US" sz="2400" dirty="0" smtClean="0">
                <a:latin typeface="Constantia" charset="0"/>
              </a:rPr>
              <a:t>He asks questions rapidly, criticizes his/her answers, interrupts him/her frequently, makes derogatory remarks etc.</a:t>
            </a:r>
          </a:p>
          <a:p>
            <a:r>
              <a:rPr lang="en-US" sz="2400" dirty="0">
                <a:latin typeface="Constantia"/>
                <a:cs typeface="Constantia"/>
              </a:rPr>
              <a:t>Having his/her feelings provoked.</a:t>
            </a:r>
          </a:p>
          <a:p>
            <a:endParaRPr lang="en-US" sz="2400" dirty="0">
              <a:latin typeface="Constantia"/>
              <a:cs typeface="Constantia"/>
            </a:endParaRPr>
          </a:p>
        </p:txBody>
      </p:sp>
    </p:spTree>
    <p:extLst>
      <p:ext uri="{BB962C8B-B14F-4D97-AF65-F5344CB8AC3E}">
        <p14:creationId xmlns:p14="http://schemas.microsoft.com/office/powerpoint/2010/main" xmlns="" val="2853248031"/>
      </p:ext>
    </p:extLst>
  </p:cSld>
  <p:clrMapOvr>
    <a:masterClrMapping/>
  </p:clrMapOvr>
  <p:transition>
    <p:wheel spokes="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http://i657.photobucket.com/albums/uu296/msn2microsoft/stress-interview.jpg"/>
          <p:cNvPicPr>
            <a:picLocks noChangeAspect="1" noChangeArrowheads="1"/>
          </p:cNvPicPr>
          <p:nvPr/>
        </p:nvPicPr>
        <p:blipFill>
          <a:blip r:embed="rId3" cstate="print"/>
          <a:srcRect l="11180" r="13221"/>
          <a:stretch>
            <a:fillRect/>
          </a:stretch>
        </p:blipFill>
        <p:spPr bwMode="auto">
          <a:xfrm>
            <a:off x="4823520" y="2780928"/>
            <a:ext cx="4320480" cy="3810001"/>
          </a:xfrm>
          <a:prstGeom prst="rect">
            <a:avLst/>
          </a:prstGeom>
          <a:ln>
            <a:noFill/>
          </a:ln>
          <a:effectLst>
            <a:softEdge rad="112500"/>
          </a:effectLst>
        </p:spPr>
      </p:pic>
      <p:sp>
        <p:nvSpPr>
          <p:cNvPr id="23555" name="Заголовок 1"/>
          <p:cNvSpPr>
            <a:spLocks noGrp="1"/>
          </p:cNvSpPr>
          <p:nvPr>
            <p:ph type="title"/>
          </p:nvPr>
        </p:nvSpPr>
        <p:spPr/>
        <p:txBody>
          <a:bodyPr/>
          <a:lstStyle/>
          <a:p>
            <a:pPr algn="ctr"/>
            <a:r>
              <a:rPr lang="en-US" b="1" dirty="0">
                <a:latin typeface="Calibri" charset="0"/>
              </a:rPr>
              <a:t>Why stress interviews?</a:t>
            </a:r>
            <a:endParaRPr lang="ru-RU" b="1" dirty="0">
              <a:latin typeface="Calibri" charset="0"/>
            </a:endParaRPr>
          </a:p>
        </p:txBody>
      </p:sp>
      <p:sp>
        <p:nvSpPr>
          <p:cNvPr id="3" name="Содержимое 2"/>
          <p:cNvSpPr>
            <a:spLocks noGrp="1"/>
          </p:cNvSpPr>
          <p:nvPr>
            <p:ph sz="quarter" idx="1"/>
          </p:nvPr>
        </p:nvSpPr>
        <p:spPr>
          <a:xfrm>
            <a:off x="395537" y="1484785"/>
            <a:ext cx="4248471" cy="5040559"/>
          </a:xfrm>
        </p:spPr>
        <p:txBody>
          <a:bodyPr>
            <a:noAutofit/>
          </a:bodyPr>
          <a:lstStyle/>
          <a:p>
            <a:pPr marL="274320" indent="-274320" fontAlgn="auto">
              <a:lnSpc>
                <a:spcPct val="150000"/>
              </a:lnSpc>
              <a:spcAft>
                <a:spcPts val="0"/>
              </a:spcAft>
              <a:buClr>
                <a:schemeClr val="accent3"/>
              </a:buClr>
              <a:buFont typeface="Wingdings 2"/>
              <a:buChar char=""/>
              <a:defRPr/>
            </a:pPr>
            <a:r>
              <a:rPr lang="en-US" sz="2000" dirty="0" smtClean="0">
                <a:latin typeface="Cambria"/>
                <a:cs typeface="Cambria"/>
              </a:rPr>
              <a:t>This interview is </a:t>
            </a:r>
            <a:r>
              <a:rPr lang="en-US" sz="2000" dirty="0" smtClean="0">
                <a:solidFill>
                  <a:srgbClr val="FF0000"/>
                </a:solidFill>
                <a:latin typeface="Cambria"/>
                <a:cs typeface="Cambria"/>
              </a:rPr>
              <a:t>an attempt to see how the candidates handle themselves under stress</a:t>
            </a:r>
            <a:r>
              <a:rPr lang="en-US" sz="2000" dirty="0" smtClean="0">
                <a:latin typeface="Cambria"/>
                <a:cs typeface="Cambria"/>
              </a:rPr>
              <a:t>. </a:t>
            </a:r>
          </a:p>
          <a:p>
            <a:pPr marL="274320" indent="-274320" fontAlgn="auto">
              <a:lnSpc>
                <a:spcPct val="150000"/>
              </a:lnSpc>
              <a:spcAft>
                <a:spcPts val="0"/>
              </a:spcAft>
              <a:buClr>
                <a:schemeClr val="accent3"/>
              </a:buClr>
              <a:buFont typeface="Wingdings 2"/>
              <a:buChar char=""/>
              <a:defRPr/>
            </a:pPr>
            <a:r>
              <a:rPr lang="en-US" sz="2000" dirty="0" smtClean="0">
                <a:latin typeface="Cambria"/>
                <a:cs typeface="Cambria"/>
              </a:rPr>
              <a:t>So, the interviewer </a:t>
            </a:r>
            <a:r>
              <a:rPr lang="en-US" sz="2000" dirty="0" smtClean="0">
                <a:solidFill>
                  <a:srgbClr val="FF6600"/>
                </a:solidFill>
                <a:latin typeface="Cambria"/>
                <a:cs typeface="Cambria"/>
              </a:rPr>
              <a:t>deliberately assumes a sarcastic or argumentative</a:t>
            </a:r>
            <a:r>
              <a:rPr lang="en-US" sz="2000" dirty="0" smtClean="0">
                <a:latin typeface="Cambria"/>
                <a:cs typeface="Cambria"/>
              </a:rPr>
              <a:t> position. </a:t>
            </a:r>
          </a:p>
          <a:p>
            <a:pPr marL="274320" indent="-274320" fontAlgn="auto">
              <a:lnSpc>
                <a:spcPct val="150000"/>
              </a:lnSpc>
              <a:spcAft>
                <a:spcPts val="0"/>
              </a:spcAft>
              <a:buClr>
                <a:schemeClr val="accent3"/>
              </a:buClr>
              <a:buFont typeface="Wingdings 2"/>
              <a:buChar char=""/>
              <a:defRPr/>
            </a:pPr>
            <a:r>
              <a:rPr lang="en-US" sz="2000" dirty="0" smtClean="0">
                <a:latin typeface="Cambria"/>
                <a:cs typeface="Cambria"/>
              </a:rPr>
              <a:t>The </a:t>
            </a:r>
            <a:r>
              <a:rPr lang="en-US" sz="2000" dirty="0" smtClean="0">
                <a:solidFill>
                  <a:srgbClr val="FF0000"/>
                </a:solidFill>
                <a:latin typeface="Cambria"/>
                <a:cs typeface="Cambria"/>
              </a:rPr>
              <a:t>trick for the interviewee is to remain calm</a:t>
            </a:r>
            <a:r>
              <a:rPr lang="en-US" sz="2000" dirty="0" smtClean="0">
                <a:latin typeface="Cambria"/>
                <a:cs typeface="Cambria"/>
              </a:rPr>
              <a:t> under such a situation.</a:t>
            </a:r>
          </a:p>
          <a:p>
            <a:pPr marL="274320" indent="-274320" fontAlgn="auto">
              <a:spcAft>
                <a:spcPts val="0"/>
              </a:spcAft>
              <a:buClr>
                <a:schemeClr val="accent3"/>
              </a:buClr>
              <a:buFont typeface="Wingdings 2"/>
              <a:buChar char=""/>
              <a:defRPr/>
            </a:pPr>
            <a:endParaRPr lang="ru-RU" sz="2000" b="1" dirty="0">
              <a:latin typeface="Cambria"/>
              <a:cs typeface="Cambria"/>
            </a:endParaRPr>
          </a:p>
        </p:txBody>
      </p:sp>
    </p:spTree>
    <p:extLst>
      <p:ext uri="{BB962C8B-B14F-4D97-AF65-F5344CB8AC3E}">
        <p14:creationId xmlns:p14="http://schemas.microsoft.com/office/powerpoint/2010/main" xmlns="" val="2028003574"/>
      </p:ext>
    </p:extLst>
  </p:cSld>
  <p:clrMapOvr>
    <a:masterClrMapping/>
  </p:clrMapOvr>
  <p:transition>
    <p:wipe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9552" y="476672"/>
            <a:ext cx="8226496" cy="5619328"/>
          </a:xfrm>
        </p:spPr>
        <p:txBody>
          <a:bodyPr/>
          <a:lstStyle/>
          <a:p>
            <a:r>
              <a:rPr lang="en-US" dirty="0" smtClean="0">
                <a:solidFill>
                  <a:srgbClr val="FF0000"/>
                </a:solidFill>
              </a:rPr>
              <a:t>2. APPRAISAL/ ASSESSMENT INTERVIEW</a:t>
            </a:r>
          </a:p>
          <a:p>
            <a:endParaRPr lang="en-US" dirty="0" smtClean="0">
              <a:solidFill>
                <a:srgbClr val="FF0000"/>
              </a:solidFill>
            </a:endParaRPr>
          </a:p>
          <a:p>
            <a:endParaRPr lang="en-US" dirty="0">
              <a:solidFill>
                <a:srgbClr val="FF0000"/>
              </a:solidFill>
            </a:endParaRPr>
          </a:p>
          <a:p>
            <a:pPr>
              <a:buFont typeface="Wingdings" charset="2"/>
              <a:buChar char="Ø"/>
            </a:pPr>
            <a:r>
              <a:rPr lang="en-US" dirty="0" smtClean="0"/>
              <a:t>A </a:t>
            </a:r>
            <a:r>
              <a:rPr lang="en-US" dirty="0" smtClean="0">
                <a:solidFill>
                  <a:srgbClr val="FF6600"/>
                </a:solidFill>
              </a:rPr>
              <a:t>discussion following a performance appraisal</a:t>
            </a:r>
          </a:p>
          <a:p>
            <a:pPr>
              <a:buFont typeface="Wingdings" charset="2"/>
              <a:buChar char="Ø"/>
            </a:pPr>
            <a:r>
              <a:rPr lang="en-US" dirty="0" smtClean="0"/>
              <a:t>In which the supervisor and employee </a:t>
            </a:r>
            <a:r>
              <a:rPr lang="en-US" dirty="0" smtClean="0">
                <a:solidFill>
                  <a:srgbClr val="FF6600"/>
                </a:solidFill>
              </a:rPr>
              <a:t>discuss the employee’s rating</a:t>
            </a:r>
            <a:r>
              <a:rPr lang="en-US" dirty="0" smtClean="0"/>
              <a:t> and </a:t>
            </a:r>
          </a:p>
          <a:p>
            <a:pPr>
              <a:buFont typeface="Wingdings" charset="2"/>
              <a:buChar char="Ø"/>
            </a:pPr>
            <a:r>
              <a:rPr lang="en-US" dirty="0">
                <a:solidFill>
                  <a:srgbClr val="FF6600"/>
                </a:solidFill>
              </a:rPr>
              <a:t>P</a:t>
            </a:r>
            <a:r>
              <a:rPr lang="en-US" dirty="0" smtClean="0">
                <a:solidFill>
                  <a:srgbClr val="FF6600"/>
                </a:solidFill>
              </a:rPr>
              <a:t>ossible remedial actions </a:t>
            </a:r>
            <a:r>
              <a:rPr lang="en-US" dirty="0" smtClean="0"/>
              <a:t>to be taken.</a:t>
            </a:r>
            <a:endParaRPr lang="en-US" dirty="0" smtClean="0">
              <a:solidFill>
                <a:srgbClr val="FF6600"/>
              </a:solidFill>
            </a:endParaRPr>
          </a:p>
          <a:p>
            <a:pPr>
              <a:buFont typeface="Wingdings" charset="2"/>
              <a:buChar char="Ø"/>
            </a:pPr>
            <a:endParaRPr lang="en-US" dirty="0"/>
          </a:p>
        </p:txBody>
      </p:sp>
    </p:spTree>
    <p:extLst>
      <p:ext uri="{BB962C8B-B14F-4D97-AF65-F5344CB8AC3E}">
        <p14:creationId xmlns:p14="http://schemas.microsoft.com/office/powerpoint/2010/main" xmlns="" val="27242937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9552" y="620688"/>
            <a:ext cx="8226496" cy="5475312"/>
          </a:xfrm>
        </p:spPr>
        <p:txBody>
          <a:bodyPr>
            <a:normAutofit/>
          </a:bodyPr>
          <a:lstStyle/>
          <a:p>
            <a:r>
              <a:rPr lang="en-US" dirty="0" smtClean="0">
                <a:solidFill>
                  <a:srgbClr val="FF0000"/>
                </a:solidFill>
              </a:rPr>
              <a:t>3. EXIT INTERVIEW</a:t>
            </a:r>
          </a:p>
          <a:p>
            <a:endParaRPr lang="en-US" dirty="0" smtClean="0">
              <a:solidFill>
                <a:srgbClr val="FF0000"/>
              </a:solidFill>
            </a:endParaRPr>
          </a:p>
          <a:p>
            <a:endParaRPr lang="en-US" dirty="0">
              <a:solidFill>
                <a:srgbClr val="FF0000"/>
              </a:solidFill>
            </a:endParaRPr>
          </a:p>
          <a:p>
            <a:pPr>
              <a:buFont typeface="Wingdings" charset="2"/>
              <a:buChar char="Ø"/>
            </a:pPr>
            <a:r>
              <a:rPr lang="en-US" dirty="0" smtClean="0"/>
              <a:t>When an employee leaves the company for any reason, an exit interview is conducted</a:t>
            </a:r>
          </a:p>
          <a:p>
            <a:pPr>
              <a:buFont typeface="Wingdings" charset="2"/>
              <a:buChar char="Ø"/>
            </a:pPr>
            <a:r>
              <a:rPr lang="en-US" dirty="0" smtClean="0"/>
              <a:t>Aims at eliciting information about the job or related matters </a:t>
            </a:r>
          </a:p>
          <a:p>
            <a:pPr>
              <a:buFont typeface="Wingdings" charset="2"/>
              <a:buChar char="Ø"/>
            </a:pPr>
            <a:r>
              <a:rPr lang="en-US" dirty="0" smtClean="0"/>
              <a:t>Help the employer in having a better insight into what is right or wrong about the company</a:t>
            </a:r>
          </a:p>
          <a:p>
            <a:pPr>
              <a:buFont typeface="Wingdings" charset="2"/>
              <a:buChar char="Ø"/>
            </a:pPr>
            <a:r>
              <a:rPr lang="en-US" dirty="0" smtClean="0"/>
              <a:t>Highlights the work of </a:t>
            </a:r>
            <a:r>
              <a:rPr lang="en-US" dirty="0">
                <a:solidFill>
                  <a:srgbClr val="FF6600"/>
                </a:solidFill>
              </a:rPr>
              <a:t>a</a:t>
            </a:r>
            <a:r>
              <a:rPr lang="en-US" dirty="0" smtClean="0">
                <a:solidFill>
                  <a:srgbClr val="FF6600"/>
                </a:solidFill>
              </a:rPr>
              <a:t>n HR Manager</a:t>
            </a:r>
            <a:endParaRPr lang="en-US" dirty="0">
              <a:solidFill>
                <a:srgbClr val="FF6600"/>
              </a:solidFill>
            </a:endParaRPr>
          </a:p>
        </p:txBody>
      </p:sp>
    </p:spTree>
    <p:extLst>
      <p:ext uri="{BB962C8B-B14F-4D97-AF65-F5344CB8AC3E}">
        <p14:creationId xmlns:p14="http://schemas.microsoft.com/office/powerpoint/2010/main" xmlns="" val="14584942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207824" cy="1040160"/>
          </a:xfrm>
        </p:spPr>
        <p:txBody>
          <a:bodyPr>
            <a:normAutofit fontScale="90000"/>
          </a:bodyPr>
          <a:lstStyle/>
          <a:p>
            <a:pPr algn="ctr"/>
            <a:r>
              <a:rPr lang="en-US" sz="3600" b="1" dirty="0" smtClean="0"/>
              <a:t>III. CLASSIFICATION ACCORDING TO                                 ADMINISTERING INTERVIEW</a:t>
            </a:r>
            <a:endParaRPr lang="en-US" sz="3600" b="1" dirty="0"/>
          </a:p>
        </p:txBody>
      </p:sp>
      <p:sp>
        <p:nvSpPr>
          <p:cNvPr id="3" name="Content Placeholder 2"/>
          <p:cNvSpPr>
            <a:spLocks noGrp="1"/>
          </p:cNvSpPr>
          <p:nvPr>
            <p:ph sz="quarter" idx="1"/>
          </p:nvPr>
        </p:nvSpPr>
        <p:spPr/>
        <p:txBody>
          <a:bodyPr>
            <a:normAutofit/>
          </a:bodyPr>
          <a:lstStyle/>
          <a:p>
            <a:pPr marL="514350" indent="-514350">
              <a:buAutoNum type="arabicPeriod"/>
            </a:pPr>
            <a:r>
              <a:rPr lang="en-US" dirty="0" smtClean="0">
                <a:solidFill>
                  <a:srgbClr val="FF0000"/>
                </a:solidFill>
              </a:rPr>
              <a:t>ONE TO ONE INTERVIEW</a:t>
            </a:r>
            <a:endParaRPr lang="en-US" dirty="0" smtClean="0"/>
          </a:p>
          <a:p>
            <a:pPr>
              <a:buFont typeface="Wingdings" charset="2"/>
              <a:buChar char="Ø"/>
            </a:pPr>
            <a:r>
              <a:rPr lang="en-US" dirty="0" smtClean="0"/>
              <a:t>Single interviewer</a:t>
            </a:r>
          </a:p>
          <a:p>
            <a:pPr marL="0" indent="0">
              <a:buNone/>
            </a:pPr>
            <a:r>
              <a:rPr lang="en-US" dirty="0" smtClean="0"/>
              <a:t>  who takes interview </a:t>
            </a:r>
          </a:p>
          <a:p>
            <a:pPr marL="0" indent="0">
              <a:buNone/>
            </a:pPr>
            <a:r>
              <a:rPr lang="en-US" dirty="0">
                <a:solidFill>
                  <a:srgbClr val="FF6600"/>
                </a:solidFill>
              </a:rPr>
              <a:t> </a:t>
            </a:r>
            <a:r>
              <a:rPr lang="en-US" dirty="0" smtClean="0">
                <a:solidFill>
                  <a:srgbClr val="FF6600"/>
                </a:solidFill>
              </a:rPr>
              <a:t> one by one</a:t>
            </a:r>
          </a:p>
          <a:p>
            <a:pPr>
              <a:buFont typeface="Wingdings" charset="2"/>
              <a:buChar char="Ø"/>
            </a:pPr>
            <a:r>
              <a:rPr lang="en-US" dirty="0" smtClean="0"/>
              <a:t>Maybe </a:t>
            </a:r>
            <a:r>
              <a:rPr lang="en-US" dirty="0" smtClean="0">
                <a:solidFill>
                  <a:srgbClr val="FF6600"/>
                </a:solidFill>
              </a:rPr>
              <a:t>structured, unstructured or sequential</a:t>
            </a:r>
          </a:p>
          <a:p>
            <a:pPr>
              <a:buFont typeface="Wingdings" charset="2"/>
              <a:buChar char="Ø"/>
            </a:pPr>
            <a:r>
              <a:rPr lang="en-US" dirty="0" smtClean="0"/>
              <a:t>Easier to handle, generally more informal</a:t>
            </a:r>
          </a:p>
          <a:p>
            <a:pPr>
              <a:buFont typeface="Wingdings" charset="2"/>
              <a:buChar char="Ø"/>
            </a:pPr>
            <a:r>
              <a:rPr lang="en-US" dirty="0" smtClean="0">
                <a:solidFill>
                  <a:srgbClr val="FF6600"/>
                </a:solidFill>
              </a:rPr>
              <a:t>Best way to handle </a:t>
            </a:r>
            <a:r>
              <a:rPr lang="en-US" dirty="0" smtClean="0"/>
              <a:t>such interviews is to relate them as a </a:t>
            </a:r>
            <a:r>
              <a:rPr lang="en-US" dirty="0" smtClean="0">
                <a:solidFill>
                  <a:srgbClr val="FF6600"/>
                </a:solidFill>
              </a:rPr>
              <a:t>form of a conversation</a:t>
            </a:r>
          </a:p>
          <a:p>
            <a:pPr>
              <a:buFont typeface="Wingdings" charset="2"/>
              <a:buChar char="Ø"/>
            </a:pPr>
            <a:endParaRPr lang="en-US" dirty="0" smtClean="0">
              <a:solidFill>
                <a:srgbClr val="FF6600"/>
              </a:solidFill>
            </a:endParaRPr>
          </a:p>
          <a:p>
            <a:pPr>
              <a:buFont typeface="Wingdings" charset="2"/>
              <a:buChar char="Ø"/>
            </a:pPr>
            <a:endParaRPr lang="en-US" dirty="0">
              <a:solidFill>
                <a:srgbClr val="FF6600"/>
              </a:solidFill>
            </a:endParaRPr>
          </a:p>
        </p:txBody>
      </p:sp>
      <p:pic>
        <p:nvPicPr>
          <p:cNvPr id="5" name="Picture 2" descr="http://1.bp.blogspot.com/_XYD7VjbX2L4/TL2qucqNWgI/AAAAAAAAAAc/oe_cZf66e38/s1600/interview_informal.gif"/>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436096" y="1628800"/>
            <a:ext cx="2852643" cy="20162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8526385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9552" y="620688"/>
            <a:ext cx="8226496" cy="5475312"/>
          </a:xfrm>
        </p:spPr>
        <p:txBody>
          <a:bodyPr>
            <a:normAutofit fontScale="92500" lnSpcReduction="20000"/>
          </a:bodyPr>
          <a:lstStyle/>
          <a:p>
            <a:r>
              <a:rPr lang="en-US" dirty="0" smtClean="0">
                <a:solidFill>
                  <a:srgbClr val="FF0000"/>
                </a:solidFill>
              </a:rPr>
              <a:t>2. SEQUENTIAL/SERIAL INTERVIEW</a:t>
            </a:r>
          </a:p>
          <a:p>
            <a:endParaRPr lang="en-US" dirty="0" smtClean="0">
              <a:solidFill>
                <a:srgbClr val="FF0000"/>
              </a:solidFill>
            </a:endParaRPr>
          </a:p>
          <a:p>
            <a:pPr>
              <a:buFont typeface="Wingdings" charset="2"/>
              <a:buChar char="Ø"/>
            </a:pPr>
            <a:r>
              <a:rPr lang="en-US" dirty="0" smtClean="0"/>
              <a:t>These interviews are </a:t>
            </a:r>
          </a:p>
          <a:p>
            <a:pPr marL="0" indent="0">
              <a:buNone/>
            </a:pPr>
            <a:r>
              <a:rPr lang="en-US" dirty="0" smtClean="0"/>
              <a:t>  Those in which the </a:t>
            </a:r>
          </a:p>
          <a:p>
            <a:pPr marL="0" indent="0">
              <a:buNone/>
            </a:pPr>
            <a:r>
              <a:rPr lang="en-US" dirty="0" smtClean="0">
                <a:solidFill>
                  <a:srgbClr val="FF6600"/>
                </a:solidFill>
              </a:rPr>
              <a:t>  applicant is interviewed </a:t>
            </a:r>
          </a:p>
          <a:p>
            <a:pPr marL="0" indent="0">
              <a:buNone/>
            </a:pPr>
            <a:r>
              <a:rPr lang="en-US" dirty="0" smtClean="0">
                <a:solidFill>
                  <a:srgbClr val="FF6600"/>
                </a:solidFill>
              </a:rPr>
              <a:t>  Sequentially by several </a:t>
            </a:r>
          </a:p>
          <a:p>
            <a:pPr marL="0" indent="0">
              <a:buNone/>
            </a:pPr>
            <a:r>
              <a:rPr lang="en-US" dirty="0" smtClean="0">
                <a:solidFill>
                  <a:srgbClr val="FF6600"/>
                </a:solidFill>
              </a:rPr>
              <a:t>  persons</a:t>
            </a:r>
            <a:r>
              <a:rPr lang="en-US" dirty="0" smtClean="0"/>
              <a:t> (interviewers)</a:t>
            </a:r>
          </a:p>
          <a:p>
            <a:pPr>
              <a:buFont typeface="Wingdings" charset="2"/>
              <a:buChar char="Ø"/>
            </a:pPr>
            <a:r>
              <a:rPr lang="en-US" dirty="0" smtClean="0"/>
              <a:t>Each one rates the applicant on a </a:t>
            </a:r>
            <a:r>
              <a:rPr lang="en-US" dirty="0" smtClean="0">
                <a:solidFill>
                  <a:srgbClr val="FF6600"/>
                </a:solidFill>
              </a:rPr>
              <a:t>standard evaluation form</a:t>
            </a:r>
            <a:r>
              <a:rPr lang="en-US" dirty="0" smtClean="0"/>
              <a:t> and these ratings are then compared before the hiring decision is taken</a:t>
            </a:r>
          </a:p>
          <a:p>
            <a:pPr>
              <a:buFont typeface="Wingdings" charset="2"/>
              <a:buChar char="Ø"/>
            </a:pPr>
            <a:r>
              <a:rPr lang="en-US" dirty="0" smtClean="0"/>
              <a:t>Each interviewer </a:t>
            </a:r>
            <a:r>
              <a:rPr lang="en-US" dirty="0" smtClean="0">
                <a:solidFill>
                  <a:srgbClr val="FF6600"/>
                </a:solidFill>
              </a:rPr>
              <a:t>rates from his/her own point of view, asks different questions </a:t>
            </a:r>
            <a:r>
              <a:rPr lang="en-US" dirty="0" smtClean="0"/>
              <a:t>and</a:t>
            </a:r>
            <a:r>
              <a:rPr lang="en-US" dirty="0" smtClean="0">
                <a:solidFill>
                  <a:srgbClr val="FF6600"/>
                </a:solidFill>
              </a:rPr>
              <a:t> forms an independent opinion </a:t>
            </a:r>
            <a:r>
              <a:rPr lang="en-US" dirty="0" smtClean="0"/>
              <a:t>of the candidate</a:t>
            </a:r>
          </a:p>
        </p:txBody>
      </p:sp>
      <p:pic>
        <p:nvPicPr>
          <p:cNvPr id="5" name="Picture 2" descr="http://www.bettermondays.com/wp-content/uploads/2008/07/recruiting-interview.jpg"/>
          <p:cNvPicPr>
            <a:picLocks noChangeAspect="1" noChangeArrowheads="1"/>
          </p:cNvPicPr>
          <p:nvPr/>
        </p:nvPicPr>
        <p:blipFill>
          <a:blip r:embed="rId2" cstate="print"/>
          <a:srcRect t="19474" b="12749"/>
          <a:stretch>
            <a:fillRect/>
          </a:stretch>
        </p:blipFill>
        <p:spPr bwMode="auto">
          <a:xfrm>
            <a:off x="4139952" y="1628800"/>
            <a:ext cx="4717032" cy="1800200"/>
          </a:xfrm>
          <a:prstGeom prst="rect">
            <a:avLst/>
          </a:prstGeom>
          <a:ln>
            <a:noFill/>
          </a:ln>
          <a:effectLst>
            <a:softEdge rad="112500"/>
          </a:effectLst>
        </p:spPr>
      </p:pic>
    </p:spTree>
    <p:extLst>
      <p:ext uri="{BB962C8B-B14F-4D97-AF65-F5344CB8AC3E}">
        <p14:creationId xmlns:p14="http://schemas.microsoft.com/office/powerpoint/2010/main" xmlns="" val="374265458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9552" y="548680"/>
            <a:ext cx="8226496" cy="5547320"/>
          </a:xfrm>
        </p:spPr>
        <p:txBody>
          <a:bodyPr>
            <a:normAutofit lnSpcReduction="10000"/>
          </a:bodyPr>
          <a:lstStyle/>
          <a:p>
            <a:r>
              <a:rPr lang="en-US" dirty="0" smtClean="0">
                <a:solidFill>
                  <a:srgbClr val="FF0000"/>
                </a:solidFill>
              </a:rPr>
              <a:t>3. GROUP INTERVIEW/ GROUP DISCUSSION</a:t>
            </a:r>
          </a:p>
          <a:p>
            <a:pPr marL="0" indent="0">
              <a:buNone/>
            </a:pPr>
            <a:endParaRPr lang="en-US" dirty="0"/>
          </a:p>
          <a:p>
            <a:pPr>
              <a:buFont typeface="Wingdings" charset="2"/>
              <a:buChar char="Ø"/>
            </a:pPr>
            <a:r>
              <a:rPr lang="en-US" dirty="0" smtClean="0"/>
              <a:t> </a:t>
            </a:r>
            <a:r>
              <a:rPr lang="en-US" sz="2800" dirty="0" smtClean="0"/>
              <a:t>The </a:t>
            </a:r>
            <a:r>
              <a:rPr lang="en-US" sz="2800" dirty="0"/>
              <a:t>main purpose of </a:t>
            </a:r>
            <a:r>
              <a:rPr lang="en-US" sz="2800" dirty="0" smtClean="0"/>
              <a:t>this</a:t>
            </a:r>
          </a:p>
          <a:p>
            <a:pPr marL="0" indent="0">
              <a:buNone/>
            </a:pPr>
            <a:r>
              <a:rPr lang="en-US" sz="2800" dirty="0" smtClean="0"/>
              <a:t>  </a:t>
            </a:r>
            <a:r>
              <a:rPr lang="en-US" sz="2800" dirty="0"/>
              <a:t>interview is to see how </a:t>
            </a:r>
            <a:endParaRPr lang="en-US" sz="2800" dirty="0" smtClean="0"/>
          </a:p>
          <a:p>
            <a:pPr marL="0" indent="0">
              <a:buNone/>
            </a:pPr>
            <a:r>
              <a:rPr lang="en-US" sz="2800" dirty="0" smtClean="0"/>
              <a:t>  the interviewee </a:t>
            </a:r>
            <a:r>
              <a:rPr lang="en-US" sz="2800" dirty="0"/>
              <a:t>interacts </a:t>
            </a:r>
            <a:endParaRPr lang="en-US" sz="2800" dirty="0" smtClean="0"/>
          </a:p>
          <a:p>
            <a:pPr marL="0" indent="0">
              <a:buNone/>
            </a:pPr>
            <a:r>
              <a:rPr lang="en-US" sz="2800" dirty="0" smtClean="0"/>
              <a:t>  with others </a:t>
            </a:r>
            <a:r>
              <a:rPr lang="en-US" sz="2800" dirty="0"/>
              <a:t>and how </a:t>
            </a:r>
            <a:r>
              <a:rPr lang="en-US" sz="2800" dirty="0" smtClean="0"/>
              <a:t>he/</a:t>
            </a:r>
          </a:p>
          <a:p>
            <a:pPr marL="0" indent="0">
              <a:buNone/>
            </a:pPr>
            <a:r>
              <a:rPr lang="en-US" sz="2800" dirty="0" smtClean="0"/>
              <a:t>  she influences </a:t>
            </a:r>
            <a:r>
              <a:rPr lang="en-US" sz="2800" dirty="0"/>
              <a:t>others with </a:t>
            </a:r>
            <a:endParaRPr lang="en-US" sz="2800" dirty="0" smtClean="0"/>
          </a:p>
          <a:p>
            <a:pPr marL="0" indent="0">
              <a:buNone/>
            </a:pPr>
            <a:r>
              <a:rPr lang="en-US" sz="2800" dirty="0" smtClean="0"/>
              <a:t>  his/her knowledge </a:t>
            </a:r>
            <a:r>
              <a:rPr lang="en-US" sz="2800" dirty="0"/>
              <a:t>and </a:t>
            </a:r>
            <a:endParaRPr lang="en-US" sz="2800" dirty="0" smtClean="0"/>
          </a:p>
          <a:p>
            <a:pPr marL="0" indent="0">
              <a:buNone/>
            </a:pPr>
            <a:r>
              <a:rPr lang="en-US" sz="2800" dirty="0" smtClean="0"/>
              <a:t>  reason</a:t>
            </a:r>
            <a:r>
              <a:rPr lang="en-US" sz="2800" dirty="0"/>
              <a:t>. </a:t>
            </a:r>
            <a:endParaRPr lang="en-US" sz="2800" dirty="0" smtClean="0"/>
          </a:p>
          <a:p>
            <a:pPr>
              <a:buFont typeface="Wingdings" charset="2"/>
              <a:buChar char="Ø"/>
            </a:pPr>
            <a:r>
              <a:rPr lang="en-US" sz="2800" dirty="0" smtClean="0"/>
              <a:t>Also known as GD’s, a topic for discussion is given to a group.</a:t>
            </a:r>
          </a:p>
        </p:txBody>
      </p:sp>
      <p:pic>
        <p:nvPicPr>
          <p:cNvPr id="5" name="Picture 2" descr="http://3.bp.blogspot.com/_k-x2WbhxGl4/S9rT1R7NfHI/AAAAAAAAAGQ/6cZZH9evDTY/s1600/group-interview.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644008" y="1628800"/>
            <a:ext cx="4330307" cy="30963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1347733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Заголовок 1"/>
          <p:cNvSpPr>
            <a:spLocks noGrp="1"/>
          </p:cNvSpPr>
          <p:nvPr>
            <p:ph type="title"/>
          </p:nvPr>
        </p:nvSpPr>
        <p:spPr/>
        <p:txBody>
          <a:bodyPr/>
          <a:lstStyle/>
          <a:p>
            <a:pPr algn="ctr"/>
            <a:r>
              <a:rPr lang="en-US" dirty="0"/>
              <a:t>Why group interviews?</a:t>
            </a:r>
            <a:endParaRPr lang="ru-RU" dirty="0"/>
          </a:p>
        </p:txBody>
      </p:sp>
      <p:sp>
        <p:nvSpPr>
          <p:cNvPr id="21507" name="Содержимое 2"/>
          <p:cNvSpPr>
            <a:spLocks noGrp="1"/>
          </p:cNvSpPr>
          <p:nvPr>
            <p:ph sz="quarter" idx="1"/>
          </p:nvPr>
        </p:nvSpPr>
        <p:spPr/>
        <p:txBody>
          <a:bodyPr>
            <a:noAutofit/>
          </a:bodyPr>
          <a:lstStyle/>
          <a:p>
            <a:pPr>
              <a:lnSpc>
                <a:spcPct val="150000"/>
              </a:lnSpc>
            </a:pPr>
            <a:r>
              <a:rPr lang="en-US" sz="2400" dirty="0">
                <a:latin typeface="Constantia" charset="0"/>
              </a:rPr>
              <a:t>Group interview is also </a:t>
            </a:r>
            <a:r>
              <a:rPr lang="en-US" sz="2400" dirty="0" smtClean="0">
                <a:latin typeface="Constantia" charset="0"/>
              </a:rPr>
              <a:t>the best </a:t>
            </a:r>
          </a:p>
          <a:p>
            <a:pPr marL="0" indent="0">
              <a:lnSpc>
                <a:spcPct val="150000"/>
              </a:lnSpc>
              <a:buNone/>
            </a:pPr>
            <a:r>
              <a:rPr lang="en-US" sz="2400" dirty="0">
                <a:latin typeface="Constantia" charset="0"/>
              </a:rPr>
              <a:t> </a:t>
            </a:r>
            <a:r>
              <a:rPr lang="en-US" sz="2400" dirty="0" smtClean="0">
                <a:latin typeface="Constantia" charset="0"/>
              </a:rPr>
              <a:t> way </a:t>
            </a:r>
            <a:r>
              <a:rPr lang="en-US" sz="2400" dirty="0">
                <a:latin typeface="Constantia" charset="0"/>
              </a:rPr>
              <a:t>to </a:t>
            </a:r>
            <a:r>
              <a:rPr lang="en-US" sz="2400" dirty="0">
                <a:solidFill>
                  <a:srgbClr val="FF6600"/>
                </a:solidFill>
                <a:latin typeface="Constantia" charset="0"/>
              </a:rPr>
              <a:t>discover any </a:t>
            </a:r>
            <a:r>
              <a:rPr lang="en-US" sz="2400" dirty="0" smtClean="0">
                <a:solidFill>
                  <a:srgbClr val="FF6600"/>
                </a:solidFill>
                <a:latin typeface="Constantia" charset="0"/>
              </a:rPr>
              <a:t>leadership </a:t>
            </a:r>
          </a:p>
          <a:p>
            <a:pPr marL="0" indent="0">
              <a:lnSpc>
                <a:spcPct val="150000"/>
              </a:lnSpc>
              <a:buNone/>
            </a:pPr>
            <a:r>
              <a:rPr lang="en-US" sz="2400" dirty="0">
                <a:solidFill>
                  <a:srgbClr val="FF6600"/>
                </a:solidFill>
                <a:latin typeface="Constantia" charset="0"/>
              </a:rPr>
              <a:t> </a:t>
            </a:r>
            <a:r>
              <a:rPr lang="en-US" sz="2400" dirty="0" smtClean="0">
                <a:solidFill>
                  <a:srgbClr val="FF6600"/>
                </a:solidFill>
                <a:latin typeface="Constantia" charset="0"/>
              </a:rPr>
              <a:t> potential, group participation, team </a:t>
            </a:r>
          </a:p>
          <a:p>
            <a:pPr marL="0" indent="0">
              <a:lnSpc>
                <a:spcPct val="150000"/>
              </a:lnSpc>
              <a:buNone/>
            </a:pPr>
            <a:r>
              <a:rPr lang="en-US" sz="2400" dirty="0">
                <a:solidFill>
                  <a:srgbClr val="FF6600"/>
                </a:solidFill>
                <a:latin typeface="Constantia" charset="0"/>
              </a:rPr>
              <a:t> </a:t>
            </a:r>
            <a:r>
              <a:rPr lang="en-US" sz="2400" dirty="0" smtClean="0">
                <a:solidFill>
                  <a:srgbClr val="FF6600"/>
                </a:solidFill>
                <a:latin typeface="Constantia" charset="0"/>
              </a:rPr>
              <a:t> playing skills and communication</a:t>
            </a:r>
          </a:p>
          <a:p>
            <a:pPr marL="0" indent="0">
              <a:lnSpc>
                <a:spcPct val="150000"/>
              </a:lnSpc>
              <a:buNone/>
            </a:pPr>
            <a:r>
              <a:rPr lang="en-US" sz="2400" dirty="0">
                <a:solidFill>
                  <a:srgbClr val="FF6600"/>
                </a:solidFill>
                <a:latin typeface="Constantia" charset="0"/>
              </a:rPr>
              <a:t> </a:t>
            </a:r>
            <a:r>
              <a:rPr lang="en-US" sz="2400" dirty="0" smtClean="0">
                <a:solidFill>
                  <a:srgbClr val="FF6600"/>
                </a:solidFill>
                <a:latin typeface="Constantia" charset="0"/>
              </a:rPr>
              <a:t> skills</a:t>
            </a:r>
            <a:r>
              <a:rPr lang="en-US" sz="2400" dirty="0" smtClean="0">
                <a:latin typeface="Constantia" charset="0"/>
              </a:rPr>
              <a:t> among the </a:t>
            </a:r>
            <a:r>
              <a:rPr lang="en-US" sz="2400" dirty="0">
                <a:latin typeface="Constantia" charset="0"/>
              </a:rPr>
              <a:t>candidates. </a:t>
            </a:r>
          </a:p>
          <a:p>
            <a:pPr>
              <a:lnSpc>
                <a:spcPct val="150000"/>
              </a:lnSpc>
            </a:pPr>
            <a:r>
              <a:rPr lang="en-US" sz="2400" dirty="0">
                <a:latin typeface="Constantia" charset="0"/>
              </a:rPr>
              <a:t>The </a:t>
            </a:r>
            <a:r>
              <a:rPr lang="en-US" sz="2400" dirty="0" smtClean="0">
                <a:latin typeface="Constantia" charset="0"/>
              </a:rPr>
              <a:t>selected </a:t>
            </a:r>
            <a:r>
              <a:rPr lang="en-US" sz="2400" dirty="0">
                <a:latin typeface="Constantia" charset="0"/>
              </a:rPr>
              <a:t>candidates </a:t>
            </a:r>
            <a:r>
              <a:rPr lang="en-US" sz="2400" dirty="0" smtClean="0">
                <a:latin typeface="Constantia" charset="0"/>
              </a:rPr>
              <a:t>from the group interview </a:t>
            </a:r>
            <a:r>
              <a:rPr lang="en-US" sz="2400" dirty="0">
                <a:latin typeface="Constantia" charset="0"/>
              </a:rPr>
              <a:t>are then taken for an informal one to </a:t>
            </a:r>
            <a:r>
              <a:rPr lang="en-US" sz="2400" dirty="0" smtClean="0">
                <a:latin typeface="Constantia" charset="0"/>
              </a:rPr>
              <a:t>one interview</a:t>
            </a:r>
            <a:r>
              <a:rPr lang="en-US" sz="2400" dirty="0">
                <a:latin typeface="Constantia" charset="0"/>
              </a:rPr>
              <a:t>.</a:t>
            </a:r>
          </a:p>
        </p:txBody>
      </p:sp>
      <p:pic>
        <p:nvPicPr>
          <p:cNvPr id="27650" name="Picture 2" descr="http://www.careerfaqs.com.au/images/articles/1116/large/getthatjob_group_interview.jpg"/>
          <p:cNvPicPr>
            <a:picLocks noChangeAspect="1" noChangeArrowheads="1"/>
          </p:cNvPicPr>
          <p:nvPr/>
        </p:nvPicPr>
        <p:blipFill>
          <a:blip r:embed="rId2" cstate="print"/>
          <a:srcRect/>
          <a:stretch>
            <a:fillRect/>
          </a:stretch>
        </p:blipFill>
        <p:spPr bwMode="auto">
          <a:xfrm>
            <a:off x="5724128" y="1700808"/>
            <a:ext cx="3168352" cy="2466975"/>
          </a:xfrm>
          <a:prstGeom prst="rect">
            <a:avLst/>
          </a:prstGeom>
          <a:ln>
            <a:noFill/>
          </a:ln>
          <a:effectLst>
            <a:softEdge rad="112500"/>
          </a:effectLst>
        </p:spPr>
      </p:pic>
    </p:spTree>
    <p:extLst>
      <p:ext uri="{BB962C8B-B14F-4D97-AF65-F5344CB8AC3E}">
        <p14:creationId xmlns:p14="http://schemas.microsoft.com/office/powerpoint/2010/main" xmlns="" val="4031596900"/>
      </p:ext>
    </p:extLst>
  </p:cSld>
  <p:clrMapOvr>
    <a:masterClrMapping/>
  </p:clrMapOvr>
  <p:transition>
    <p:strips dir="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3568" y="620688"/>
            <a:ext cx="8082480" cy="5475312"/>
          </a:xfrm>
        </p:spPr>
        <p:txBody>
          <a:bodyPr/>
          <a:lstStyle/>
          <a:p>
            <a:r>
              <a:rPr lang="en-US" dirty="0" smtClean="0">
                <a:solidFill>
                  <a:srgbClr val="FF0000"/>
                </a:solidFill>
              </a:rPr>
              <a:t>4. PANEL INTERVIEW/ COMMITTEE INTERVIEW</a:t>
            </a:r>
          </a:p>
          <a:p>
            <a:endParaRPr lang="en-US" dirty="0" smtClean="0">
              <a:solidFill>
                <a:srgbClr val="FF0000"/>
              </a:solidFill>
            </a:endParaRPr>
          </a:p>
          <a:p>
            <a:endParaRPr lang="en-US" dirty="0">
              <a:solidFill>
                <a:srgbClr val="FF0000"/>
              </a:solidFill>
            </a:endParaRPr>
          </a:p>
          <a:p>
            <a:pPr algn="just"/>
            <a:r>
              <a:rPr lang="en-US" sz="2400" dirty="0">
                <a:latin typeface="Constantia" charset="0"/>
              </a:rPr>
              <a:t>A panel interview comprises more than two members interviewing a person for the hiring. </a:t>
            </a:r>
          </a:p>
          <a:p>
            <a:pPr algn="just"/>
            <a:r>
              <a:rPr lang="en-US" sz="2400" dirty="0">
                <a:latin typeface="Constantia" charset="0"/>
              </a:rPr>
              <a:t>It is most common mode of interview when hiring at the senior level.</a:t>
            </a:r>
          </a:p>
          <a:p>
            <a:pPr algn="just"/>
            <a:r>
              <a:rPr lang="en-US" sz="2400" dirty="0">
                <a:latin typeface="Constantia" charset="0"/>
              </a:rPr>
              <a:t>The interviewee should try to connect with each interviewer and the best way to do this is to read the personality of each interviewer</a:t>
            </a:r>
            <a:r>
              <a:rPr lang="en-US" sz="2400" dirty="0" smtClean="0">
                <a:latin typeface="Constantia" charset="0"/>
              </a:rPr>
              <a:t>.</a:t>
            </a:r>
          </a:p>
          <a:p>
            <a:pPr algn="just"/>
            <a:endParaRPr lang="en-US" sz="2400" dirty="0">
              <a:solidFill>
                <a:srgbClr val="FF0000"/>
              </a:solidFill>
            </a:endParaRPr>
          </a:p>
        </p:txBody>
      </p:sp>
    </p:spTree>
    <p:extLst>
      <p:ext uri="{BB962C8B-B14F-4D97-AF65-F5344CB8AC3E}">
        <p14:creationId xmlns:p14="http://schemas.microsoft.com/office/powerpoint/2010/main" xmlns="" val="19989369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9552" y="332656"/>
            <a:ext cx="8226496" cy="5763344"/>
          </a:xfrm>
        </p:spPr>
        <p:txBody>
          <a:bodyPr>
            <a:normAutofit/>
          </a:bodyPr>
          <a:lstStyle/>
          <a:p>
            <a:pPr fontAlgn="auto">
              <a:lnSpc>
                <a:spcPct val="150000"/>
              </a:lnSpc>
              <a:spcAft>
                <a:spcPts val="0"/>
              </a:spcAft>
              <a:buClr>
                <a:schemeClr val="accent3"/>
              </a:buClr>
              <a:buFont typeface="Wingdings" charset="2"/>
              <a:buChar char="u"/>
              <a:defRPr/>
            </a:pPr>
            <a:r>
              <a:rPr lang="en-US" dirty="0" smtClean="0"/>
              <a:t>  In </a:t>
            </a:r>
            <a:r>
              <a:rPr lang="en-US" dirty="0"/>
              <a:t>a panel interview, </a:t>
            </a:r>
          </a:p>
          <a:p>
            <a:pPr marL="274320" indent="-274320" fontAlgn="auto">
              <a:lnSpc>
                <a:spcPct val="150000"/>
              </a:lnSpc>
              <a:spcAft>
                <a:spcPts val="0"/>
              </a:spcAft>
              <a:buClr>
                <a:schemeClr val="accent3"/>
              </a:buClr>
              <a:buFont typeface="Wingdings 2"/>
              <a:buNone/>
              <a:defRPr/>
            </a:pPr>
            <a:r>
              <a:rPr lang="en-US" dirty="0" smtClean="0"/>
              <a:t>  the </a:t>
            </a:r>
            <a:r>
              <a:rPr lang="en-US" dirty="0"/>
              <a:t>interviewer tries </a:t>
            </a:r>
          </a:p>
          <a:p>
            <a:pPr marL="274320" indent="-274320" fontAlgn="auto">
              <a:lnSpc>
                <a:spcPct val="150000"/>
              </a:lnSpc>
              <a:spcAft>
                <a:spcPts val="0"/>
              </a:spcAft>
              <a:buClr>
                <a:schemeClr val="accent3"/>
              </a:buClr>
              <a:buFont typeface="Wingdings 2"/>
              <a:buNone/>
              <a:defRPr/>
            </a:pPr>
            <a:r>
              <a:rPr lang="en-US" dirty="0" smtClean="0"/>
              <a:t>  to </a:t>
            </a:r>
            <a:r>
              <a:rPr lang="en-US" dirty="0"/>
              <a:t>gauge the group </a:t>
            </a:r>
          </a:p>
          <a:p>
            <a:pPr marL="274320" indent="-274320" fontAlgn="auto">
              <a:lnSpc>
                <a:spcPct val="150000"/>
              </a:lnSpc>
              <a:spcAft>
                <a:spcPts val="0"/>
              </a:spcAft>
              <a:buClr>
                <a:schemeClr val="accent3"/>
              </a:buClr>
              <a:buFont typeface="Wingdings 2"/>
              <a:buNone/>
              <a:defRPr/>
            </a:pPr>
            <a:r>
              <a:rPr lang="en-US" dirty="0" smtClean="0"/>
              <a:t>  management </a:t>
            </a:r>
            <a:r>
              <a:rPr lang="en-US" dirty="0"/>
              <a:t>and group presentation skills of </a:t>
            </a:r>
            <a:r>
              <a:rPr lang="en-US" dirty="0" smtClean="0"/>
              <a:t>the interviewee</a:t>
            </a:r>
            <a:r>
              <a:rPr lang="en-US" dirty="0"/>
              <a:t>. </a:t>
            </a:r>
          </a:p>
          <a:p>
            <a:pPr fontAlgn="auto">
              <a:lnSpc>
                <a:spcPct val="150000"/>
              </a:lnSpc>
              <a:spcAft>
                <a:spcPts val="0"/>
              </a:spcAft>
              <a:buClr>
                <a:schemeClr val="accent3"/>
              </a:buClr>
              <a:buFont typeface="Wingdings" charset="2"/>
              <a:buChar char="u"/>
              <a:defRPr/>
            </a:pPr>
            <a:r>
              <a:rPr lang="en-US" dirty="0"/>
              <a:t>The interviewee should maintain eye contact with the person asking the questions but also seek eye contact with the other members of the panel. </a:t>
            </a:r>
          </a:p>
          <a:p>
            <a:endParaRPr lang="en-US" dirty="0"/>
          </a:p>
        </p:txBody>
      </p:sp>
      <p:pic>
        <p:nvPicPr>
          <p:cNvPr id="4" name="Picture 2" descr="how to prepare for a panel interview">
            <a:hlinkClick r:id="rId2"/>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355976" y="548680"/>
            <a:ext cx="4026024" cy="24794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3340640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b="1" dirty="0" smtClean="0"/>
              <a:t>IV. CLASSIFICATION ACCORDING TO INTERVIEW’S CONTENT</a:t>
            </a:r>
            <a:endParaRPr lang="en-US" sz="3200" b="1" dirty="0"/>
          </a:p>
        </p:txBody>
      </p:sp>
      <p:sp>
        <p:nvSpPr>
          <p:cNvPr id="3" name="Content Placeholder 2"/>
          <p:cNvSpPr>
            <a:spLocks noGrp="1"/>
          </p:cNvSpPr>
          <p:nvPr>
            <p:ph sz="quarter" idx="1"/>
          </p:nvPr>
        </p:nvSpPr>
        <p:spPr>
          <a:xfrm>
            <a:off x="755576" y="1772816"/>
            <a:ext cx="8010472" cy="4323184"/>
          </a:xfrm>
        </p:spPr>
        <p:txBody>
          <a:bodyPr/>
          <a:lstStyle/>
          <a:p>
            <a:pPr marL="0" indent="0">
              <a:buNone/>
            </a:pPr>
            <a:r>
              <a:rPr lang="en-US" dirty="0" smtClean="0">
                <a:solidFill>
                  <a:srgbClr val="FF0000"/>
                </a:solidFill>
              </a:rPr>
              <a:t>  1. SITUATIONAL INTERVIEW</a:t>
            </a:r>
            <a:endParaRPr lang="en-US" dirty="0"/>
          </a:p>
          <a:p>
            <a:pPr>
              <a:buFont typeface="Wingdings" charset="2"/>
              <a:buChar char="Ø"/>
            </a:pPr>
            <a:r>
              <a:rPr lang="en-US" dirty="0" smtClean="0"/>
              <a:t>Here the interview will </a:t>
            </a:r>
            <a:r>
              <a:rPr lang="en-US" dirty="0" smtClean="0">
                <a:solidFill>
                  <a:srgbClr val="FF6600"/>
                </a:solidFill>
              </a:rPr>
              <a:t>focus on the individual’s ability to project what his behavior will be in a given situation</a:t>
            </a:r>
            <a:r>
              <a:rPr lang="en-US" dirty="0" smtClean="0"/>
              <a:t>.</a:t>
            </a:r>
          </a:p>
          <a:p>
            <a:pPr>
              <a:buFont typeface="Wingdings" charset="2"/>
              <a:buChar char="Ø"/>
            </a:pPr>
            <a:r>
              <a:rPr lang="en-US" dirty="0" smtClean="0"/>
              <a:t>The interview </a:t>
            </a:r>
            <a:r>
              <a:rPr lang="en-US" dirty="0" smtClean="0">
                <a:solidFill>
                  <a:srgbClr val="FF6600"/>
                </a:solidFill>
              </a:rPr>
              <a:t>can be both structured and situational with predetermined questions</a:t>
            </a:r>
            <a:r>
              <a:rPr lang="en-US" dirty="0" smtClean="0"/>
              <a:t> requiring the candidate to project what his behavior will be.</a:t>
            </a:r>
            <a:endParaRPr lang="en-US" dirty="0"/>
          </a:p>
        </p:txBody>
      </p:sp>
    </p:spTree>
    <p:extLst>
      <p:ext uri="{BB962C8B-B14F-4D97-AF65-F5344CB8AC3E}">
        <p14:creationId xmlns:p14="http://schemas.microsoft.com/office/powerpoint/2010/main" xmlns="" val="7718030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3568" y="620688"/>
            <a:ext cx="8082480" cy="5475312"/>
          </a:xfrm>
        </p:spPr>
        <p:txBody>
          <a:bodyPr>
            <a:normAutofit fontScale="92500" lnSpcReduction="10000"/>
          </a:bodyPr>
          <a:lstStyle/>
          <a:p>
            <a:pPr marL="0" indent="0">
              <a:buNone/>
            </a:pPr>
            <a:r>
              <a:rPr lang="en-US" dirty="0" smtClean="0">
                <a:solidFill>
                  <a:srgbClr val="FF0000"/>
                </a:solidFill>
              </a:rPr>
              <a:t>2. JOB RELATED INTERVIEW</a:t>
            </a:r>
          </a:p>
          <a:p>
            <a:pPr marL="0" indent="0">
              <a:buNone/>
            </a:pPr>
            <a:endParaRPr lang="en-US" dirty="0" smtClean="0">
              <a:solidFill>
                <a:srgbClr val="FF0000"/>
              </a:solidFill>
            </a:endParaRPr>
          </a:p>
          <a:p>
            <a:pPr>
              <a:buFont typeface="Wingdings" charset="2"/>
              <a:buChar char="Ø"/>
            </a:pPr>
            <a:r>
              <a:rPr lang="en-US" dirty="0" smtClean="0"/>
              <a:t>Here the </a:t>
            </a:r>
            <a:r>
              <a:rPr lang="en-US" dirty="0" smtClean="0">
                <a:solidFill>
                  <a:srgbClr val="FF6600"/>
                </a:solidFill>
              </a:rPr>
              <a:t>interviewer  </a:t>
            </a:r>
          </a:p>
          <a:p>
            <a:pPr marL="0" indent="0">
              <a:buNone/>
            </a:pPr>
            <a:r>
              <a:rPr lang="en-US" dirty="0" smtClean="0">
                <a:solidFill>
                  <a:srgbClr val="FF6600"/>
                </a:solidFill>
              </a:rPr>
              <a:t>  tries to deduce what the </a:t>
            </a:r>
          </a:p>
          <a:p>
            <a:pPr marL="0" indent="0">
              <a:buNone/>
            </a:pPr>
            <a:r>
              <a:rPr lang="en-US" dirty="0" smtClean="0">
                <a:solidFill>
                  <a:srgbClr val="FF6600"/>
                </a:solidFill>
              </a:rPr>
              <a:t>  applicant’s on-the-job</a:t>
            </a:r>
          </a:p>
          <a:p>
            <a:pPr marL="0" indent="0">
              <a:buNone/>
            </a:pPr>
            <a:r>
              <a:rPr lang="en-US" dirty="0" smtClean="0">
                <a:solidFill>
                  <a:srgbClr val="FF6600"/>
                </a:solidFill>
              </a:rPr>
              <a:t>  performance would be</a:t>
            </a:r>
            <a:r>
              <a:rPr lang="en-US" dirty="0" smtClean="0"/>
              <a:t>, </a:t>
            </a:r>
          </a:p>
          <a:p>
            <a:pPr marL="0" indent="0">
              <a:buNone/>
            </a:pPr>
            <a:r>
              <a:rPr lang="en-US" dirty="0" smtClean="0"/>
              <a:t>  based on his answers </a:t>
            </a:r>
          </a:p>
          <a:p>
            <a:pPr marL="0" indent="0">
              <a:buNone/>
            </a:pPr>
            <a:r>
              <a:rPr lang="en-US" dirty="0"/>
              <a:t> </a:t>
            </a:r>
            <a:r>
              <a:rPr lang="en-US" dirty="0" smtClean="0"/>
              <a:t> about his past behaviors.</a:t>
            </a:r>
          </a:p>
          <a:p>
            <a:pPr marL="0" indent="0">
              <a:buNone/>
            </a:pPr>
            <a:endParaRPr lang="en-US" dirty="0" smtClean="0"/>
          </a:p>
          <a:p>
            <a:pPr>
              <a:buFont typeface="Wingdings" charset="2"/>
              <a:buChar char="Ø"/>
            </a:pPr>
            <a:r>
              <a:rPr lang="en-US" dirty="0" smtClean="0"/>
              <a:t>Job related questions are asked to </a:t>
            </a:r>
            <a:r>
              <a:rPr lang="en-US" dirty="0" smtClean="0">
                <a:solidFill>
                  <a:srgbClr val="FF6600"/>
                </a:solidFill>
              </a:rPr>
              <a:t>draw conclusions about the candidate’s ability to handle the job</a:t>
            </a:r>
            <a:r>
              <a:rPr lang="en-US" dirty="0" smtClean="0"/>
              <a:t> to be filled.</a:t>
            </a:r>
            <a:endParaRPr lang="en-US" dirty="0"/>
          </a:p>
        </p:txBody>
      </p:sp>
      <p:sp>
        <p:nvSpPr>
          <p:cNvPr id="4" name="TextBox 3"/>
          <p:cNvSpPr txBox="1"/>
          <p:nvPr/>
        </p:nvSpPr>
        <p:spPr>
          <a:xfrm>
            <a:off x="3766556" y="4660987"/>
            <a:ext cx="184666" cy="369332"/>
          </a:xfrm>
          <a:prstGeom prst="rect">
            <a:avLst/>
          </a:prstGeom>
          <a:noFill/>
        </p:spPr>
        <p:txBody>
          <a:bodyPr wrap="none" rtlCol="0">
            <a:spAutoFit/>
          </a:bodyPr>
          <a:lstStyle/>
          <a:p>
            <a:endParaRPr lang="en-US" dirty="0"/>
          </a:p>
        </p:txBody>
      </p:sp>
      <p:pic>
        <p:nvPicPr>
          <p:cNvPr id="5" name="Picture 2" descr="http://www.thedigeratilife.com/images/prepare-for-job-interview-2.jpg"/>
          <p:cNvPicPr>
            <a:picLocks noChangeAspect="1" noChangeArrowheads="1"/>
          </p:cNvPicPr>
          <p:nvPr/>
        </p:nvPicPr>
        <p:blipFill>
          <a:blip r:embed="rId2" cstate="print"/>
          <a:srcRect/>
          <a:stretch>
            <a:fillRect/>
          </a:stretch>
        </p:blipFill>
        <p:spPr bwMode="auto">
          <a:xfrm>
            <a:off x="4932040" y="908720"/>
            <a:ext cx="3888432" cy="26932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xmlns="" val="12098776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3568" y="620688"/>
            <a:ext cx="8082480" cy="5475312"/>
          </a:xfrm>
        </p:spPr>
        <p:txBody>
          <a:bodyPr/>
          <a:lstStyle/>
          <a:p>
            <a:pPr marL="0" indent="0">
              <a:buNone/>
            </a:pPr>
            <a:r>
              <a:rPr lang="en-US" dirty="0" smtClean="0">
                <a:solidFill>
                  <a:srgbClr val="FF0000"/>
                </a:solidFill>
              </a:rPr>
              <a:t>3. BEHAVIOURAL INTERVIEW</a:t>
            </a:r>
          </a:p>
          <a:p>
            <a:pPr marL="0" indent="0">
              <a:buNone/>
            </a:pPr>
            <a:endParaRPr lang="en-US" dirty="0"/>
          </a:p>
          <a:p>
            <a:pPr>
              <a:buFont typeface="Wingdings" charset="2"/>
              <a:buChar char="Ø"/>
            </a:pPr>
            <a:r>
              <a:rPr lang="en-US" dirty="0" smtClean="0"/>
              <a:t>Here a </a:t>
            </a:r>
            <a:r>
              <a:rPr lang="en-US" dirty="0" smtClean="0">
                <a:solidFill>
                  <a:srgbClr val="FF6600"/>
                </a:solidFill>
              </a:rPr>
              <a:t>situation is described and candidates are asked how they have behaved in the past</a:t>
            </a:r>
            <a:r>
              <a:rPr lang="en-US" dirty="0" smtClean="0"/>
              <a:t> in such a situation.</a:t>
            </a:r>
          </a:p>
          <a:p>
            <a:pPr>
              <a:buFont typeface="Wingdings" charset="2"/>
              <a:buChar char="Ø"/>
            </a:pPr>
            <a:r>
              <a:rPr lang="en-US" dirty="0" smtClean="0"/>
              <a:t>While </a:t>
            </a:r>
            <a:r>
              <a:rPr lang="en-US" dirty="0" smtClean="0">
                <a:solidFill>
                  <a:srgbClr val="FF6600"/>
                </a:solidFill>
              </a:rPr>
              <a:t>situational interviews</a:t>
            </a:r>
            <a:r>
              <a:rPr lang="en-US" dirty="0" smtClean="0"/>
              <a:t> ask candidates to describe how they would react to a situation </a:t>
            </a:r>
            <a:r>
              <a:rPr lang="en-US" dirty="0" smtClean="0">
                <a:solidFill>
                  <a:srgbClr val="FF6600"/>
                </a:solidFill>
              </a:rPr>
              <a:t>in future,</a:t>
            </a:r>
          </a:p>
          <a:p>
            <a:pPr>
              <a:buFont typeface="Wingdings" charset="2"/>
              <a:buChar char="Ø"/>
            </a:pPr>
            <a:r>
              <a:rPr lang="en-US" dirty="0" smtClean="0"/>
              <a:t>The </a:t>
            </a:r>
            <a:r>
              <a:rPr lang="en-US" dirty="0" smtClean="0">
                <a:solidFill>
                  <a:srgbClr val="FF6600"/>
                </a:solidFill>
              </a:rPr>
              <a:t>behavioral interviews</a:t>
            </a:r>
            <a:r>
              <a:rPr lang="en-US" dirty="0" smtClean="0"/>
              <a:t> seek candidates to describe how did they react to situations </a:t>
            </a:r>
            <a:r>
              <a:rPr lang="en-US" dirty="0" smtClean="0">
                <a:solidFill>
                  <a:srgbClr val="FF6600"/>
                </a:solidFill>
              </a:rPr>
              <a:t>in the past.</a:t>
            </a:r>
          </a:p>
          <a:p>
            <a:pPr>
              <a:buFont typeface="Wingdings" charset="2"/>
              <a:buChar char="Ø"/>
            </a:pPr>
            <a:endParaRPr lang="en-US" dirty="0"/>
          </a:p>
        </p:txBody>
      </p:sp>
    </p:spTree>
    <p:extLst>
      <p:ext uri="{BB962C8B-B14F-4D97-AF65-F5344CB8AC3E}">
        <p14:creationId xmlns:p14="http://schemas.microsoft.com/office/powerpoint/2010/main" xmlns="" val="8606078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83568" y="620688"/>
            <a:ext cx="8082480" cy="5475312"/>
          </a:xfrm>
        </p:spPr>
        <p:txBody>
          <a:bodyPr/>
          <a:lstStyle/>
          <a:p>
            <a:pPr marL="0" indent="0">
              <a:buNone/>
            </a:pPr>
            <a:r>
              <a:rPr lang="en-US" dirty="0" smtClean="0">
                <a:solidFill>
                  <a:srgbClr val="FF0000"/>
                </a:solidFill>
              </a:rPr>
              <a:t>4. PSYCHOLOGICAL INTERVIEWS</a:t>
            </a:r>
          </a:p>
          <a:p>
            <a:pPr marL="0" indent="0">
              <a:buNone/>
            </a:pPr>
            <a:endParaRPr lang="en-US" dirty="0" smtClean="0">
              <a:solidFill>
                <a:srgbClr val="FF0000"/>
              </a:solidFill>
            </a:endParaRPr>
          </a:p>
          <a:p>
            <a:pPr marL="0" indent="0">
              <a:buNone/>
            </a:pPr>
            <a:endParaRPr lang="en-US" dirty="0">
              <a:solidFill>
                <a:srgbClr val="FF0000"/>
              </a:solidFill>
            </a:endParaRPr>
          </a:p>
          <a:p>
            <a:pPr>
              <a:buFont typeface="Wingdings" charset="2"/>
              <a:buChar char="Ø"/>
            </a:pPr>
            <a:r>
              <a:rPr lang="en-US" dirty="0" smtClean="0">
                <a:solidFill>
                  <a:srgbClr val="000000"/>
                </a:solidFill>
              </a:rPr>
              <a:t>Psychological interviews are interviews </a:t>
            </a:r>
            <a:r>
              <a:rPr lang="en-US" dirty="0" smtClean="0">
                <a:solidFill>
                  <a:srgbClr val="FF6600"/>
                </a:solidFill>
              </a:rPr>
              <a:t>conducted by a psychologist</a:t>
            </a:r>
            <a:r>
              <a:rPr lang="en-US" dirty="0" smtClean="0">
                <a:solidFill>
                  <a:srgbClr val="000000"/>
                </a:solidFill>
              </a:rPr>
              <a:t>,</a:t>
            </a:r>
          </a:p>
          <a:p>
            <a:pPr>
              <a:buFont typeface="Wingdings" charset="2"/>
              <a:buChar char="Ø"/>
            </a:pPr>
            <a:r>
              <a:rPr lang="en-US" dirty="0" smtClean="0">
                <a:solidFill>
                  <a:srgbClr val="000000"/>
                </a:solidFill>
              </a:rPr>
              <a:t>In which questions are intended to </a:t>
            </a:r>
            <a:r>
              <a:rPr lang="en-US" dirty="0" smtClean="0">
                <a:solidFill>
                  <a:srgbClr val="FF6600"/>
                </a:solidFill>
              </a:rPr>
              <a:t>assess personal traits such as reliability or dependability</a:t>
            </a:r>
            <a:r>
              <a:rPr lang="en-US" dirty="0" smtClean="0">
                <a:solidFill>
                  <a:srgbClr val="000000"/>
                </a:solidFill>
              </a:rPr>
              <a:t> etc.</a:t>
            </a:r>
            <a:endParaRPr lang="en-US" dirty="0" smtClean="0">
              <a:solidFill>
                <a:srgbClr val="FF0000"/>
              </a:solidFill>
            </a:endParaRPr>
          </a:p>
        </p:txBody>
      </p:sp>
    </p:spTree>
    <p:extLst>
      <p:ext uri="{BB962C8B-B14F-4D97-AF65-F5344CB8AC3E}">
        <p14:creationId xmlns:p14="http://schemas.microsoft.com/office/powerpoint/2010/main" xmlns="" val="303955685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SOME MORE TYPES :-</a:t>
            </a:r>
            <a:endParaRPr lang="en-US" dirty="0"/>
          </a:p>
        </p:txBody>
      </p:sp>
      <p:sp>
        <p:nvSpPr>
          <p:cNvPr id="3" name="Content Placeholder 2"/>
          <p:cNvSpPr>
            <a:spLocks noGrp="1"/>
          </p:cNvSpPr>
          <p:nvPr>
            <p:ph sz="quarter" idx="1"/>
          </p:nvPr>
        </p:nvSpPr>
        <p:spPr>
          <a:xfrm>
            <a:off x="539552" y="1600200"/>
            <a:ext cx="8153400" cy="4495800"/>
          </a:xfrm>
        </p:spPr>
        <p:txBody>
          <a:bodyPr>
            <a:normAutofit fontScale="85000" lnSpcReduction="10000"/>
          </a:bodyPr>
          <a:lstStyle/>
          <a:p>
            <a:pPr>
              <a:buFont typeface="Wingdings" charset="2"/>
              <a:buChar char="Ø"/>
            </a:pPr>
            <a:r>
              <a:rPr lang="en-US" sz="3300" dirty="0" smtClean="0">
                <a:solidFill>
                  <a:srgbClr val="FF0000"/>
                </a:solidFill>
              </a:rPr>
              <a:t>TELEPHONE INTERVIEW</a:t>
            </a:r>
          </a:p>
          <a:p>
            <a:pPr marL="274320" indent="-274320" fontAlgn="auto">
              <a:lnSpc>
                <a:spcPct val="150000"/>
              </a:lnSpc>
              <a:spcAft>
                <a:spcPts val="0"/>
              </a:spcAft>
              <a:buClr>
                <a:schemeClr val="accent3"/>
              </a:buClr>
              <a:buFont typeface="Wingdings 2"/>
              <a:buChar char=""/>
              <a:defRPr/>
            </a:pPr>
            <a:r>
              <a:rPr lang="en-US" dirty="0"/>
              <a:t>Phone interviews are </a:t>
            </a:r>
            <a:endParaRPr lang="en-US" dirty="0" smtClean="0"/>
          </a:p>
          <a:p>
            <a:pPr marL="0" indent="0" fontAlgn="auto">
              <a:lnSpc>
                <a:spcPct val="150000"/>
              </a:lnSpc>
              <a:spcAft>
                <a:spcPts val="0"/>
              </a:spcAft>
              <a:buClr>
                <a:schemeClr val="accent3"/>
              </a:buClr>
              <a:buNone/>
              <a:defRPr/>
            </a:pPr>
            <a:r>
              <a:rPr lang="en-US" dirty="0" smtClean="0"/>
              <a:t>   increasingly </a:t>
            </a:r>
            <a:r>
              <a:rPr lang="en-US" dirty="0"/>
              <a:t>used in </a:t>
            </a:r>
            <a:endParaRPr lang="en-US" dirty="0" smtClean="0"/>
          </a:p>
          <a:p>
            <a:pPr marL="0" indent="0" fontAlgn="auto">
              <a:lnSpc>
                <a:spcPct val="150000"/>
              </a:lnSpc>
              <a:spcAft>
                <a:spcPts val="0"/>
              </a:spcAft>
              <a:buClr>
                <a:schemeClr val="accent3"/>
              </a:buClr>
              <a:buNone/>
              <a:defRPr/>
            </a:pPr>
            <a:r>
              <a:rPr lang="en-US" dirty="0" smtClean="0"/>
              <a:t>   mass </a:t>
            </a:r>
            <a:r>
              <a:rPr lang="en-US" dirty="0"/>
              <a:t>hiring. </a:t>
            </a:r>
          </a:p>
          <a:p>
            <a:pPr marL="274320" indent="-274320" fontAlgn="auto">
              <a:lnSpc>
                <a:spcPct val="150000"/>
              </a:lnSpc>
              <a:spcAft>
                <a:spcPts val="0"/>
              </a:spcAft>
              <a:buClr>
                <a:schemeClr val="accent3"/>
              </a:buClr>
              <a:buFont typeface="Wingdings 2"/>
              <a:buChar char=""/>
              <a:defRPr/>
            </a:pPr>
            <a:r>
              <a:rPr lang="en-US" dirty="0"/>
              <a:t>The interview is conducted entirely over the phone and this is very effective in eliminating any bias that may arise from the appearance and manner of the candidate. </a:t>
            </a:r>
          </a:p>
        </p:txBody>
      </p:sp>
      <p:pic>
        <p:nvPicPr>
          <p:cNvPr id="4" name="Picture 2" descr="http://jobsearchingblog.com/wp-content/uploads/2011/02/PHONE-INTERVIEW.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88024" y="1340768"/>
            <a:ext cx="3816549" cy="25255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95587488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23528" y="332656"/>
            <a:ext cx="8442520" cy="5763344"/>
          </a:xfrm>
        </p:spPr>
        <p:txBody>
          <a:bodyPr>
            <a:normAutofit lnSpcReduction="10000"/>
          </a:bodyPr>
          <a:lstStyle/>
          <a:p>
            <a:pPr marL="0" indent="0">
              <a:buNone/>
            </a:pPr>
            <a:endParaRPr lang="en-US" sz="2400" dirty="0"/>
          </a:p>
          <a:p>
            <a:pPr>
              <a:buFont typeface="Wingdings" charset="2"/>
              <a:buChar char="Ø"/>
            </a:pPr>
            <a:r>
              <a:rPr lang="en-US" sz="2400" dirty="0">
                <a:solidFill>
                  <a:srgbClr val="FF0000"/>
                </a:solidFill>
              </a:rPr>
              <a:t>PROMOTION INTERVIEW </a:t>
            </a:r>
            <a:r>
              <a:rPr lang="en-US" sz="2400" dirty="0"/>
              <a:t>(of the employees who are due for promotion</a:t>
            </a:r>
            <a:r>
              <a:rPr lang="en-US" sz="2400" dirty="0" smtClean="0"/>
              <a:t>)</a:t>
            </a:r>
            <a:endParaRPr lang="en-US" sz="2400" dirty="0"/>
          </a:p>
          <a:p>
            <a:pPr>
              <a:buFont typeface="Wingdings" charset="2"/>
              <a:buChar char="Ø"/>
            </a:pPr>
            <a:r>
              <a:rPr lang="en-US" sz="2400" dirty="0">
                <a:solidFill>
                  <a:srgbClr val="FF0000"/>
                </a:solidFill>
              </a:rPr>
              <a:t>ANNUAL INTERVIEW </a:t>
            </a:r>
            <a:r>
              <a:rPr lang="en-US" sz="2400" dirty="0"/>
              <a:t>(before writing annual reports, reporting officer interacts with employees subordination)</a:t>
            </a:r>
          </a:p>
          <a:p>
            <a:pPr>
              <a:buFont typeface="Wingdings" charset="2"/>
              <a:buChar char="Ø"/>
            </a:pPr>
            <a:r>
              <a:rPr lang="en-US" sz="2400" dirty="0">
                <a:solidFill>
                  <a:srgbClr val="FF0000"/>
                </a:solidFill>
              </a:rPr>
              <a:t>PERIODICAL INTERVIEW </a:t>
            </a:r>
            <a:r>
              <a:rPr lang="en-US" sz="2400" dirty="0"/>
              <a:t>(with the existing employees)</a:t>
            </a:r>
          </a:p>
          <a:p>
            <a:pPr>
              <a:buFont typeface="Wingdings" charset="2"/>
              <a:buChar char="Ø"/>
            </a:pPr>
            <a:r>
              <a:rPr lang="en-US" sz="2400" dirty="0">
                <a:solidFill>
                  <a:srgbClr val="FF0000"/>
                </a:solidFill>
              </a:rPr>
              <a:t>PROBLEM INTERVIEW </a:t>
            </a:r>
            <a:r>
              <a:rPr lang="en-US" sz="2400" dirty="0"/>
              <a:t>(of an employee whose performance is unsatisfactory-to find out reasons and find solutions)</a:t>
            </a:r>
          </a:p>
          <a:p>
            <a:pPr>
              <a:buFont typeface="Wingdings" charset="2"/>
              <a:buChar char="Ø"/>
            </a:pPr>
            <a:r>
              <a:rPr lang="en-US" sz="2400" dirty="0">
                <a:solidFill>
                  <a:srgbClr val="FF0000"/>
                </a:solidFill>
              </a:rPr>
              <a:t>COMPUTERIZED INTERVIEW </a:t>
            </a:r>
            <a:r>
              <a:rPr lang="en-US" sz="2400" dirty="0"/>
              <a:t>(questions are presented in MCQs)</a:t>
            </a:r>
          </a:p>
          <a:p>
            <a:pPr>
              <a:buFont typeface="Wingdings" charset="2"/>
              <a:buChar char="Ø"/>
            </a:pPr>
            <a:r>
              <a:rPr lang="en-US" sz="2400" dirty="0">
                <a:solidFill>
                  <a:srgbClr val="FF0000"/>
                </a:solidFill>
              </a:rPr>
              <a:t>WALK-IN INTERVIEW </a:t>
            </a:r>
            <a:r>
              <a:rPr lang="en-US" sz="2400" dirty="0"/>
              <a:t>(no specific candidates are called, but those who are eligible can come with their valid documents)</a:t>
            </a:r>
          </a:p>
          <a:p>
            <a:pPr>
              <a:buFont typeface="Wingdings" charset="2"/>
              <a:buChar char="Ø"/>
            </a:pPr>
            <a:r>
              <a:rPr lang="en-US" sz="2400" dirty="0">
                <a:solidFill>
                  <a:srgbClr val="FF0000"/>
                </a:solidFill>
              </a:rPr>
              <a:t>VIDEO CONFERENCING </a:t>
            </a:r>
            <a:r>
              <a:rPr lang="en-US" sz="2400" dirty="0"/>
              <a:t>(using video technology; clothing, body language and dialogue are important here as well)</a:t>
            </a:r>
          </a:p>
          <a:p>
            <a:pPr>
              <a:buFont typeface="Wingdings" charset="2"/>
              <a:buChar char="Ø"/>
            </a:pPr>
            <a:r>
              <a:rPr lang="en-US" sz="2400" dirty="0">
                <a:solidFill>
                  <a:srgbClr val="FF0000"/>
                </a:solidFill>
              </a:rPr>
              <a:t>CASE INTERVIEW </a:t>
            </a:r>
            <a:r>
              <a:rPr lang="en-US" sz="2400" dirty="0"/>
              <a:t>(to solve problems ‘on the spot’)</a:t>
            </a:r>
          </a:p>
          <a:p>
            <a:pPr>
              <a:buFont typeface="Wingdings" charset="2"/>
              <a:buChar char="Ø"/>
            </a:pPr>
            <a:endParaRPr lang="en-US" sz="2400" dirty="0" smtClean="0"/>
          </a:p>
          <a:p>
            <a:pPr>
              <a:buFont typeface="Wingdings" charset="2"/>
              <a:buChar char="Ø"/>
            </a:pPr>
            <a:endParaRPr lang="en-US" sz="2400" dirty="0"/>
          </a:p>
          <a:p>
            <a:pPr marL="0" indent="0">
              <a:buNone/>
            </a:pPr>
            <a:endParaRPr lang="en-US" sz="2400" dirty="0" smtClean="0"/>
          </a:p>
          <a:p>
            <a:pPr>
              <a:buFont typeface="Wingdings" charset="2"/>
              <a:buChar char="Ø"/>
            </a:pPr>
            <a:endParaRPr lang="en-US" dirty="0" smtClean="0"/>
          </a:p>
          <a:p>
            <a:pPr>
              <a:buFont typeface="Wingdings" charset="2"/>
              <a:buChar char="Ø"/>
            </a:pPr>
            <a:endParaRPr lang="en-US" dirty="0"/>
          </a:p>
        </p:txBody>
      </p:sp>
      <p:sp>
        <p:nvSpPr>
          <p:cNvPr id="4" name="Rectangle 3"/>
          <p:cNvSpPr/>
          <p:nvPr/>
        </p:nvSpPr>
        <p:spPr>
          <a:xfrm>
            <a:off x="179512" y="260648"/>
            <a:ext cx="8712968" cy="369332"/>
          </a:xfrm>
          <a:prstGeom prst="rect">
            <a:avLst/>
          </a:prstGeom>
        </p:spPr>
        <p:txBody>
          <a:bodyPr wrap="square">
            <a:spAutoFit/>
          </a:bodyPr>
          <a:lstStyle/>
          <a:p>
            <a:pPr>
              <a:buFont typeface="Wingdings" charset="2"/>
              <a:buChar char="Ø"/>
            </a:pPr>
            <a:endParaRPr lang="en-US" dirty="0"/>
          </a:p>
        </p:txBody>
      </p:sp>
    </p:spTree>
    <p:extLst>
      <p:ext uri="{BB962C8B-B14F-4D97-AF65-F5344CB8AC3E}">
        <p14:creationId xmlns:p14="http://schemas.microsoft.com/office/powerpoint/2010/main" xmlns="" val="18007176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b="1" dirty="0" smtClean="0"/>
              <a:t>FACTS YOU SHOULD KNOW ABOUT THE COMPANY</a:t>
            </a:r>
            <a:endParaRPr lang="en-US" sz="3200" b="1" dirty="0"/>
          </a:p>
        </p:txBody>
      </p:sp>
      <p:sp>
        <p:nvSpPr>
          <p:cNvPr id="3" name="Content Placeholder 2"/>
          <p:cNvSpPr>
            <a:spLocks noGrp="1"/>
          </p:cNvSpPr>
          <p:nvPr>
            <p:ph sz="quarter" idx="1"/>
          </p:nvPr>
        </p:nvSpPr>
        <p:spPr/>
        <p:txBody>
          <a:bodyPr>
            <a:normAutofit fontScale="92500" lnSpcReduction="10000"/>
          </a:bodyPr>
          <a:lstStyle/>
          <a:p>
            <a:pPr>
              <a:buFont typeface="Wingdings" charset="2"/>
              <a:buChar char="Ø"/>
            </a:pPr>
            <a:r>
              <a:rPr lang="en-US" dirty="0" smtClean="0"/>
              <a:t>About the company, history, employment and position in the industry</a:t>
            </a:r>
          </a:p>
          <a:p>
            <a:pPr>
              <a:buFont typeface="Wingdings" charset="2"/>
              <a:buChar char="Ø"/>
            </a:pPr>
            <a:r>
              <a:rPr lang="en-US" dirty="0" smtClean="0"/>
              <a:t>Competitors</a:t>
            </a:r>
          </a:p>
          <a:p>
            <a:pPr>
              <a:buFont typeface="Wingdings" charset="2"/>
              <a:buChar char="Ø"/>
            </a:pPr>
            <a:r>
              <a:rPr lang="en-US" dirty="0" smtClean="0"/>
              <a:t>Products and services</a:t>
            </a:r>
          </a:p>
          <a:p>
            <a:pPr>
              <a:buFont typeface="Wingdings" charset="2"/>
              <a:buChar char="Ø"/>
            </a:pPr>
            <a:r>
              <a:rPr lang="en-US" dirty="0" smtClean="0"/>
              <a:t>Global presence</a:t>
            </a:r>
          </a:p>
          <a:p>
            <a:pPr>
              <a:buFont typeface="Wingdings" charset="2"/>
              <a:buChar char="Ø"/>
            </a:pPr>
            <a:r>
              <a:rPr lang="en-US" dirty="0" smtClean="0"/>
              <a:t>Publications, blogs, presence in social media, analysts’ review</a:t>
            </a:r>
          </a:p>
          <a:p>
            <a:pPr>
              <a:buFont typeface="Wingdings" charset="2"/>
              <a:buChar char="Ø"/>
            </a:pPr>
            <a:r>
              <a:rPr lang="en-US" dirty="0" smtClean="0"/>
              <a:t>Finances of the company</a:t>
            </a:r>
          </a:p>
          <a:p>
            <a:pPr>
              <a:buFont typeface="Wingdings" charset="2"/>
              <a:buChar char="Ø"/>
            </a:pPr>
            <a:r>
              <a:rPr lang="en-US" dirty="0" smtClean="0"/>
              <a:t>The position you have applied for</a:t>
            </a:r>
          </a:p>
          <a:p>
            <a:pPr>
              <a:buFont typeface="Wingdings" charset="2"/>
              <a:buChar char="Ø"/>
            </a:pPr>
            <a:r>
              <a:rPr lang="en-US" dirty="0" smtClean="0"/>
              <a:t>Requirements of the specific position</a:t>
            </a:r>
          </a:p>
          <a:p>
            <a:pPr>
              <a:buFont typeface="Wingdings" charset="2"/>
              <a:buChar char="Ø"/>
            </a:pPr>
            <a:endParaRPr lang="en-US" dirty="0"/>
          </a:p>
        </p:txBody>
      </p:sp>
    </p:spTree>
    <p:extLst>
      <p:ext uri="{BB962C8B-B14F-4D97-AF65-F5344CB8AC3E}">
        <p14:creationId xmlns:p14="http://schemas.microsoft.com/office/powerpoint/2010/main" xmlns="" val="36360956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Continued-</a:t>
            </a:r>
            <a:endParaRPr lang="en-US" sz="4000" dirty="0"/>
          </a:p>
        </p:txBody>
      </p:sp>
      <p:sp>
        <p:nvSpPr>
          <p:cNvPr id="3" name="Content Placeholder 2"/>
          <p:cNvSpPr>
            <a:spLocks noGrp="1"/>
          </p:cNvSpPr>
          <p:nvPr>
            <p:ph sz="quarter" idx="1"/>
          </p:nvPr>
        </p:nvSpPr>
        <p:spPr/>
        <p:txBody>
          <a:bodyPr/>
          <a:lstStyle/>
          <a:p>
            <a:pPr>
              <a:buFont typeface="Wingdings" charset="2"/>
              <a:buChar char="Ø"/>
            </a:pPr>
            <a:r>
              <a:rPr lang="en-US" dirty="0" smtClean="0"/>
              <a:t>Job profile</a:t>
            </a:r>
          </a:p>
          <a:p>
            <a:pPr>
              <a:buFont typeface="Wingdings" charset="2"/>
              <a:buChar char="Ø"/>
            </a:pPr>
            <a:r>
              <a:rPr lang="en-US" dirty="0" smtClean="0"/>
              <a:t>Growth opportunities</a:t>
            </a:r>
          </a:p>
          <a:p>
            <a:pPr>
              <a:buFont typeface="Wingdings" charset="2"/>
              <a:buChar char="Ø"/>
            </a:pPr>
            <a:r>
              <a:rPr lang="en-US" dirty="0" smtClean="0"/>
              <a:t>Salary offered for the role</a:t>
            </a:r>
          </a:p>
          <a:p>
            <a:pPr>
              <a:buFont typeface="Wingdings" charset="2"/>
              <a:buChar char="Ø"/>
            </a:pPr>
            <a:r>
              <a:rPr lang="en-US" dirty="0" smtClean="0"/>
              <a:t>Requirement of travel</a:t>
            </a:r>
          </a:p>
          <a:p>
            <a:pPr>
              <a:buFont typeface="Wingdings" charset="2"/>
              <a:buChar char="Ø"/>
            </a:pPr>
            <a:r>
              <a:rPr lang="en-US" dirty="0" smtClean="0"/>
              <a:t>Working hours to be put in</a:t>
            </a:r>
          </a:p>
          <a:p>
            <a:pPr>
              <a:buFont typeface="Wingdings" charset="2"/>
              <a:buChar char="Ø"/>
            </a:pPr>
            <a:r>
              <a:rPr lang="en-US" dirty="0" smtClean="0"/>
              <a:t>Qualifications and any technical skills required</a:t>
            </a:r>
            <a:endParaRPr lang="en-US" dirty="0"/>
          </a:p>
        </p:txBody>
      </p:sp>
    </p:spTree>
    <p:extLst>
      <p:ext uri="{BB962C8B-B14F-4D97-AF65-F5344CB8AC3E}">
        <p14:creationId xmlns:p14="http://schemas.microsoft.com/office/powerpoint/2010/main" xmlns="" val="17336096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DOs and DON’Ts for an interview</a:t>
            </a:r>
            <a:endParaRPr lang="en-US" sz="3600" b="1"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xmlns="" val="1398422134"/>
              </p:ext>
            </p:extLst>
          </p:nvPr>
        </p:nvGraphicFramePr>
        <p:xfrm>
          <a:off x="612775" y="1600200"/>
          <a:ext cx="8153400" cy="4363720"/>
        </p:xfrm>
        <a:graphic>
          <a:graphicData uri="http://schemas.openxmlformats.org/drawingml/2006/table">
            <a:tbl>
              <a:tblPr firstRow="1" bandRow="1">
                <a:tableStyleId>{5C22544A-7EE6-4342-B048-85BDC9FD1C3A}</a:tableStyleId>
              </a:tblPr>
              <a:tblGrid>
                <a:gridCol w="4076700"/>
                <a:gridCol w="4076700"/>
              </a:tblGrid>
              <a:tr h="370840">
                <a:tc>
                  <a:txBody>
                    <a:bodyPr/>
                    <a:lstStyle/>
                    <a:p>
                      <a:r>
                        <a:rPr lang="en-US" dirty="0" smtClean="0"/>
                        <a:t>DOs</a:t>
                      </a:r>
                      <a:endParaRPr lang="en-US" dirty="0"/>
                    </a:p>
                  </a:txBody>
                  <a:tcPr/>
                </a:tc>
                <a:tc>
                  <a:txBody>
                    <a:bodyPr/>
                    <a:lstStyle/>
                    <a:p>
                      <a:r>
                        <a:rPr lang="en-US" dirty="0" smtClean="0"/>
                        <a:t>DON’Ts</a:t>
                      </a:r>
                      <a:endParaRPr lang="en-US" dirty="0"/>
                    </a:p>
                  </a:txBody>
                  <a:tcPr/>
                </a:tc>
              </a:tr>
              <a:tr h="370840">
                <a:tc>
                  <a:txBody>
                    <a:bodyPr/>
                    <a:lstStyle/>
                    <a:p>
                      <a:r>
                        <a:rPr lang="en-US" sz="2000" dirty="0" smtClean="0"/>
                        <a:t>Groom yourself</a:t>
                      </a:r>
                      <a:r>
                        <a:rPr lang="en-US" sz="2000" baseline="0" dirty="0" smtClean="0"/>
                        <a:t> well</a:t>
                      </a:r>
                    </a:p>
                  </a:txBody>
                  <a:tcPr/>
                </a:tc>
                <a:tc>
                  <a:txBody>
                    <a:bodyPr/>
                    <a:lstStyle/>
                    <a:p>
                      <a:r>
                        <a:rPr lang="en-US" sz="2000" dirty="0" smtClean="0"/>
                        <a:t>Do not demonstrate overconfidence</a:t>
                      </a:r>
                      <a:endParaRPr lang="en-US" sz="2000" dirty="0"/>
                    </a:p>
                  </a:txBody>
                  <a:tcPr/>
                </a:tc>
              </a:tr>
              <a:tr h="370840">
                <a:tc>
                  <a:txBody>
                    <a:bodyPr/>
                    <a:lstStyle/>
                    <a:p>
                      <a:r>
                        <a:rPr lang="en-US" sz="2000" dirty="0" smtClean="0"/>
                        <a:t>Show enthusiasm</a:t>
                      </a:r>
                      <a:endParaRPr lang="en-US" sz="2000" dirty="0"/>
                    </a:p>
                  </a:txBody>
                  <a:tcPr/>
                </a:tc>
                <a:tc>
                  <a:txBody>
                    <a:bodyPr/>
                    <a:lstStyle/>
                    <a:p>
                      <a:r>
                        <a:rPr lang="en-US" sz="2000" dirty="0" smtClean="0"/>
                        <a:t>Do not answer before the question has</a:t>
                      </a:r>
                      <a:r>
                        <a:rPr lang="en-US" sz="2000" baseline="0" dirty="0" smtClean="0"/>
                        <a:t> been completed</a:t>
                      </a:r>
                      <a:endParaRPr lang="en-US" sz="2000" dirty="0"/>
                    </a:p>
                  </a:txBody>
                  <a:tcPr/>
                </a:tc>
              </a:tr>
              <a:tr h="370840">
                <a:tc>
                  <a:txBody>
                    <a:bodyPr/>
                    <a:lstStyle/>
                    <a:p>
                      <a:r>
                        <a:rPr lang="en-US" sz="2000" dirty="0" smtClean="0"/>
                        <a:t>Carry extra copies of your resume</a:t>
                      </a:r>
                      <a:endParaRPr lang="en-US" sz="2000" dirty="0"/>
                    </a:p>
                  </a:txBody>
                  <a:tcPr/>
                </a:tc>
                <a:tc>
                  <a:txBody>
                    <a:bodyPr/>
                    <a:lstStyle/>
                    <a:p>
                      <a:r>
                        <a:rPr lang="en-US" sz="2000" dirty="0" smtClean="0"/>
                        <a:t>Do not talk continuously</a:t>
                      </a:r>
                      <a:endParaRPr lang="en-US" sz="2000" dirty="0"/>
                    </a:p>
                  </a:txBody>
                  <a:tcPr/>
                </a:tc>
              </a:tr>
              <a:tr h="370840">
                <a:tc>
                  <a:txBody>
                    <a:bodyPr/>
                    <a:lstStyle/>
                    <a:p>
                      <a:r>
                        <a:rPr lang="en-US" sz="2000" dirty="0" smtClean="0"/>
                        <a:t>Wear a cheerful smile</a:t>
                      </a:r>
                      <a:endParaRPr lang="en-US" sz="2000" dirty="0"/>
                    </a:p>
                  </a:txBody>
                  <a:tcPr/>
                </a:tc>
                <a:tc>
                  <a:txBody>
                    <a:bodyPr/>
                    <a:lstStyle/>
                    <a:p>
                      <a:r>
                        <a:rPr lang="en-US" sz="2000" dirty="0" smtClean="0"/>
                        <a:t>Do not be rude or get into an argument</a:t>
                      </a:r>
                      <a:r>
                        <a:rPr lang="en-US" sz="2000" baseline="0" dirty="0" smtClean="0"/>
                        <a:t> with the interviewers</a:t>
                      </a:r>
                      <a:endParaRPr lang="en-US" sz="2000" dirty="0"/>
                    </a:p>
                  </a:txBody>
                  <a:tcPr/>
                </a:tc>
              </a:tr>
              <a:tr h="370840">
                <a:tc>
                  <a:txBody>
                    <a:bodyPr/>
                    <a:lstStyle/>
                    <a:p>
                      <a:r>
                        <a:rPr lang="en-US" sz="2000" dirty="0" smtClean="0"/>
                        <a:t>Be polite,</a:t>
                      </a:r>
                      <a:r>
                        <a:rPr lang="en-US" sz="2000" baseline="0" dirty="0" smtClean="0"/>
                        <a:t> assertive and firm</a:t>
                      </a:r>
                      <a:endParaRPr lang="en-US" sz="2000" dirty="0"/>
                    </a:p>
                  </a:txBody>
                  <a:tcPr/>
                </a:tc>
                <a:tc>
                  <a:txBody>
                    <a:bodyPr/>
                    <a:lstStyle/>
                    <a:p>
                      <a:r>
                        <a:rPr lang="en-US" sz="2000" dirty="0" smtClean="0"/>
                        <a:t>Do not fiddle with your tie or pen</a:t>
                      </a:r>
                      <a:endParaRPr lang="en-US" sz="2000" dirty="0"/>
                    </a:p>
                  </a:txBody>
                  <a:tcPr/>
                </a:tc>
              </a:tr>
              <a:tr h="370840">
                <a:tc>
                  <a:txBody>
                    <a:bodyPr/>
                    <a:lstStyle/>
                    <a:p>
                      <a:r>
                        <a:rPr lang="en-US" sz="2000" dirty="0" smtClean="0"/>
                        <a:t>Be genuine and truthful</a:t>
                      </a:r>
                      <a:r>
                        <a:rPr lang="en-US" sz="2000" baseline="0" dirty="0" smtClean="0"/>
                        <a:t> when you reply</a:t>
                      </a:r>
                      <a:endParaRPr lang="en-US" sz="2000" dirty="0"/>
                    </a:p>
                  </a:txBody>
                  <a:tcPr/>
                </a:tc>
                <a:tc>
                  <a:txBody>
                    <a:bodyPr/>
                    <a:lstStyle/>
                    <a:p>
                      <a:r>
                        <a:rPr lang="en-US" sz="2000" dirty="0" smtClean="0"/>
                        <a:t>Do not extend your hand</a:t>
                      </a:r>
                      <a:r>
                        <a:rPr lang="en-US" sz="2000" baseline="0" dirty="0" smtClean="0"/>
                        <a:t> first for a handshake</a:t>
                      </a:r>
                      <a:endParaRPr lang="en-US" sz="2000" dirty="0"/>
                    </a:p>
                  </a:txBody>
                  <a:tcPr/>
                </a:tc>
              </a:tr>
              <a:tr h="370840">
                <a:tc>
                  <a:txBody>
                    <a:bodyPr/>
                    <a:lstStyle/>
                    <a:p>
                      <a:r>
                        <a:rPr lang="en-US" sz="2000" dirty="0" smtClean="0"/>
                        <a:t>Look into the eyes of the interviewer while talking to him/her</a:t>
                      </a:r>
                      <a:endParaRPr lang="en-US" sz="2000" dirty="0"/>
                    </a:p>
                  </a:txBody>
                  <a:tcPr/>
                </a:tc>
                <a:tc>
                  <a:txBody>
                    <a:bodyPr/>
                    <a:lstStyle/>
                    <a:p>
                      <a:r>
                        <a:rPr lang="en-US" sz="2000" dirty="0" smtClean="0"/>
                        <a:t>Do not be unclear about your expectations from the job</a:t>
                      </a:r>
                      <a:endParaRPr lang="en-US" sz="2000" dirty="0"/>
                    </a:p>
                  </a:txBody>
                  <a:tcPr/>
                </a:tc>
              </a:tr>
            </a:tbl>
          </a:graphicData>
        </a:graphic>
      </p:graphicFrame>
    </p:spTree>
    <p:extLst>
      <p:ext uri="{BB962C8B-B14F-4D97-AF65-F5344CB8AC3E}">
        <p14:creationId xmlns:p14="http://schemas.microsoft.com/office/powerpoint/2010/main" xmlns="" val="26030929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smtClean="0"/>
              <a:t>QUESTIONS YOU MUST PREPARE FOR..</a:t>
            </a:r>
            <a:endParaRPr lang="en-US" sz="3200" b="1" dirty="0"/>
          </a:p>
        </p:txBody>
      </p:sp>
      <p:sp>
        <p:nvSpPr>
          <p:cNvPr id="3" name="Content Placeholder 2"/>
          <p:cNvSpPr>
            <a:spLocks noGrp="1"/>
          </p:cNvSpPr>
          <p:nvPr>
            <p:ph sz="quarter" idx="1"/>
          </p:nvPr>
        </p:nvSpPr>
        <p:spPr/>
        <p:txBody>
          <a:bodyPr>
            <a:normAutofit fontScale="77500" lnSpcReduction="20000"/>
          </a:bodyPr>
          <a:lstStyle/>
          <a:p>
            <a:pPr>
              <a:buFont typeface="Wingdings" charset="2"/>
              <a:buChar char="Ø"/>
            </a:pPr>
            <a:r>
              <a:rPr lang="en-US" dirty="0" smtClean="0"/>
              <a:t>Tell me something about yourself.</a:t>
            </a:r>
          </a:p>
          <a:p>
            <a:pPr>
              <a:buFont typeface="Wingdings" charset="2"/>
              <a:buChar char="Ø"/>
            </a:pPr>
            <a:r>
              <a:rPr lang="en-US" dirty="0" smtClean="0"/>
              <a:t>What are your hobbies ?</a:t>
            </a:r>
          </a:p>
          <a:p>
            <a:pPr>
              <a:buFont typeface="Wingdings" charset="2"/>
              <a:buChar char="Ø"/>
            </a:pPr>
            <a:r>
              <a:rPr lang="en-US" dirty="0" smtClean="0"/>
              <a:t>Why did you do your MBA after graduation ?</a:t>
            </a:r>
          </a:p>
          <a:p>
            <a:pPr>
              <a:buFont typeface="Wingdings" charset="2"/>
              <a:buChar char="Ø"/>
            </a:pPr>
            <a:r>
              <a:rPr lang="en-US" dirty="0" smtClean="0"/>
              <a:t>Which is the most recent book that you have read ?</a:t>
            </a:r>
          </a:p>
          <a:p>
            <a:pPr>
              <a:buFont typeface="Wingdings" charset="2"/>
              <a:buChar char="Ø"/>
            </a:pPr>
            <a:r>
              <a:rPr lang="en-US" dirty="0" smtClean="0"/>
              <a:t>Have you heard about …. (a current topic) ?</a:t>
            </a:r>
          </a:p>
          <a:p>
            <a:pPr>
              <a:buFont typeface="Wingdings" charset="2"/>
              <a:buChar char="Ø"/>
            </a:pPr>
            <a:r>
              <a:rPr lang="en-US" dirty="0" smtClean="0"/>
              <a:t>What will you do if you reach office one morning and find out that you have lost your job ?</a:t>
            </a:r>
          </a:p>
          <a:p>
            <a:pPr>
              <a:buFont typeface="Wingdings" charset="2"/>
              <a:buChar char="Ø"/>
            </a:pPr>
            <a:r>
              <a:rPr lang="en-US" dirty="0" smtClean="0"/>
              <a:t>What was your role in your previous company ?</a:t>
            </a:r>
          </a:p>
          <a:p>
            <a:pPr>
              <a:buFont typeface="Wingdings" charset="2"/>
              <a:buChar char="Ø"/>
            </a:pPr>
            <a:r>
              <a:rPr lang="en-US" dirty="0" smtClean="0"/>
              <a:t>Where do you see yourself two years down the line ?</a:t>
            </a:r>
          </a:p>
          <a:p>
            <a:pPr>
              <a:buFont typeface="Wingdings" charset="2"/>
              <a:buChar char="Ø"/>
            </a:pPr>
            <a:r>
              <a:rPr lang="en-US" dirty="0" smtClean="0"/>
              <a:t>What are your expectations from the job ?</a:t>
            </a:r>
          </a:p>
          <a:p>
            <a:pPr>
              <a:buFont typeface="Wingdings" charset="2"/>
              <a:buChar char="Ø"/>
            </a:pPr>
            <a:r>
              <a:rPr lang="en-US" dirty="0" smtClean="0"/>
              <a:t>What are your strengths and weaknesses ?</a:t>
            </a:r>
          </a:p>
          <a:p>
            <a:pPr>
              <a:buFont typeface="Wingdings" charset="2"/>
              <a:buChar char="Ø"/>
            </a:pPr>
            <a:r>
              <a:rPr lang="en-US" dirty="0" smtClean="0"/>
              <a:t>Give us an example of an adverse situation at work and how you tackled it ?</a:t>
            </a:r>
          </a:p>
        </p:txBody>
      </p:sp>
    </p:spTree>
    <p:extLst>
      <p:ext uri="{BB962C8B-B14F-4D97-AF65-F5344CB8AC3E}">
        <p14:creationId xmlns:p14="http://schemas.microsoft.com/office/powerpoint/2010/main" xmlns="" val="26060652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t>FOLLOWING UP</a:t>
            </a:r>
            <a:endParaRPr lang="en-US" sz="3600" b="1" dirty="0"/>
          </a:p>
        </p:txBody>
      </p:sp>
      <p:sp>
        <p:nvSpPr>
          <p:cNvPr id="3" name="Content Placeholder 2"/>
          <p:cNvSpPr>
            <a:spLocks noGrp="1"/>
          </p:cNvSpPr>
          <p:nvPr>
            <p:ph sz="quarter" idx="1"/>
          </p:nvPr>
        </p:nvSpPr>
        <p:spPr/>
        <p:txBody>
          <a:bodyPr/>
          <a:lstStyle/>
          <a:p>
            <a:r>
              <a:rPr lang="en-US" dirty="0" smtClean="0"/>
              <a:t>The last logical step after an interview.</a:t>
            </a:r>
          </a:p>
          <a:p>
            <a:r>
              <a:rPr lang="en-US" dirty="0" smtClean="0"/>
              <a:t>It has mainly two purposes.</a:t>
            </a:r>
          </a:p>
          <a:p>
            <a:pPr marL="0" indent="0">
              <a:buNone/>
            </a:pPr>
            <a:r>
              <a:rPr lang="en-US" dirty="0"/>
              <a:t> </a:t>
            </a:r>
            <a:r>
              <a:rPr lang="en-US" dirty="0" smtClean="0"/>
              <a:t>   (</a:t>
            </a:r>
            <a:r>
              <a:rPr lang="en-US" dirty="0" err="1" smtClean="0"/>
              <a:t>i</a:t>
            </a:r>
            <a:r>
              <a:rPr lang="en-US" dirty="0" smtClean="0"/>
              <a:t>) to demonstrate good etiquette</a:t>
            </a:r>
          </a:p>
          <a:p>
            <a:pPr marL="0" indent="0">
              <a:buNone/>
            </a:pPr>
            <a:r>
              <a:rPr lang="en-US" dirty="0"/>
              <a:t> </a:t>
            </a:r>
            <a:r>
              <a:rPr lang="en-US" dirty="0" smtClean="0"/>
              <a:t>   (ii) to give a gentle reminder to the interviewer</a:t>
            </a:r>
          </a:p>
          <a:p>
            <a:pPr marL="0" indent="0">
              <a:buNone/>
            </a:pPr>
            <a:r>
              <a:rPr lang="en-US" dirty="0"/>
              <a:t> </a:t>
            </a:r>
            <a:r>
              <a:rPr lang="en-US" dirty="0">
                <a:solidFill>
                  <a:srgbClr val="FF0000"/>
                </a:solidFill>
              </a:rPr>
              <a:t>F</a:t>
            </a:r>
            <a:r>
              <a:rPr lang="en-US" dirty="0" smtClean="0">
                <a:solidFill>
                  <a:srgbClr val="FF0000"/>
                </a:solidFill>
              </a:rPr>
              <a:t>ollow-up should be done either over phone or email.</a:t>
            </a:r>
          </a:p>
        </p:txBody>
      </p:sp>
    </p:spTree>
    <p:extLst>
      <p:ext uri="{BB962C8B-B14F-4D97-AF65-F5344CB8AC3E}">
        <p14:creationId xmlns:p14="http://schemas.microsoft.com/office/powerpoint/2010/main" xmlns="" val="19861872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11560" y="332656"/>
            <a:ext cx="8154488" cy="5763344"/>
          </a:xfrm>
        </p:spPr>
        <p:txBody>
          <a:bodyPr>
            <a:normAutofit lnSpcReduction="10000"/>
          </a:bodyPr>
          <a:lstStyle/>
          <a:p>
            <a:pPr>
              <a:buFont typeface="Wingdings" charset="2"/>
              <a:buChar char="u"/>
            </a:pPr>
            <a:r>
              <a:rPr lang="en-US" i="1" dirty="0">
                <a:solidFill>
                  <a:srgbClr val="FF6600"/>
                </a:solidFill>
              </a:rPr>
              <a:t>THANK-YOU NOTE</a:t>
            </a:r>
          </a:p>
          <a:p>
            <a:pPr marL="0" indent="0">
              <a:buNone/>
            </a:pPr>
            <a:r>
              <a:rPr lang="en-US" sz="2400" dirty="0"/>
              <a:t>It is generally written in a </a:t>
            </a:r>
            <a:r>
              <a:rPr lang="en-US" sz="2400" dirty="0">
                <a:solidFill>
                  <a:srgbClr val="FF6600"/>
                </a:solidFill>
              </a:rPr>
              <a:t>positive and direct tone to the interviewer</a:t>
            </a:r>
            <a:r>
              <a:rPr lang="en-US" sz="2400" dirty="0"/>
              <a:t>. Its purpose is to express </a:t>
            </a:r>
            <a:r>
              <a:rPr lang="en-US" sz="2400" dirty="0" smtClean="0"/>
              <a:t>gratitude for the interview’s time and for giving a positive impression about you at the interview. </a:t>
            </a:r>
            <a:r>
              <a:rPr lang="en-US" sz="2400" dirty="0"/>
              <a:t>Y</a:t>
            </a:r>
            <a:r>
              <a:rPr lang="en-US" sz="2400" dirty="0" smtClean="0"/>
              <a:t>ou can say that you are hoping for a quick decision from them.</a:t>
            </a:r>
          </a:p>
          <a:p>
            <a:pPr marL="0" indent="0">
              <a:buNone/>
            </a:pPr>
            <a:r>
              <a:rPr lang="en-US" sz="2400" dirty="0" smtClean="0"/>
              <a:t>It is </a:t>
            </a:r>
            <a:r>
              <a:rPr lang="en-US" sz="2400" dirty="0" smtClean="0">
                <a:solidFill>
                  <a:srgbClr val="FF6600"/>
                </a:solidFill>
              </a:rPr>
              <a:t>also written after you have received the offer letter</a:t>
            </a:r>
            <a:r>
              <a:rPr lang="en-US" sz="2400" dirty="0" smtClean="0"/>
              <a:t>.</a:t>
            </a:r>
            <a:endParaRPr lang="en-US" sz="2400" dirty="0"/>
          </a:p>
          <a:p>
            <a:pPr>
              <a:buFont typeface="Wingdings" charset="2"/>
              <a:buChar char="u"/>
            </a:pPr>
            <a:r>
              <a:rPr lang="en-US" dirty="0" smtClean="0">
                <a:solidFill>
                  <a:srgbClr val="FF6600"/>
                </a:solidFill>
              </a:rPr>
              <a:t>INQUIRY</a:t>
            </a:r>
          </a:p>
          <a:p>
            <a:pPr marL="0" indent="0">
              <a:buNone/>
            </a:pPr>
            <a:r>
              <a:rPr lang="en-US" sz="2600" dirty="0" smtClean="0"/>
              <a:t>There could be a situation when you were confident that you would be selected but have not heard from your prospective employer. If you have not heard from an interviewer, you can raise an enquiry. Adopt a direct approach for such correspondence. Try and </a:t>
            </a:r>
            <a:r>
              <a:rPr lang="en-US" sz="2600" dirty="0" smtClean="0">
                <a:solidFill>
                  <a:srgbClr val="FF6600"/>
                </a:solidFill>
              </a:rPr>
              <a:t>restrict yourself to two paragraphs</a:t>
            </a:r>
            <a:r>
              <a:rPr lang="en-US" sz="2600" dirty="0" smtClean="0"/>
              <a:t>- neither too long, nor too short.</a:t>
            </a:r>
          </a:p>
          <a:p>
            <a:pPr marL="0" indent="0">
              <a:buNone/>
            </a:pPr>
            <a:endParaRPr lang="en-US" dirty="0"/>
          </a:p>
        </p:txBody>
      </p:sp>
    </p:spTree>
    <p:extLst>
      <p:ext uri="{BB962C8B-B14F-4D97-AF65-F5344CB8AC3E}">
        <p14:creationId xmlns:p14="http://schemas.microsoft.com/office/powerpoint/2010/main" xmlns="" val="36737494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t>LIMITATIONS OF INTERVIEWS</a:t>
            </a:r>
            <a:endParaRPr lang="en-US" sz="3600" b="1" dirty="0"/>
          </a:p>
        </p:txBody>
      </p:sp>
      <p:sp>
        <p:nvSpPr>
          <p:cNvPr id="3" name="Content Placeholder 2"/>
          <p:cNvSpPr>
            <a:spLocks noGrp="1"/>
          </p:cNvSpPr>
          <p:nvPr>
            <p:ph sz="quarter" idx="1"/>
          </p:nvPr>
        </p:nvSpPr>
        <p:spPr/>
        <p:txBody>
          <a:bodyPr>
            <a:normAutofit fontScale="92500" lnSpcReduction="20000"/>
          </a:bodyPr>
          <a:lstStyle/>
          <a:p>
            <a:pPr>
              <a:buFont typeface="Wingdings" charset="2"/>
              <a:buChar char="Ø"/>
            </a:pPr>
            <a:r>
              <a:rPr lang="en-US" dirty="0" smtClean="0"/>
              <a:t>Personal Bias</a:t>
            </a:r>
          </a:p>
          <a:p>
            <a:pPr>
              <a:buFont typeface="Wingdings" charset="2"/>
              <a:buChar char="Ø"/>
            </a:pPr>
            <a:r>
              <a:rPr lang="en-US" dirty="0" smtClean="0"/>
              <a:t>The Halo </a:t>
            </a:r>
            <a:r>
              <a:rPr lang="en-US" dirty="0"/>
              <a:t>E</a:t>
            </a:r>
            <a:r>
              <a:rPr lang="en-US" dirty="0" smtClean="0"/>
              <a:t>ffect</a:t>
            </a:r>
          </a:p>
          <a:p>
            <a:pPr>
              <a:buFont typeface="Wingdings" charset="2"/>
              <a:buChar char="Ø"/>
            </a:pPr>
            <a:r>
              <a:rPr lang="en-US" dirty="0" smtClean="0"/>
              <a:t>Constant error</a:t>
            </a:r>
          </a:p>
          <a:p>
            <a:pPr>
              <a:buFont typeface="Wingdings" charset="2"/>
              <a:buChar char="Ø"/>
            </a:pPr>
            <a:r>
              <a:rPr lang="en-US" dirty="0" smtClean="0"/>
              <a:t>Leniency</a:t>
            </a:r>
          </a:p>
          <a:p>
            <a:pPr>
              <a:buFont typeface="Wingdings" charset="2"/>
              <a:buChar char="Ø"/>
            </a:pPr>
            <a:r>
              <a:rPr lang="en-US" dirty="0" smtClean="0"/>
              <a:t>Projection</a:t>
            </a:r>
          </a:p>
          <a:p>
            <a:pPr>
              <a:buFont typeface="Wingdings" charset="2"/>
              <a:buChar char="Ø"/>
            </a:pPr>
            <a:r>
              <a:rPr lang="en-US" dirty="0" smtClean="0"/>
              <a:t>Stereotyping</a:t>
            </a:r>
          </a:p>
          <a:p>
            <a:pPr>
              <a:buFont typeface="Wingdings" charset="2"/>
              <a:buChar char="Ø"/>
            </a:pPr>
            <a:r>
              <a:rPr lang="en-US" dirty="0" smtClean="0"/>
              <a:t>Snap judgement</a:t>
            </a:r>
          </a:p>
          <a:p>
            <a:pPr>
              <a:buFont typeface="Wingdings" charset="2"/>
              <a:buChar char="Ø"/>
            </a:pPr>
            <a:r>
              <a:rPr lang="en-US" dirty="0" smtClean="0"/>
              <a:t>Lack of Integration</a:t>
            </a:r>
          </a:p>
          <a:p>
            <a:pPr>
              <a:buFont typeface="Wingdings" charset="2"/>
              <a:buChar char="Ø"/>
            </a:pPr>
            <a:r>
              <a:rPr lang="en-US" dirty="0" smtClean="0"/>
              <a:t>Pressure to Hire</a:t>
            </a:r>
          </a:p>
          <a:p>
            <a:pPr>
              <a:buFont typeface="Wingdings" charset="2"/>
              <a:buChar char="Ø"/>
            </a:pPr>
            <a:r>
              <a:rPr lang="en-US" dirty="0" smtClean="0"/>
              <a:t>Too much/ </a:t>
            </a:r>
            <a:r>
              <a:rPr lang="en-US" dirty="0"/>
              <a:t>T</a:t>
            </a:r>
            <a:r>
              <a:rPr lang="en-US" dirty="0" smtClean="0"/>
              <a:t>oo </a:t>
            </a:r>
            <a:r>
              <a:rPr lang="en-US" dirty="0"/>
              <a:t>L</a:t>
            </a:r>
            <a:r>
              <a:rPr lang="en-US" dirty="0" smtClean="0"/>
              <a:t>ittle Talking</a:t>
            </a:r>
            <a:endParaRPr lang="en-US" dirty="0"/>
          </a:p>
        </p:txBody>
      </p:sp>
    </p:spTree>
    <p:extLst>
      <p:ext uri="{BB962C8B-B14F-4D97-AF65-F5344CB8AC3E}">
        <p14:creationId xmlns:p14="http://schemas.microsoft.com/office/powerpoint/2010/main" xmlns="" val="25211176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t>CONCLUSION</a:t>
            </a:r>
            <a:endParaRPr lang="en-US" sz="3600" b="1" dirty="0"/>
          </a:p>
        </p:txBody>
      </p:sp>
      <p:sp>
        <p:nvSpPr>
          <p:cNvPr id="3" name="Content Placeholder 2"/>
          <p:cNvSpPr>
            <a:spLocks noGrp="1"/>
          </p:cNvSpPr>
          <p:nvPr>
            <p:ph sz="quarter" idx="1"/>
          </p:nvPr>
        </p:nvSpPr>
        <p:spPr/>
        <p:txBody>
          <a:bodyPr/>
          <a:lstStyle/>
          <a:p>
            <a:r>
              <a:rPr lang="en-US" dirty="0" smtClean="0"/>
              <a:t>The candidate has to </a:t>
            </a:r>
            <a:r>
              <a:rPr lang="en-US" dirty="0" smtClean="0">
                <a:solidFill>
                  <a:srgbClr val="FF6600"/>
                </a:solidFill>
              </a:rPr>
              <a:t>physically and emotionally be prepared </a:t>
            </a:r>
            <a:r>
              <a:rPr lang="en-US" dirty="0" smtClean="0"/>
              <a:t>apart from being knowledgeable in the domain area.</a:t>
            </a:r>
          </a:p>
          <a:p>
            <a:r>
              <a:rPr lang="en-US" dirty="0" smtClean="0"/>
              <a:t>Many of the recruiters believe in </a:t>
            </a:r>
            <a:r>
              <a:rPr lang="en-US" dirty="0" smtClean="0">
                <a:solidFill>
                  <a:srgbClr val="FF0000"/>
                </a:solidFill>
              </a:rPr>
              <a:t>recruit for attitude, train for skills.</a:t>
            </a:r>
          </a:p>
          <a:p>
            <a:r>
              <a:rPr lang="en-US" dirty="0" smtClean="0">
                <a:solidFill>
                  <a:srgbClr val="000000"/>
                </a:solidFill>
              </a:rPr>
              <a:t>Apart from a </a:t>
            </a:r>
            <a:r>
              <a:rPr lang="en-US" dirty="0" smtClean="0">
                <a:solidFill>
                  <a:srgbClr val="FF6600"/>
                </a:solidFill>
              </a:rPr>
              <a:t>pleasing personality, grooming and effective communication</a:t>
            </a:r>
            <a:r>
              <a:rPr lang="en-US" dirty="0" smtClean="0">
                <a:solidFill>
                  <a:srgbClr val="000000"/>
                </a:solidFill>
              </a:rPr>
              <a:t> play a vital role in succeeding at interviews.</a:t>
            </a:r>
            <a:endParaRPr lang="en-US" dirty="0">
              <a:solidFill>
                <a:srgbClr val="000000"/>
              </a:solidFill>
            </a:endParaRPr>
          </a:p>
        </p:txBody>
      </p:sp>
    </p:spTree>
    <p:extLst>
      <p:ext uri="{BB962C8B-B14F-4D97-AF65-F5344CB8AC3E}">
        <p14:creationId xmlns:p14="http://schemas.microsoft.com/office/powerpoint/2010/main" xmlns="" val="225468136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Содержимое 2"/>
          <p:cNvSpPr>
            <a:spLocks noGrp="1"/>
          </p:cNvSpPr>
          <p:nvPr>
            <p:ph sz="quarter" idx="1"/>
          </p:nvPr>
        </p:nvSpPr>
        <p:spPr/>
        <p:txBody>
          <a:bodyPr/>
          <a:lstStyle/>
          <a:p>
            <a:pPr algn="ctr">
              <a:buFont typeface="Wingdings 2" charset="0"/>
              <a:buNone/>
            </a:pPr>
            <a:r>
              <a:rPr lang="en-US" sz="4800" dirty="0">
                <a:latin typeface="Constantia" charset="0"/>
              </a:rPr>
              <a:t>Thank </a:t>
            </a:r>
            <a:r>
              <a:rPr lang="en-US" sz="4800" dirty="0" smtClean="0">
                <a:latin typeface="Constantia" charset="0"/>
              </a:rPr>
              <a:t>you!</a:t>
            </a:r>
          </a:p>
          <a:p>
            <a:pPr algn="ctr">
              <a:buFont typeface="Wingdings 2" charset="0"/>
              <a:buNone/>
            </a:pPr>
            <a:endParaRPr lang="ru-RU" sz="4800" dirty="0">
              <a:latin typeface="Constantia" charset="0"/>
            </a:endParaRPr>
          </a:p>
        </p:txBody>
      </p:sp>
      <p:pic>
        <p:nvPicPr>
          <p:cNvPr id="4" name="Picture 3"/>
          <p:cNvPicPr>
            <a:picLocks noChangeAspect="1"/>
          </p:cNvPicPr>
          <p:nvPr/>
        </p:nvPicPr>
        <p:blipFill>
          <a:blip r:embed="rId3" cstate="print"/>
          <a:stretch>
            <a:fillRect/>
          </a:stretch>
        </p:blipFill>
        <p:spPr>
          <a:xfrm>
            <a:off x="3419872" y="2852936"/>
            <a:ext cx="2349624" cy="2636334"/>
          </a:xfrm>
          <a:prstGeom prst="rect">
            <a:avLst/>
          </a:prstGeom>
        </p:spPr>
      </p:pic>
    </p:spTree>
  </p:cSld>
  <p:clrMapOvr>
    <a:masterClrMapping/>
  </p:clrMapOvr>
  <p:transition spd="slow">
    <p:sndAc>
      <p:stSnd>
        <p:snd r:embed="rId2" name="applause.wav"/>
      </p:stSnd>
    </p:sndAc>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ＭＳ Ｐゴシック"/>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Median.thmx</Template>
  <TotalTime>430</TotalTime>
  <Words>2104</Words>
  <Application>Microsoft Office PowerPoint</Application>
  <PresentationFormat>On-screen Show (4:3)</PresentationFormat>
  <Paragraphs>284</Paragraphs>
  <Slides>39</Slides>
  <Notes>1</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Median</vt:lpstr>
      <vt:lpstr>Interview and its various Types</vt:lpstr>
      <vt:lpstr>What is an interview?</vt:lpstr>
      <vt:lpstr>Slide 3</vt:lpstr>
      <vt:lpstr>Meaning of the term ‘Interview’</vt:lpstr>
      <vt:lpstr>Slide 5</vt:lpstr>
      <vt:lpstr>The Purpose of an Interview</vt:lpstr>
      <vt:lpstr>Interviews </vt:lpstr>
      <vt:lpstr>What does an interviewer look for ?</vt:lpstr>
      <vt:lpstr>Types of Interviews </vt:lpstr>
      <vt:lpstr>I. CLASSIFICATION ACCORDING TO STRUCTURE</vt:lpstr>
      <vt:lpstr>Slide 11</vt:lpstr>
      <vt:lpstr>Slide 12</vt:lpstr>
      <vt:lpstr>Pros and Cons of Structured &amp; Unstructured Interview</vt:lpstr>
      <vt:lpstr>II. CLASSIFICATION ACCORDING TO PURPOSE</vt:lpstr>
      <vt:lpstr>Stress interview means-</vt:lpstr>
      <vt:lpstr>Why stress interviews?</vt:lpstr>
      <vt:lpstr>Slide 17</vt:lpstr>
      <vt:lpstr>Slide 18</vt:lpstr>
      <vt:lpstr>III. CLASSIFICATION ACCORDING TO                                 ADMINISTERING INTERVIEW</vt:lpstr>
      <vt:lpstr>Slide 20</vt:lpstr>
      <vt:lpstr>Slide 21</vt:lpstr>
      <vt:lpstr>Why group interviews?</vt:lpstr>
      <vt:lpstr>Slide 23</vt:lpstr>
      <vt:lpstr>Slide 24</vt:lpstr>
      <vt:lpstr>IV. CLASSIFICATION ACCORDING TO INTERVIEW’S CONTENT</vt:lpstr>
      <vt:lpstr>Slide 26</vt:lpstr>
      <vt:lpstr>Slide 27</vt:lpstr>
      <vt:lpstr>Slide 28</vt:lpstr>
      <vt:lpstr>SOME MORE TYPES :-</vt:lpstr>
      <vt:lpstr>Slide 30</vt:lpstr>
      <vt:lpstr>FACTS YOU SHOULD KNOW ABOUT THE COMPANY</vt:lpstr>
      <vt:lpstr>Continued-</vt:lpstr>
      <vt:lpstr>DOs and DON’Ts for an interview</vt:lpstr>
      <vt:lpstr>QUESTIONS YOU MUST PREPARE FOR..</vt:lpstr>
      <vt:lpstr>FOLLOWING UP</vt:lpstr>
      <vt:lpstr>Slide 36</vt:lpstr>
      <vt:lpstr>LIMITATIONS OF INTERVIEWS</vt:lpstr>
      <vt:lpstr>CONCLUSION</vt:lpstr>
      <vt:lpstr>Slide 39</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Customer</dc:creator>
  <cp:lastModifiedBy>Javed Shaikh</cp:lastModifiedBy>
  <cp:revision>49</cp:revision>
  <dcterms:created xsi:type="dcterms:W3CDTF">2011-05-30T19:59:26Z</dcterms:created>
  <dcterms:modified xsi:type="dcterms:W3CDTF">2017-04-20T13:29:16Z</dcterms:modified>
</cp:coreProperties>
</file>