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41"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8" d="100"/>
          <a:sy n="68" d="100"/>
        </p:scale>
        <p:origin x="792"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07A9BA7-C015-4743-B4E8-163F86EE0646}" type="datetimeFigureOut">
              <a:rPr lang="en-US" smtClean="0"/>
              <a:t>4/26/2019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F2D26A7-49F0-4FB5-81D9-F4568934CCA5}" type="slidenum">
              <a:rPr lang="en-US" smtClean="0"/>
              <a:t>‹#›</a:t>
            </a:fld>
            <a:endParaRPr lang="en-US"/>
          </a:p>
        </p:txBody>
      </p:sp>
    </p:spTree>
    <p:extLst>
      <p:ext uri="{BB962C8B-B14F-4D97-AF65-F5344CB8AC3E}">
        <p14:creationId xmlns:p14="http://schemas.microsoft.com/office/powerpoint/2010/main" val="21955003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‘‘Did you have any trouble getting here?’’ ‘‘Were you able to ﬁnd parking nearby?’’ ‘‘How was the trafﬁc getting here?’’ </a:t>
            </a:r>
          </a:p>
        </p:txBody>
      </p:sp>
      <p:sp>
        <p:nvSpPr>
          <p:cNvPr id="4" name="Slide Number Placeholder 3"/>
          <p:cNvSpPr>
            <a:spLocks noGrp="1"/>
          </p:cNvSpPr>
          <p:nvPr>
            <p:ph type="sldNum" sz="quarter" idx="5"/>
          </p:nvPr>
        </p:nvSpPr>
        <p:spPr/>
        <p:txBody>
          <a:bodyPr/>
          <a:lstStyle/>
          <a:p>
            <a:fld id="{5F2D26A7-49F0-4FB5-81D9-F4568934CCA5}" type="slidenum">
              <a:rPr lang="en-US" smtClean="0"/>
              <a:t>12</a:t>
            </a:fld>
            <a:endParaRPr lang="en-US"/>
          </a:p>
        </p:txBody>
      </p:sp>
    </p:spTree>
    <p:extLst>
      <p:ext uri="{BB962C8B-B14F-4D97-AF65-F5344CB8AC3E}">
        <p14:creationId xmlns:p14="http://schemas.microsoft.com/office/powerpoint/2010/main" val="679309556"/>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920834" y="134694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920834" y="429969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920834" y="1484779"/>
            <a:ext cx="10222992"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grpSp>
        <p:nvGrpSpPr>
          <p:cNvPr id="10" name="Group 9"/>
          <p:cNvGrpSpPr/>
          <p:nvPr/>
        </p:nvGrpSpPr>
        <p:grpSpPr>
          <a:xfrm>
            <a:off x="9649215" y="4068923"/>
            <a:ext cx="1080904" cy="1080902"/>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2" name="Title 1"/>
          <p:cNvSpPr>
            <a:spLocks noGrp="1"/>
          </p:cNvSpPr>
          <p:nvPr>
            <p:ph type="ctrTitle"/>
          </p:nvPr>
        </p:nvSpPr>
        <p:spPr>
          <a:xfrm>
            <a:off x="1051560" y="1432223"/>
            <a:ext cx="9966960" cy="3035808"/>
          </a:xfrm>
        </p:spPr>
        <p:txBody>
          <a:bodyPr anchor="ctr">
            <a:noAutofit/>
          </a:bodyPr>
          <a:lstStyle>
            <a:lvl1pPr algn="l">
              <a:lnSpc>
                <a:spcPct val="80000"/>
              </a:lnSpc>
              <a:defRPr sz="9600" cap="all" baseline="0">
                <a:blipFill dpi="0" rotWithShape="1">
                  <a:blip r:embed="rId4"/>
                  <a:srcRect/>
                  <a:tile tx="6350" ty="-127000" sx="65000" sy="64000" flip="none" algn="tl"/>
                </a:blipFill>
              </a:defRPr>
            </a:lvl1pPr>
          </a:lstStyle>
          <a:p>
            <a:r>
              <a:rPr lang="en-US"/>
              <a:t>Click to edit Master title style</a:t>
            </a:r>
            <a:endParaRPr lang="en-US" dirty="0"/>
          </a:p>
        </p:txBody>
      </p:sp>
      <p:sp>
        <p:nvSpPr>
          <p:cNvPr id="3" name="Subtitle 2"/>
          <p:cNvSpPr>
            <a:spLocks noGrp="1"/>
          </p:cNvSpPr>
          <p:nvPr>
            <p:ph type="subTitle" idx="1"/>
          </p:nvPr>
        </p:nvSpPr>
        <p:spPr>
          <a:xfrm>
            <a:off x="1069848" y="4389120"/>
            <a:ext cx="7891272" cy="1069848"/>
          </a:xfrm>
        </p:spPr>
        <p:txBody>
          <a:bodyPr>
            <a:normAutofit/>
          </a:bodyPr>
          <a:lstStyle>
            <a:lvl1pPr marL="0" indent="0" algn="l">
              <a:buNone/>
              <a:defRPr sz="2200">
                <a:solidFill>
                  <a:schemeClr val="tx1"/>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3300488-42A9-48B0-AB5E-1F8C16E801EA}" type="datetimeFigureOut">
              <a:rPr lang="en-US" smtClean="0"/>
              <a:t>4/26/2019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9592733" y="4289334"/>
            <a:ext cx="1193868" cy="640080"/>
          </a:xfrm>
        </p:spPr>
        <p:txBody>
          <a:bodyPr/>
          <a:lstStyle>
            <a:lvl1pPr>
              <a:defRPr sz="2800"/>
            </a:lvl1pPr>
          </a:lstStyle>
          <a:p>
            <a:fld id="{1DBD7EE5-A7D5-4DB3-8BDD-CD7DF4B5D277}" type="slidenum">
              <a:rPr lang="en-US" smtClean="0"/>
              <a:t>‹#›</a:t>
            </a:fld>
            <a:endParaRPr lang="en-US"/>
          </a:p>
        </p:txBody>
      </p:sp>
    </p:spTree>
    <p:extLst>
      <p:ext uri="{BB962C8B-B14F-4D97-AF65-F5344CB8AC3E}">
        <p14:creationId xmlns:p14="http://schemas.microsoft.com/office/powerpoint/2010/main" val="33856146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3300488-42A9-48B0-AB5E-1F8C16E801EA}" type="datetimeFigureOut">
              <a:rPr lang="en-US" smtClean="0"/>
              <a:t>4/26/2019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DBD7EE5-A7D5-4DB3-8BDD-CD7DF4B5D277}" type="slidenum">
              <a:rPr lang="en-US" smtClean="0"/>
              <a:t>‹#›</a:t>
            </a:fld>
            <a:endParaRPr lang="en-US"/>
          </a:p>
        </p:txBody>
      </p:sp>
    </p:spTree>
    <p:extLst>
      <p:ext uri="{BB962C8B-B14F-4D97-AF65-F5344CB8AC3E}">
        <p14:creationId xmlns:p14="http://schemas.microsoft.com/office/powerpoint/2010/main" val="28814638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0" y="4917989"/>
            <a:ext cx="12192000" cy="194001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167128" y="1225296"/>
            <a:ext cx="9281160" cy="3520440"/>
          </a:xfrm>
        </p:spPr>
        <p:txBody>
          <a:bodyPr anchor="ctr">
            <a:normAutofit/>
          </a:bodyPr>
          <a:lstStyle>
            <a:lvl1pPr>
              <a:lnSpc>
                <a:spcPct val="80000"/>
              </a:lnSpc>
              <a:defRPr sz="8000" b="0"/>
            </a:lvl1pPr>
          </a:lstStyle>
          <a:p>
            <a:r>
              <a:rPr lang="en-US"/>
              <a:t>Click to edit Master title style</a:t>
            </a:r>
            <a:endParaRPr lang="en-US" dirty="0"/>
          </a:p>
        </p:txBody>
      </p:sp>
      <p:sp>
        <p:nvSpPr>
          <p:cNvPr id="3" name="Text Placeholder 2"/>
          <p:cNvSpPr>
            <a:spLocks noGrp="1"/>
          </p:cNvSpPr>
          <p:nvPr>
            <p:ph type="body" idx="1"/>
          </p:nvPr>
        </p:nvSpPr>
        <p:spPr>
          <a:xfrm>
            <a:off x="2165774" y="5020056"/>
            <a:ext cx="9052560" cy="1066800"/>
          </a:xfrm>
        </p:spPr>
        <p:txBody>
          <a:bodyPr anchor="t">
            <a:normAutofit/>
          </a:bodyPr>
          <a:lstStyle>
            <a:lvl1pPr marL="0" indent="0">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a:xfrm>
            <a:off x="8593667" y="6272784"/>
            <a:ext cx="2644309" cy="365125"/>
          </a:xfrm>
        </p:spPr>
        <p:txBody>
          <a:bodyPr/>
          <a:lstStyle/>
          <a:p>
            <a:fld id="{73300488-42A9-48B0-AB5E-1F8C16E801EA}" type="datetimeFigureOut">
              <a:rPr lang="en-US" smtClean="0"/>
              <a:t>4/26/2019</a:t>
            </a:fld>
            <a:endParaRPr lang="en-US"/>
          </a:p>
        </p:txBody>
      </p:sp>
      <p:sp>
        <p:nvSpPr>
          <p:cNvPr id="5" name="Footer Placeholder 4"/>
          <p:cNvSpPr>
            <a:spLocks noGrp="1"/>
          </p:cNvSpPr>
          <p:nvPr>
            <p:ph type="ftr" sz="quarter" idx="11"/>
          </p:nvPr>
        </p:nvSpPr>
        <p:spPr>
          <a:xfrm>
            <a:off x="2182708" y="6272784"/>
            <a:ext cx="6327648" cy="365125"/>
          </a:xfrm>
        </p:spPr>
        <p:txBody>
          <a:bodyPr/>
          <a:lstStyle/>
          <a:p>
            <a:endParaRPr lang="en-US"/>
          </a:p>
        </p:txBody>
      </p:sp>
      <p:grpSp>
        <p:nvGrpSpPr>
          <p:cNvPr id="8" name="Group 7"/>
          <p:cNvGrpSpPr/>
          <p:nvPr/>
        </p:nvGrpSpPr>
        <p:grpSpPr>
          <a:xfrm>
            <a:off x="897399" y="2325848"/>
            <a:ext cx="1080904" cy="1080902"/>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6" name="Slide Number Placeholder 5"/>
          <p:cNvSpPr>
            <a:spLocks noGrp="1"/>
          </p:cNvSpPr>
          <p:nvPr>
            <p:ph type="sldNum" sz="quarter" idx="12"/>
          </p:nvPr>
        </p:nvSpPr>
        <p:spPr>
          <a:xfrm>
            <a:off x="843702" y="2506133"/>
            <a:ext cx="1188298" cy="720332"/>
          </a:xfrm>
        </p:spPr>
        <p:txBody>
          <a:bodyPr/>
          <a:lstStyle>
            <a:lvl1pPr>
              <a:defRPr sz="2800"/>
            </a:lvl1pPr>
          </a:lstStyle>
          <a:p>
            <a:fld id="{1DBD7EE5-A7D5-4DB3-8BDD-CD7DF4B5D277}" type="slidenum">
              <a:rPr lang="en-US" smtClean="0"/>
              <a:t>‹#›</a:t>
            </a:fld>
            <a:endParaRPr lang="en-US"/>
          </a:p>
        </p:txBody>
      </p:sp>
    </p:spTree>
    <p:extLst>
      <p:ext uri="{BB962C8B-B14F-4D97-AF65-F5344CB8AC3E}">
        <p14:creationId xmlns:p14="http://schemas.microsoft.com/office/powerpoint/2010/main" val="42399342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9848"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64224"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3300488-42A9-48B0-AB5E-1F8C16E801EA}" type="datetimeFigureOut">
              <a:rPr lang="en-US" smtClean="0"/>
              <a:t>4/26/2019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DBD7EE5-A7D5-4DB3-8BDD-CD7DF4B5D277}" type="slidenum">
              <a:rPr lang="en-US" smtClean="0"/>
              <a:t>‹#›</a:t>
            </a:fld>
            <a:endParaRPr lang="en-US"/>
          </a:p>
        </p:txBody>
      </p:sp>
    </p:spTree>
    <p:extLst>
      <p:ext uri="{BB962C8B-B14F-4D97-AF65-F5344CB8AC3E}">
        <p14:creationId xmlns:p14="http://schemas.microsoft.com/office/powerpoint/2010/main" val="41758255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6800"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069848"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64224"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364224"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3300488-42A9-48B0-AB5E-1F8C16E801EA}" type="datetimeFigureOut">
              <a:rPr lang="en-US" smtClean="0"/>
              <a:t>4/26/2019</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DBD7EE5-A7D5-4DB3-8BDD-CD7DF4B5D277}" type="slidenum">
              <a:rPr lang="en-US" smtClean="0"/>
              <a:t>‹#›</a:t>
            </a:fld>
            <a:endParaRPr lang="en-US"/>
          </a:p>
        </p:txBody>
      </p:sp>
    </p:spTree>
    <p:extLst>
      <p:ext uri="{BB962C8B-B14F-4D97-AF65-F5344CB8AC3E}">
        <p14:creationId xmlns:p14="http://schemas.microsoft.com/office/powerpoint/2010/main" val="21500880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3300488-42A9-48B0-AB5E-1F8C16E801EA}" type="datetimeFigureOut">
              <a:rPr lang="en-US" smtClean="0"/>
              <a:t>4/26/2019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DBD7EE5-A7D5-4DB3-8BDD-CD7DF4B5D277}" type="slidenum">
              <a:rPr lang="en-US" smtClean="0"/>
              <a:t>‹#›</a:t>
            </a:fld>
            <a:endParaRPr lang="en-US"/>
          </a:p>
        </p:txBody>
      </p:sp>
    </p:spTree>
    <p:extLst>
      <p:ext uri="{BB962C8B-B14F-4D97-AF65-F5344CB8AC3E}">
        <p14:creationId xmlns:p14="http://schemas.microsoft.com/office/powerpoint/2010/main" val="16253885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3300488-42A9-48B0-AB5E-1F8C16E801EA}" type="datetimeFigureOut">
              <a:rPr lang="en-US" smtClean="0"/>
              <a:t>4/26/2019</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DBD7EE5-A7D5-4DB3-8BDD-CD7DF4B5D277}" type="slidenum">
              <a:rPr lang="en-US" smtClean="0"/>
              <a:t>‹#›</a:t>
            </a:fld>
            <a:endParaRPr lang="en-US"/>
          </a:p>
        </p:txBody>
      </p:sp>
    </p:spTree>
    <p:extLst>
      <p:ext uri="{BB962C8B-B14F-4D97-AF65-F5344CB8AC3E}">
        <p14:creationId xmlns:p14="http://schemas.microsoft.com/office/powerpoint/2010/main" val="39850777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Content Placeholder 2"/>
          <p:cNvSpPr>
            <a:spLocks noGrp="1"/>
          </p:cNvSpPr>
          <p:nvPr>
            <p:ph idx="1"/>
          </p:nvPr>
        </p:nvSpPr>
        <p:spPr>
          <a:xfrm>
            <a:off x="838200" y="685800"/>
            <a:ext cx="6711696" cy="5020056"/>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73300488-42A9-48B0-AB5E-1F8C16E801EA}" type="datetimeFigureOut">
              <a:rPr lang="en-US" smtClean="0"/>
              <a:t>4/26/2019</a:t>
            </a:fld>
            <a:endParaRPr lang="en-US"/>
          </a:p>
        </p:txBody>
      </p:sp>
      <p:sp>
        <p:nvSpPr>
          <p:cNvPr id="6" name="Footer Placeholder 5"/>
          <p:cNvSpPr>
            <a:spLocks noGrp="1"/>
          </p:cNvSpPr>
          <p:nvPr>
            <p:ph type="ftr" sz="quarter" idx="11"/>
          </p:nvPr>
        </p:nvSpPr>
        <p:spPr/>
        <p:txBody>
          <a:bodyPr/>
          <a:lstStyle/>
          <a:p>
            <a:endParaRPr lang="en-US"/>
          </a:p>
        </p:txBody>
      </p:sp>
      <p:grpSp>
        <p:nvGrpSpPr>
          <p:cNvPr id="9" name="Group 8"/>
          <p:cNvGrpSpPr>
            <a:grpSpLocks noChangeAspect="1"/>
          </p:cNvGrpSpPr>
          <p:nvPr/>
        </p:nvGrpSpPr>
        <p:grpSpPr>
          <a:xfrm>
            <a:off x="11401725" y="6229681"/>
            <a:ext cx="457200" cy="457200"/>
            <a:chOff x="11361456" y="6195813"/>
            <a:chExt cx="548640" cy="548640"/>
          </a:xfrm>
        </p:grpSpPr>
        <p:sp>
          <p:nvSpPr>
            <p:cNvPr id="10" name="Oval 9"/>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1" name="Oval 10"/>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1DBD7EE5-A7D5-4DB3-8BDD-CD7DF4B5D277}" type="slidenum">
              <a:rPr lang="en-US" smtClean="0"/>
              <a:t>‹#›</a:t>
            </a:fld>
            <a:endParaRPr lang="en-US"/>
          </a:p>
        </p:txBody>
      </p:sp>
    </p:spTree>
    <p:extLst>
      <p:ext uri="{BB962C8B-B14F-4D97-AF65-F5344CB8AC3E}">
        <p14:creationId xmlns:p14="http://schemas.microsoft.com/office/powerpoint/2010/main" val="23701390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8303740" cy="6858000"/>
          </a:xfrm>
          <a:solidFill>
            <a:schemeClr val="tx2">
              <a:lumMod val="20000"/>
              <a:lumOff val="80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73300488-42A9-48B0-AB5E-1F8C16E801EA}" type="datetimeFigureOut">
              <a:rPr lang="en-US" smtClean="0"/>
              <a:t>4/26/2019</a:t>
            </a:fld>
            <a:endParaRPr lang="en-US"/>
          </a:p>
        </p:txBody>
      </p:sp>
      <p:grpSp>
        <p:nvGrpSpPr>
          <p:cNvPr id="8" name="Group 7"/>
          <p:cNvGrpSpPr>
            <a:grpSpLocks noChangeAspect="1"/>
          </p:cNvGrpSpPr>
          <p:nvPr/>
        </p:nvGrpSpPr>
        <p:grpSpPr>
          <a:xfrm>
            <a:off x="11401725" y="6229681"/>
            <a:ext cx="457200" cy="457200"/>
            <a:chOff x="11361456" y="6195813"/>
            <a:chExt cx="548640" cy="548640"/>
          </a:xfrm>
        </p:grpSpPr>
        <p:sp>
          <p:nvSpPr>
            <p:cNvPr id="9" name="Oval 8"/>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0" name="Oval 9"/>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1DBD7EE5-A7D5-4DB3-8BDD-CD7DF4B5D277}" type="slidenum">
              <a:rPr lang="en-US" smtClean="0"/>
              <a:t>‹#›</a:t>
            </a:fld>
            <a:endParaRPr lang="en-US"/>
          </a:p>
        </p:txBody>
      </p:sp>
    </p:spTree>
    <p:extLst>
      <p:ext uri="{BB962C8B-B14F-4D97-AF65-F5344CB8AC3E}">
        <p14:creationId xmlns:p14="http://schemas.microsoft.com/office/powerpoint/2010/main" val="26760690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3300488-42A9-48B0-AB5E-1F8C16E801EA}" type="datetimeFigureOut">
              <a:rPr lang="en-US" smtClean="0"/>
              <a:t>4/26/2019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DBD7EE5-A7D5-4DB3-8BDD-CD7DF4B5D277}" type="slidenum">
              <a:rPr lang="en-US" smtClean="0"/>
              <a:t>‹#›</a:t>
            </a:fld>
            <a:endParaRPr lang="en-US"/>
          </a:p>
        </p:txBody>
      </p:sp>
    </p:spTree>
    <p:extLst>
      <p:ext uri="{BB962C8B-B14F-4D97-AF65-F5344CB8AC3E}">
        <p14:creationId xmlns:p14="http://schemas.microsoft.com/office/powerpoint/2010/main" val="31847755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533400"/>
            <a:ext cx="2552700" cy="5638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066800" y="533400"/>
            <a:ext cx="7505700" cy="563880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3300488-42A9-48B0-AB5E-1F8C16E801EA}" type="datetimeFigureOut">
              <a:rPr lang="en-US" smtClean="0"/>
              <a:t>4/26/2019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DBD7EE5-A7D5-4DB3-8BDD-CD7DF4B5D277}" type="slidenum">
              <a:rPr lang="en-US" smtClean="0"/>
              <a:t>‹#›</a:t>
            </a:fld>
            <a:endParaRPr lang="en-US"/>
          </a:p>
        </p:txBody>
      </p:sp>
    </p:spTree>
    <p:extLst>
      <p:ext uri="{BB962C8B-B14F-4D97-AF65-F5344CB8AC3E}">
        <p14:creationId xmlns:p14="http://schemas.microsoft.com/office/powerpoint/2010/main" val="10473621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microsoft.com/office/2007/relationships/hdphoto" Target="../media/hdphoto1.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69848" y="484632"/>
            <a:ext cx="10058400" cy="160934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9848" y="2121408"/>
            <a:ext cx="10058400" cy="4050792"/>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964424" y="6272784"/>
            <a:ext cx="3273552" cy="365125"/>
          </a:xfrm>
          <a:prstGeom prst="rect">
            <a:avLst/>
          </a:prstGeom>
        </p:spPr>
        <p:txBody>
          <a:bodyPr vert="horz" lIns="91440" tIns="45720" rIns="91440" bIns="45720" rtlCol="0" anchor="ctr"/>
          <a:lstStyle>
            <a:lvl1pPr algn="r">
              <a:defRPr sz="1100">
                <a:solidFill>
                  <a:schemeClr val="tx2"/>
                </a:solidFill>
              </a:defRPr>
            </a:lvl1pPr>
          </a:lstStyle>
          <a:p>
            <a:fld id="{73300488-42A9-48B0-AB5E-1F8C16E801EA}" type="datetimeFigureOut">
              <a:rPr lang="en-US" smtClean="0"/>
              <a:t>4/26/2019</a:t>
            </a:fld>
            <a:endParaRPr lang="en-US"/>
          </a:p>
        </p:txBody>
      </p:sp>
      <p:sp>
        <p:nvSpPr>
          <p:cNvPr id="5" name="Footer Placeholder 4"/>
          <p:cNvSpPr>
            <a:spLocks noGrp="1"/>
          </p:cNvSpPr>
          <p:nvPr>
            <p:ph type="ftr" sz="quarter" idx="3"/>
          </p:nvPr>
        </p:nvSpPr>
        <p:spPr>
          <a:xfrm>
            <a:off x="1088136" y="6272784"/>
            <a:ext cx="6327648" cy="365125"/>
          </a:xfrm>
          <a:prstGeom prst="rect">
            <a:avLst/>
          </a:prstGeom>
        </p:spPr>
        <p:txBody>
          <a:bodyPr vert="horz" lIns="91440" tIns="45720" rIns="91440" bIns="45720" rtlCol="0" anchor="ctr"/>
          <a:lstStyle>
            <a:lvl1pPr algn="l">
              <a:defRPr sz="1100">
                <a:solidFill>
                  <a:schemeClr val="tx2"/>
                </a:solidFill>
              </a:defRPr>
            </a:lvl1pPr>
          </a:lstStyle>
          <a:p>
            <a:endParaRPr lang="en-US"/>
          </a:p>
        </p:txBody>
      </p:sp>
      <p:grpSp>
        <p:nvGrpSpPr>
          <p:cNvPr id="7" name="Group 6"/>
          <p:cNvGrpSpPr>
            <a:grpSpLocks noChangeAspect="1"/>
          </p:cNvGrpSpPr>
          <p:nvPr/>
        </p:nvGrpSpPr>
        <p:grpSpPr>
          <a:xfrm>
            <a:off x="11401725" y="6229681"/>
            <a:ext cx="457200" cy="457200"/>
            <a:chOff x="11361456" y="6195813"/>
            <a:chExt cx="548640" cy="548640"/>
          </a:xfrm>
        </p:grpSpPr>
        <p:sp>
          <p:nvSpPr>
            <p:cNvPr id="8" name="Oval 7"/>
            <p:cNvSpPr/>
            <p:nvPr/>
          </p:nvSpPr>
          <p:spPr>
            <a:xfrm>
              <a:off x="11361456" y="6195813"/>
              <a:ext cx="548640" cy="548640"/>
            </a:xfrm>
            <a:prstGeom prst="ellipse">
              <a:avLst/>
            </a:prstGeom>
            <a:blipFill dpi="0" rotWithShape="1">
              <a:blip r:embed="rId13">
                <a:duotone>
                  <a:schemeClr val="accent1">
                    <a:shade val="45000"/>
                    <a:satMod val="135000"/>
                  </a:schemeClr>
                  <a:prstClr val="white"/>
                </a:duotone>
                <a:extLst>
                  <a:ext uri="{BEBA8EAE-BF5A-486C-A8C5-ECC9F3942E4B}">
                    <a14:imgProps xmlns:a14="http://schemas.microsoft.com/office/drawing/2010/main">
                      <a14:imgLayer r:embed="rId14">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9" name="Oval 8"/>
            <p:cNvSpPr/>
            <p:nvPr/>
          </p:nvSpPr>
          <p:spPr>
            <a:xfrm>
              <a:off x="11396488" y="6230844"/>
              <a:ext cx="478576" cy="478578"/>
            </a:xfrm>
            <a:prstGeom prst="ellipse">
              <a:avLst/>
            </a:prstGeom>
            <a:noFill/>
            <a:ln w="12700" cap="flat" cmpd="sng" algn="ctr">
              <a:solidFill>
                <a:srgbClr val="FFFFFF"/>
              </a:solidFill>
              <a:prstDash val="solid"/>
            </a:ln>
            <a:effectLst/>
          </p:spPr>
        </p:sp>
      </p:grpSp>
      <p:sp>
        <p:nvSpPr>
          <p:cNvPr id="6" name="Slide Number Placeholder 5"/>
          <p:cNvSpPr>
            <a:spLocks noGrp="1"/>
          </p:cNvSpPr>
          <p:nvPr>
            <p:ph type="sldNum" sz="quarter" idx="4"/>
          </p:nvPr>
        </p:nvSpPr>
        <p:spPr>
          <a:xfrm>
            <a:off x="11311128" y="6272784"/>
            <a:ext cx="640080" cy="365125"/>
          </a:xfrm>
          <a:prstGeom prst="rect">
            <a:avLst/>
          </a:prstGeom>
        </p:spPr>
        <p:txBody>
          <a:bodyPr vert="horz" lIns="91440" tIns="45720" rIns="91440" bIns="45720" rtlCol="0" anchor="ctr"/>
          <a:lstStyle>
            <a:lvl1pPr algn="ctr">
              <a:defRPr sz="1400" b="1">
                <a:solidFill>
                  <a:srgbClr val="FFFFFF"/>
                </a:solidFill>
                <a:latin typeface="+mj-lt"/>
              </a:defRPr>
            </a:lvl1pPr>
          </a:lstStyle>
          <a:p>
            <a:fld id="{1DBD7EE5-A7D5-4DB3-8BDD-CD7DF4B5D277}" type="slidenum">
              <a:rPr lang="en-US" smtClean="0"/>
              <a:t>‹#›</a:t>
            </a:fld>
            <a:endParaRPr lang="en-US"/>
          </a:p>
        </p:txBody>
      </p:sp>
    </p:spTree>
    <p:extLst>
      <p:ext uri="{BB962C8B-B14F-4D97-AF65-F5344CB8AC3E}">
        <p14:creationId xmlns:p14="http://schemas.microsoft.com/office/powerpoint/2010/main" val="2220300774"/>
      </p:ext>
    </p:extLst>
  </p:cSld>
  <p:clrMap bg1="lt1" tx1="dk1" bg2="lt2" tx2="dk2" accent1="accent1" accent2="accent2" accent3="accent3" accent4="accent4" accent5="accent5" accent6="accent6" hlink="hlink" folHlink="folHlink"/>
  <p:sldLayoutIdLst>
    <p:sldLayoutId id="2147483942" r:id="rId1"/>
    <p:sldLayoutId id="2147483943" r:id="rId2"/>
    <p:sldLayoutId id="2147483944" r:id="rId3"/>
    <p:sldLayoutId id="2147483945" r:id="rId4"/>
    <p:sldLayoutId id="2147483946" r:id="rId5"/>
    <p:sldLayoutId id="2147483947" r:id="rId6"/>
    <p:sldLayoutId id="2147483948" r:id="rId7"/>
    <p:sldLayoutId id="2147483949" r:id="rId8"/>
    <p:sldLayoutId id="2147483950" r:id="rId9"/>
    <p:sldLayoutId id="2147483951" r:id="rId10"/>
    <p:sldLayoutId id="2147483952" r:id="rId11"/>
  </p:sldLayoutIdLst>
  <p:txStyles>
    <p:titleStyle>
      <a:lvl1pPr algn="l" defTabSz="914400" rtl="0" eaLnBrk="1" latinLnBrk="0" hangingPunct="1">
        <a:lnSpc>
          <a:spcPct val="90000"/>
        </a:lnSpc>
        <a:spcBef>
          <a:spcPct val="0"/>
        </a:spcBef>
        <a:buNone/>
        <a:defRPr sz="5400" kern="1200" cap="all" baseline="0">
          <a:blipFill>
            <a:blip r:embed="rId15">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8B123C-4A35-42FF-9155-F3AC330EB9F1}"/>
              </a:ext>
            </a:extLst>
          </p:cNvPr>
          <p:cNvSpPr>
            <a:spLocks noGrp="1"/>
          </p:cNvSpPr>
          <p:nvPr>
            <p:ph type="ctrTitle"/>
          </p:nvPr>
        </p:nvSpPr>
        <p:spPr/>
        <p:txBody>
          <a:bodyPr/>
          <a:lstStyle/>
          <a:p>
            <a:r>
              <a:rPr lang="en-US" dirty="0"/>
              <a:t>Types of questions </a:t>
            </a:r>
          </a:p>
        </p:txBody>
      </p:sp>
      <p:sp>
        <p:nvSpPr>
          <p:cNvPr id="3" name="Subtitle 2">
            <a:extLst>
              <a:ext uri="{FF2B5EF4-FFF2-40B4-BE49-F238E27FC236}">
                <a16:creationId xmlns:a16="http://schemas.microsoft.com/office/drawing/2014/main" id="{8B47A514-9CF1-42BF-A6C9-57EBB6BA495F}"/>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5646765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6CD541-0188-4206-AA51-1A89B77EA416}"/>
              </a:ext>
            </a:extLst>
          </p:cNvPr>
          <p:cNvSpPr>
            <a:spLocks noGrp="1"/>
          </p:cNvSpPr>
          <p:nvPr>
            <p:ph type="title"/>
          </p:nvPr>
        </p:nvSpPr>
        <p:spPr/>
        <p:txBody>
          <a:bodyPr/>
          <a:lstStyle/>
          <a:p>
            <a:r>
              <a:rPr lang="en-US" dirty="0"/>
              <a:t>contents</a:t>
            </a:r>
          </a:p>
        </p:txBody>
      </p:sp>
      <p:sp>
        <p:nvSpPr>
          <p:cNvPr id="3" name="Content Placeholder 2">
            <a:extLst>
              <a:ext uri="{FF2B5EF4-FFF2-40B4-BE49-F238E27FC236}">
                <a16:creationId xmlns:a16="http://schemas.microsoft.com/office/drawing/2014/main" id="{48E87E38-F21C-4862-B999-BDE2046B5487}"/>
              </a:ext>
            </a:extLst>
          </p:cNvPr>
          <p:cNvSpPr>
            <a:spLocks noGrp="1"/>
          </p:cNvSpPr>
          <p:nvPr>
            <p:ph idx="1"/>
          </p:nvPr>
        </p:nvSpPr>
        <p:spPr/>
        <p:txBody>
          <a:bodyPr/>
          <a:lstStyle/>
          <a:p>
            <a:r>
              <a:rPr lang="en-US" b="1" dirty="0"/>
              <a:t>Open-ended questions </a:t>
            </a:r>
          </a:p>
          <a:p>
            <a:r>
              <a:rPr lang="en-US" b="1" dirty="0"/>
              <a:t> Hypothetical questions</a:t>
            </a:r>
          </a:p>
          <a:p>
            <a:r>
              <a:rPr lang="en-US" b="1" dirty="0"/>
              <a:t>Probing questions</a:t>
            </a:r>
          </a:p>
          <a:p>
            <a:r>
              <a:rPr lang="en-US" b="1" dirty="0"/>
              <a:t>Close-ended questions</a:t>
            </a:r>
          </a:p>
          <a:p>
            <a:r>
              <a:rPr lang="en-US" b="1" dirty="0"/>
              <a:t> How to relate the questioning techniques to interview stages </a:t>
            </a:r>
          </a:p>
          <a:p>
            <a:r>
              <a:rPr lang="en-US" b="1" dirty="0"/>
              <a:t> Questioning techniques to avoid </a:t>
            </a:r>
          </a:p>
        </p:txBody>
      </p:sp>
    </p:spTree>
    <p:extLst>
      <p:ext uri="{BB962C8B-B14F-4D97-AF65-F5344CB8AC3E}">
        <p14:creationId xmlns:p14="http://schemas.microsoft.com/office/powerpoint/2010/main" val="12424699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5FE488-849B-4FFE-AF2E-DF1E0917D19D}"/>
              </a:ext>
            </a:extLst>
          </p:cNvPr>
          <p:cNvSpPr>
            <a:spLocks noGrp="1"/>
          </p:cNvSpPr>
          <p:nvPr>
            <p:ph type="title"/>
          </p:nvPr>
        </p:nvSpPr>
        <p:spPr/>
        <p:txBody>
          <a:bodyPr/>
          <a:lstStyle/>
          <a:p>
            <a:r>
              <a:rPr lang="en-US" dirty="0"/>
              <a:t>Open ended questions </a:t>
            </a:r>
          </a:p>
        </p:txBody>
      </p:sp>
      <p:sp>
        <p:nvSpPr>
          <p:cNvPr id="3" name="Content Placeholder 2">
            <a:extLst>
              <a:ext uri="{FF2B5EF4-FFF2-40B4-BE49-F238E27FC236}">
                <a16:creationId xmlns:a16="http://schemas.microsoft.com/office/drawing/2014/main" id="{159FE113-6BB9-486D-AA46-62E67D60C910}"/>
              </a:ext>
            </a:extLst>
          </p:cNvPr>
          <p:cNvSpPr>
            <a:spLocks noGrp="1"/>
          </p:cNvSpPr>
          <p:nvPr>
            <p:ph idx="1"/>
          </p:nvPr>
        </p:nvSpPr>
        <p:spPr/>
        <p:txBody>
          <a:bodyPr/>
          <a:lstStyle/>
          <a:p>
            <a:r>
              <a:rPr lang="en-US" dirty="0"/>
              <a:t> open-ended questions require full, multiple-word responses. The answers generally lend themselves to discussion and result in information upon which the interviewer can build additional questions</a:t>
            </a:r>
          </a:p>
          <a:p>
            <a:r>
              <a:rPr lang="en-US" dirty="0"/>
              <a:t> Open-ended questions encourage applicants to talk, thereby allowing the interviewer an opportunity to actively listen to responses, assess verbal communication skills, and observe the applicant’s pattern of nonverbal communication</a:t>
            </a:r>
          </a:p>
        </p:txBody>
      </p:sp>
    </p:spTree>
    <p:extLst>
      <p:ext uri="{BB962C8B-B14F-4D97-AF65-F5344CB8AC3E}">
        <p14:creationId xmlns:p14="http://schemas.microsoft.com/office/powerpoint/2010/main" val="21389326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6293A3-9DDA-4E20-9395-399DA1B2A9DB}"/>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E0A03C10-4BF1-4A70-A311-7F06BB0F477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75252" y="2093976"/>
            <a:ext cx="9004824" cy="3813267"/>
          </a:xfrm>
        </p:spPr>
      </p:pic>
    </p:spTree>
    <p:extLst>
      <p:ext uri="{BB962C8B-B14F-4D97-AF65-F5344CB8AC3E}">
        <p14:creationId xmlns:p14="http://schemas.microsoft.com/office/powerpoint/2010/main" val="9740646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136801-D119-4FC6-93DE-B4562A86A25A}"/>
              </a:ext>
            </a:extLst>
          </p:cNvPr>
          <p:cNvSpPr>
            <a:spLocks noGrp="1"/>
          </p:cNvSpPr>
          <p:nvPr>
            <p:ph type="title"/>
          </p:nvPr>
        </p:nvSpPr>
        <p:spPr/>
        <p:txBody>
          <a:bodyPr/>
          <a:lstStyle/>
          <a:p>
            <a:r>
              <a:rPr lang="en-US" b="1" dirty="0"/>
              <a:t> Hypothetical questions</a:t>
            </a:r>
            <a:br>
              <a:rPr lang="en-US" b="1" dirty="0"/>
            </a:br>
            <a:endParaRPr lang="en-US" dirty="0"/>
          </a:p>
        </p:txBody>
      </p:sp>
      <p:sp>
        <p:nvSpPr>
          <p:cNvPr id="3" name="Content Placeholder 2">
            <a:extLst>
              <a:ext uri="{FF2B5EF4-FFF2-40B4-BE49-F238E27FC236}">
                <a16:creationId xmlns:a16="http://schemas.microsoft.com/office/drawing/2014/main" id="{25A1C426-D29C-41E0-87E6-F1FDB5A2237F}"/>
              </a:ext>
            </a:extLst>
          </p:cNvPr>
          <p:cNvSpPr>
            <a:spLocks noGrp="1"/>
          </p:cNvSpPr>
          <p:nvPr>
            <p:ph idx="1"/>
          </p:nvPr>
        </p:nvSpPr>
        <p:spPr/>
        <p:txBody>
          <a:bodyPr/>
          <a:lstStyle/>
          <a:p>
            <a:r>
              <a:rPr lang="en-US" dirty="0"/>
              <a:t>Hypothetical questions are based on anticipated or known job-related tasks for the available opening. The questions are phrased in the form of problems and presented to the applicant for solutions. The questions are generally introduced with words and phrases such as:</a:t>
            </a:r>
          </a:p>
          <a:p>
            <a:r>
              <a:rPr lang="en-US" dirty="0"/>
              <a:t>‘‘What would you do if . . .?’’ ‘</a:t>
            </a:r>
          </a:p>
          <a:p>
            <a:r>
              <a:rPr lang="en-US" dirty="0"/>
              <a:t>‘How would you handle . . .?’’ ‘‘</a:t>
            </a:r>
          </a:p>
          <a:p>
            <a:r>
              <a:rPr lang="en-US" dirty="0"/>
              <a:t>How would you solve . . .?’’ ‘</a:t>
            </a:r>
          </a:p>
          <a:p>
            <a:r>
              <a:rPr lang="en-US" dirty="0"/>
              <a:t>‘In the event that . . .’’</a:t>
            </a:r>
          </a:p>
        </p:txBody>
      </p:sp>
    </p:spTree>
    <p:extLst>
      <p:ext uri="{BB962C8B-B14F-4D97-AF65-F5344CB8AC3E}">
        <p14:creationId xmlns:p14="http://schemas.microsoft.com/office/powerpoint/2010/main" val="35968424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DEB73A-0A0D-4305-9FAC-43B2364CB530}"/>
              </a:ext>
            </a:extLst>
          </p:cNvPr>
          <p:cNvSpPr>
            <a:spLocks noGrp="1"/>
          </p:cNvSpPr>
          <p:nvPr>
            <p:ph type="title"/>
          </p:nvPr>
        </p:nvSpPr>
        <p:spPr/>
        <p:txBody>
          <a:bodyPr/>
          <a:lstStyle/>
          <a:p>
            <a:r>
              <a:rPr lang="en-US" dirty="0"/>
              <a:t> cont.…</a:t>
            </a:r>
          </a:p>
        </p:txBody>
      </p:sp>
      <p:sp>
        <p:nvSpPr>
          <p:cNvPr id="3" name="Content Placeholder 2">
            <a:extLst>
              <a:ext uri="{FF2B5EF4-FFF2-40B4-BE49-F238E27FC236}">
                <a16:creationId xmlns:a16="http://schemas.microsoft.com/office/drawing/2014/main" id="{72F6DBB3-E977-4E70-AAC8-7042B0CF95A1}"/>
              </a:ext>
            </a:extLst>
          </p:cNvPr>
          <p:cNvSpPr>
            <a:spLocks noGrp="1"/>
          </p:cNvSpPr>
          <p:nvPr>
            <p:ph idx="1"/>
          </p:nvPr>
        </p:nvSpPr>
        <p:spPr/>
        <p:txBody>
          <a:bodyPr/>
          <a:lstStyle/>
          <a:p>
            <a:r>
              <a:rPr lang="en-US" dirty="0"/>
              <a:t>Hypothetical questions allow for the evaluation of reasoning abilities, thought processes, values, attitudes, creativity, work style, and one’s approach to different tasks</a:t>
            </a:r>
          </a:p>
          <a:p>
            <a:r>
              <a:rPr lang="en-US" dirty="0"/>
              <a:t>applicants can offer responses based only on their previous experiences</a:t>
            </a:r>
          </a:p>
        </p:txBody>
      </p:sp>
    </p:spTree>
    <p:extLst>
      <p:ext uri="{BB962C8B-B14F-4D97-AF65-F5344CB8AC3E}">
        <p14:creationId xmlns:p14="http://schemas.microsoft.com/office/powerpoint/2010/main" val="14731890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7EE46E-EA41-4DA8-94A9-DE2EFC833CD5}"/>
              </a:ext>
            </a:extLst>
          </p:cNvPr>
          <p:cNvSpPr>
            <a:spLocks noGrp="1"/>
          </p:cNvSpPr>
          <p:nvPr>
            <p:ph type="title"/>
          </p:nvPr>
        </p:nvSpPr>
        <p:spPr/>
        <p:txBody>
          <a:bodyPr/>
          <a:lstStyle/>
          <a:p>
            <a:r>
              <a:rPr lang="en-US" dirty="0"/>
              <a:t>Probing Questions</a:t>
            </a:r>
          </a:p>
        </p:txBody>
      </p:sp>
      <p:sp>
        <p:nvSpPr>
          <p:cNvPr id="3" name="Content Placeholder 2">
            <a:extLst>
              <a:ext uri="{FF2B5EF4-FFF2-40B4-BE49-F238E27FC236}">
                <a16:creationId xmlns:a16="http://schemas.microsoft.com/office/drawing/2014/main" id="{192CF290-8DD6-45FA-8D9A-A62EDB9A375C}"/>
              </a:ext>
            </a:extLst>
          </p:cNvPr>
          <p:cNvSpPr>
            <a:spLocks noGrp="1"/>
          </p:cNvSpPr>
          <p:nvPr>
            <p:ph idx="1"/>
          </p:nvPr>
        </p:nvSpPr>
        <p:spPr/>
        <p:txBody>
          <a:bodyPr/>
          <a:lstStyle/>
          <a:p>
            <a:r>
              <a:rPr lang="en-US" dirty="0"/>
              <a:t>These are questions that let interviewers delve more deeply for additional information  they are usually short and simply worded </a:t>
            </a:r>
          </a:p>
        </p:txBody>
      </p:sp>
    </p:spTree>
    <p:extLst>
      <p:ext uri="{BB962C8B-B14F-4D97-AF65-F5344CB8AC3E}">
        <p14:creationId xmlns:p14="http://schemas.microsoft.com/office/powerpoint/2010/main" val="37298329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11AF9D-3DB9-4D08-B923-06F86BE02A10}"/>
              </a:ext>
            </a:extLst>
          </p:cNvPr>
          <p:cNvSpPr>
            <a:spLocks noGrp="1"/>
          </p:cNvSpPr>
          <p:nvPr>
            <p:ph type="title"/>
          </p:nvPr>
        </p:nvSpPr>
        <p:spPr/>
        <p:txBody>
          <a:bodyPr/>
          <a:lstStyle/>
          <a:p>
            <a:r>
              <a:rPr lang="en-US" dirty="0"/>
              <a:t>Types of probing questions</a:t>
            </a:r>
          </a:p>
        </p:txBody>
      </p:sp>
      <p:sp>
        <p:nvSpPr>
          <p:cNvPr id="3" name="Content Placeholder 2">
            <a:extLst>
              <a:ext uri="{FF2B5EF4-FFF2-40B4-BE49-F238E27FC236}">
                <a16:creationId xmlns:a16="http://schemas.microsoft.com/office/drawing/2014/main" id="{571C80B2-6B63-4C0F-9198-5DB3C355D0B5}"/>
              </a:ext>
            </a:extLst>
          </p:cNvPr>
          <p:cNvSpPr>
            <a:spLocks noGrp="1"/>
          </p:cNvSpPr>
          <p:nvPr>
            <p:ph idx="1"/>
          </p:nvPr>
        </p:nvSpPr>
        <p:spPr/>
        <p:txBody>
          <a:bodyPr>
            <a:normAutofit lnSpcReduction="10000"/>
          </a:bodyPr>
          <a:lstStyle/>
          <a:p>
            <a:r>
              <a:rPr lang="en-US" dirty="0"/>
              <a:t> Rational probes </a:t>
            </a:r>
          </a:p>
          <a:p>
            <a:pPr marL="0" indent="0">
              <a:buNone/>
            </a:pPr>
            <a:r>
              <a:rPr lang="en-US" dirty="0"/>
              <a:t>request reasons, using short questions such as: ‘‘Why?’’ ‘‘How?’’ ‘‘When?’’ ‘‘How often?’’ and ‘‘Who?’’ </a:t>
            </a:r>
          </a:p>
          <a:p>
            <a:r>
              <a:rPr lang="en-US" dirty="0"/>
              <a:t> Clariﬁer probes </a:t>
            </a:r>
          </a:p>
          <a:p>
            <a:pPr marL="0" indent="0">
              <a:buNone/>
            </a:pPr>
            <a:r>
              <a:rPr lang="en-US" dirty="0"/>
              <a:t>Are used to qualify or expand up on information provided in a previous response, using questions such as: ‘‘What caused that to happen?’’ ‘‘Who else was involved in that decision?’’ ‘‘What happened next?’’ and ‘‘What were the circumstances that resulted in that happening?’’ </a:t>
            </a:r>
          </a:p>
          <a:p>
            <a:r>
              <a:rPr lang="en-US" dirty="0"/>
              <a:t>Veriﬁer probes</a:t>
            </a:r>
          </a:p>
          <a:p>
            <a:pPr marL="0" indent="0">
              <a:buNone/>
            </a:pPr>
            <a:r>
              <a:rPr lang="en-US" dirty="0"/>
              <a:t> check out the honesty of a statement. For example: ‘‘You state on your resume that you currently work closely with the ofﬁcers from your customers’ ﬁrms; please tell me exactly what you have done for them</a:t>
            </a:r>
          </a:p>
        </p:txBody>
      </p:sp>
    </p:spTree>
    <p:extLst>
      <p:ext uri="{BB962C8B-B14F-4D97-AF65-F5344CB8AC3E}">
        <p14:creationId xmlns:p14="http://schemas.microsoft.com/office/powerpoint/2010/main" val="7254408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7FC738-4AF3-429C-BB49-E6EC16C00C50}"/>
              </a:ext>
            </a:extLst>
          </p:cNvPr>
          <p:cNvSpPr>
            <a:spLocks noGrp="1"/>
          </p:cNvSpPr>
          <p:nvPr>
            <p:ph type="title"/>
          </p:nvPr>
        </p:nvSpPr>
        <p:spPr/>
        <p:txBody>
          <a:bodyPr/>
          <a:lstStyle/>
          <a:p>
            <a:r>
              <a:rPr lang="en-US" dirty="0"/>
              <a:t>EXAMPLES</a:t>
            </a:r>
          </a:p>
        </p:txBody>
      </p:sp>
      <p:sp>
        <p:nvSpPr>
          <p:cNvPr id="3" name="Content Placeholder 2">
            <a:extLst>
              <a:ext uri="{FF2B5EF4-FFF2-40B4-BE49-F238E27FC236}">
                <a16:creationId xmlns:a16="http://schemas.microsoft.com/office/drawing/2014/main" id="{91090AA2-3485-4695-A776-D7564F353019}"/>
              </a:ext>
            </a:extLst>
          </p:cNvPr>
          <p:cNvSpPr>
            <a:spLocks noGrp="1"/>
          </p:cNvSpPr>
          <p:nvPr>
            <p:ph idx="1"/>
          </p:nvPr>
        </p:nvSpPr>
        <p:spPr/>
        <p:txBody>
          <a:bodyPr>
            <a:normAutofit/>
          </a:bodyPr>
          <a:lstStyle/>
          <a:p>
            <a:r>
              <a:rPr lang="en-US" sz="2400" b="1" dirty="0"/>
              <a:t>RATIONAL PROBING</a:t>
            </a:r>
          </a:p>
          <a:p>
            <a:pPr marL="0" indent="0">
              <a:buNone/>
            </a:pPr>
            <a:r>
              <a:rPr lang="en-US" dirty="0"/>
              <a:t>‘What kind of people do you ﬁnd it difﬁcult/easy to work with? Why?’’ </a:t>
            </a:r>
          </a:p>
          <a:p>
            <a:pPr marL="0" indent="0">
              <a:buNone/>
            </a:pPr>
            <a:r>
              <a:rPr lang="en-US" dirty="0"/>
              <a:t>‘‘What is the greatest accomplishment of your career to date? Why?’’</a:t>
            </a:r>
          </a:p>
          <a:p>
            <a:r>
              <a:rPr lang="en-US" sz="2400" b="1" dirty="0"/>
              <a:t> Clariﬁer Probing </a:t>
            </a:r>
          </a:p>
          <a:p>
            <a:pPr marL="0" indent="0">
              <a:buNone/>
            </a:pPr>
            <a:r>
              <a:rPr lang="en-US" dirty="0"/>
              <a:t>‘‘Who or what has inﬂuenced you with regard to your career goals? In what way?’’ </a:t>
            </a:r>
          </a:p>
          <a:p>
            <a:pPr marL="0" indent="0">
              <a:buNone/>
            </a:pPr>
            <a:r>
              <a:rPr lang="en-US" dirty="0"/>
              <a:t>‘‘You said earlier that your team failed to meet the last deadline. What do you believe caused that to happen?’’ </a:t>
            </a:r>
          </a:p>
          <a:p>
            <a:r>
              <a:rPr lang="en-US" sz="2400" b="1" dirty="0"/>
              <a:t>Veriﬁer Probing </a:t>
            </a:r>
          </a:p>
          <a:p>
            <a:pPr marL="0" indent="0">
              <a:buNone/>
            </a:pPr>
            <a:r>
              <a:rPr lang="en-US" dirty="0"/>
              <a:t>‘How would your former employees describe your management style?’’ </a:t>
            </a:r>
          </a:p>
        </p:txBody>
      </p:sp>
    </p:spTree>
    <p:extLst>
      <p:ext uri="{BB962C8B-B14F-4D97-AF65-F5344CB8AC3E}">
        <p14:creationId xmlns:p14="http://schemas.microsoft.com/office/powerpoint/2010/main" val="19474501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0F3C98-1952-4C97-9C01-563D3F44FAF8}"/>
              </a:ext>
            </a:extLst>
          </p:cNvPr>
          <p:cNvSpPr>
            <a:spLocks noGrp="1"/>
          </p:cNvSpPr>
          <p:nvPr>
            <p:ph type="title"/>
          </p:nvPr>
        </p:nvSpPr>
        <p:spPr/>
        <p:txBody>
          <a:bodyPr/>
          <a:lstStyle/>
          <a:p>
            <a:r>
              <a:rPr lang="en-US" dirty="0"/>
              <a:t>Close-Ended Questions</a:t>
            </a:r>
            <a:br>
              <a:rPr lang="en-US" dirty="0"/>
            </a:br>
            <a:endParaRPr lang="en-US" dirty="0"/>
          </a:p>
        </p:txBody>
      </p:sp>
      <p:sp>
        <p:nvSpPr>
          <p:cNvPr id="3" name="Content Placeholder 2">
            <a:extLst>
              <a:ext uri="{FF2B5EF4-FFF2-40B4-BE49-F238E27FC236}">
                <a16:creationId xmlns:a16="http://schemas.microsoft.com/office/drawing/2014/main" id="{B5479CE0-96C4-440D-83DA-52F4CA6C6C50}"/>
              </a:ext>
            </a:extLst>
          </p:cNvPr>
          <p:cNvSpPr>
            <a:spLocks noGrp="1"/>
          </p:cNvSpPr>
          <p:nvPr>
            <p:ph idx="1"/>
          </p:nvPr>
        </p:nvSpPr>
        <p:spPr/>
        <p:txBody>
          <a:bodyPr/>
          <a:lstStyle/>
          <a:p>
            <a:r>
              <a:rPr lang="en-US" dirty="0"/>
              <a:t>These are questions that may be answered with a single word—generally yes or no. Close-ended questions can be helpful in a number of ways: They give the interviewer greater control; put certain applicants at ease; are useful when seeking clariﬁcation; are helpful when you need to verify information; and usually result in concise responses</a:t>
            </a:r>
          </a:p>
          <a:p>
            <a:endParaRPr lang="en-US" dirty="0"/>
          </a:p>
        </p:txBody>
      </p:sp>
    </p:spTree>
    <p:extLst>
      <p:ext uri="{BB962C8B-B14F-4D97-AF65-F5344CB8AC3E}">
        <p14:creationId xmlns:p14="http://schemas.microsoft.com/office/powerpoint/2010/main" val="22259704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7C42AA-8BEC-4C70-A6DA-F7680829667E}"/>
              </a:ext>
            </a:extLst>
          </p:cNvPr>
          <p:cNvSpPr>
            <a:spLocks noGrp="1"/>
          </p:cNvSpPr>
          <p:nvPr>
            <p:ph type="title"/>
          </p:nvPr>
        </p:nvSpPr>
        <p:spPr/>
        <p:txBody>
          <a:bodyPr/>
          <a:lstStyle/>
          <a:p>
            <a:r>
              <a:rPr lang="en-US" dirty="0"/>
              <a:t>Functional Close-Ended Questions Relating to Work</a:t>
            </a:r>
          </a:p>
        </p:txBody>
      </p:sp>
      <p:sp>
        <p:nvSpPr>
          <p:cNvPr id="3" name="Content Placeholder 2">
            <a:extLst>
              <a:ext uri="{FF2B5EF4-FFF2-40B4-BE49-F238E27FC236}">
                <a16:creationId xmlns:a16="http://schemas.microsoft.com/office/drawing/2014/main" id="{FDE87A7F-9B19-4ED3-8D2D-32CCA5A78ED1}"/>
              </a:ext>
            </a:extLst>
          </p:cNvPr>
          <p:cNvSpPr>
            <a:spLocks noGrp="1"/>
          </p:cNvSpPr>
          <p:nvPr>
            <p:ph idx="1"/>
          </p:nvPr>
        </p:nvSpPr>
        <p:spPr/>
        <p:txBody>
          <a:bodyPr/>
          <a:lstStyle/>
          <a:p>
            <a:r>
              <a:rPr lang="en-US" dirty="0"/>
              <a:t>‘‘How often do you travel in your current job?</a:t>
            </a:r>
          </a:p>
          <a:p>
            <a:r>
              <a:rPr lang="en-US" dirty="0"/>
              <a:t>‘Are you aware that the starting salary for this job is $975 per week?</a:t>
            </a:r>
          </a:p>
          <a:p>
            <a:r>
              <a:rPr lang="en-US" dirty="0"/>
              <a:t>Based on what you have told me so far, can I assume that you prefer working independently rather than as part of a team?</a:t>
            </a:r>
          </a:p>
        </p:txBody>
      </p:sp>
    </p:spTree>
    <p:extLst>
      <p:ext uri="{BB962C8B-B14F-4D97-AF65-F5344CB8AC3E}">
        <p14:creationId xmlns:p14="http://schemas.microsoft.com/office/powerpoint/2010/main" val="424893478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238C18-9F7B-4CA5-B51C-67E64FCC3BE8}"/>
              </a:ext>
            </a:extLst>
          </p:cNvPr>
          <p:cNvSpPr>
            <a:spLocks noGrp="1"/>
          </p:cNvSpPr>
          <p:nvPr>
            <p:ph type="title"/>
          </p:nvPr>
        </p:nvSpPr>
        <p:spPr/>
        <p:txBody>
          <a:bodyPr>
            <a:normAutofit fontScale="90000"/>
          </a:bodyPr>
          <a:lstStyle/>
          <a:p>
            <a:r>
              <a:rPr lang="en-US" dirty="0"/>
              <a:t>How to Relate the Questioning Techniques to Interview Stages</a:t>
            </a:r>
            <a:br>
              <a:rPr lang="en-US" dirty="0"/>
            </a:br>
            <a:endParaRPr lang="en-US" dirty="0"/>
          </a:p>
        </p:txBody>
      </p:sp>
      <p:sp>
        <p:nvSpPr>
          <p:cNvPr id="3" name="Content Placeholder 2">
            <a:extLst>
              <a:ext uri="{FF2B5EF4-FFF2-40B4-BE49-F238E27FC236}">
                <a16:creationId xmlns:a16="http://schemas.microsoft.com/office/drawing/2014/main" id="{24C9B035-5515-4F0A-82E3-794023410397}"/>
              </a:ext>
            </a:extLst>
          </p:cNvPr>
          <p:cNvSpPr>
            <a:spLocks noGrp="1"/>
          </p:cNvSpPr>
          <p:nvPr>
            <p:ph idx="1"/>
          </p:nvPr>
        </p:nvSpPr>
        <p:spPr/>
        <p:txBody>
          <a:bodyPr/>
          <a:lstStyle/>
          <a:p>
            <a:r>
              <a:rPr lang="en-US" dirty="0"/>
              <a:t>Rapport-Building Stage</a:t>
            </a:r>
          </a:p>
          <a:p>
            <a:pPr marL="0" indent="0">
              <a:buNone/>
            </a:pPr>
            <a:r>
              <a:rPr lang="en-US" dirty="0"/>
              <a:t>This stage,  sets the tone for the rest of the meeting. The purpose is to put applicants at ease, thereby encouraging them to communicate openly and allowing you to determine job suitability. Close-ended questions that are casual in nature and focus on non-job-related topics will accomplish this goal.</a:t>
            </a:r>
          </a:p>
          <a:p>
            <a:pPr marL="0" indent="0">
              <a:buNone/>
            </a:pPr>
            <a:r>
              <a:rPr lang="en-US" dirty="0"/>
              <a:t>Did you have any trouble getting here? </a:t>
            </a:r>
          </a:p>
          <a:p>
            <a:pPr marL="0" indent="0">
              <a:buNone/>
            </a:pPr>
            <a:r>
              <a:rPr lang="en-US" dirty="0"/>
              <a:t>Were you able to ﬁnd parking nearby?</a:t>
            </a:r>
          </a:p>
          <a:p>
            <a:pPr marL="0" indent="0">
              <a:buNone/>
            </a:pPr>
            <a:r>
              <a:rPr lang="en-US" dirty="0"/>
              <a:t>How was the trafﬁc getting here?</a:t>
            </a:r>
          </a:p>
        </p:txBody>
      </p:sp>
    </p:spTree>
    <p:extLst>
      <p:ext uri="{BB962C8B-B14F-4D97-AF65-F5344CB8AC3E}">
        <p14:creationId xmlns:p14="http://schemas.microsoft.com/office/powerpoint/2010/main" val="10097647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10D392-7251-430E-B96A-F3A0C35D6B6B}"/>
              </a:ext>
            </a:extLst>
          </p:cNvPr>
          <p:cNvSpPr>
            <a:spLocks noGrp="1"/>
          </p:cNvSpPr>
          <p:nvPr>
            <p:ph type="title"/>
          </p:nvPr>
        </p:nvSpPr>
        <p:spPr/>
        <p:txBody>
          <a:bodyPr/>
          <a:lstStyle/>
          <a:p>
            <a:r>
              <a:rPr lang="en-US" dirty="0"/>
              <a:t>Introductory Stage </a:t>
            </a:r>
          </a:p>
        </p:txBody>
      </p:sp>
      <p:sp>
        <p:nvSpPr>
          <p:cNvPr id="3" name="Content Placeholder 2">
            <a:extLst>
              <a:ext uri="{FF2B5EF4-FFF2-40B4-BE49-F238E27FC236}">
                <a16:creationId xmlns:a16="http://schemas.microsoft.com/office/drawing/2014/main" id="{863B0B25-F538-4C94-B3DB-3B354EA5CF0D}"/>
              </a:ext>
            </a:extLst>
          </p:cNvPr>
          <p:cNvSpPr>
            <a:spLocks noGrp="1"/>
          </p:cNvSpPr>
          <p:nvPr>
            <p:ph idx="1"/>
          </p:nvPr>
        </p:nvSpPr>
        <p:spPr/>
        <p:txBody>
          <a:bodyPr/>
          <a:lstStyle/>
          <a:p>
            <a:r>
              <a:rPr lang="en-US" dirty="0"/>
              <a:t>THIS is intended to accomplish two key objectives: to help still-nervous applicants feel at ease and To allow the interviewer to start assessing their job suitability. These objective are best accomplished by posing two to three open-ended questions Introductory questions should be about topics familiar to the applicant so as not to create undue pressure</a:t>
            </a:r>
          </a:p>
          <a:p>
            <a:r>
              <a:rPr lang="en-US" dirty="0"/>
              <a:t>‘Can you give me an overview of your past experiences with beneﬁts administration?</a:t>
            </a:r>
          </a:p>
          <a:p>
            <a:r>
              <a:rPr lang="en-US" dirty="0"/>
              <a:t>‘Why don’t we begin with your current job. Would you describe your involvement in the day-to-day operation of your department</a:t>
            </a:r>
          </a:p>
        </p:txBody>
      </p:sp>
    </p:spTree>
    <p:extLst>
      <p:ext uri="{BB962C8B-B14F-4D97-AF65-F5344CB8AC3E}">
        <p14:creationId xmlns:p14="http://schemas.microsoft.com/office/powerpoint/2010/main" val="26487680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5C00A6-0077-492F-9528-D8133323EBFF}"/>
              </a:ext>
            </a:extLst>
          </p:cNvPr>
          <p:cNvSpPr>
            <a:spLocks noGrp="1"/>
          </p:cNvSpPr>
          <p:nvPr>
            <p:ph type="title"/>
          </p:nvPr>
        </p:nvSpPr>
        <p:spPr/>
        <p:txBody>
          <a:bodyPr/>
          <a:lstStyle/>
          <a:p>
            <a:r>
              <a:rPr lang="en-US" dirty="0"/>
              <a:t>The Core Stage </a:t>
            </a:r>
          </a:p>
        </p:txBody>
      </p:sp>
      <p:sp>
        <p:nvSpPr>
          <p:cNvPr id="3" name="Content Placeholder 2">
            <a:extLst>
              <a:ext uri="{FF2B5EF4-FFF2-40B4-BE49-F238E27FC236}">
                <a16:creationId xmlns:a16="http://schemas.microsoft.com/office/drawing/2014/main" id="{8EAFBC30-DAE2-4A60-A663-61323F03D82B}"/>
              </a:ext>
            </a:extLst>
          </p:cNvPr>
          <p:cNvSpPr>
            <a:spLocks noGrp="1"/>
          </p:cNvSpPr>
          <p:nvPr>
            <p:ph idx="1"/>
          </p:nvPr>
        </p:nvSpPr>
        <p:spPr/>
        <p:txBody>
          <a:bodyPr/>
          <a:lstStyle/>
          <a:p>
            <a:r>
              <a:rPr lang="en-US" dirty="0"/>
              <a:t>,this is the most substantive segment of the interview. Here, the interviewer gathers all relevant information about the applicant based on the four categories of tangible skills, knowledge, behavior, and interpersonal skills, examining them in relation to the requirements and responsibilities of the job</a:t>
            </a:r>
          </a:p>
          <a:p>
            <a:r>
              <a:rPr lang="en-US" dirty="0"/>
              <a:t> This stage represents 85 percent of the interview, with as much as 65 percent of it devoted to competency-based questions. That leaves about 20 percent of the time to be divided between four other types of questions: close-ended, open-ended, probing, and hypothetical.</a:t>
            </a:r>
          </a:p>
        </p:txBody>
      </p:sp>
    </p:spTree>
    <p:extLst>
      <p:ext uri="{BB962C8B-B14F-4D97-AF65-F5344CB8AC3E}">
        <p14:creationId xmlns:p14="http://schemas.microsoft.com/office/powerpoint/2010/main" val="18962473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0C69C3-C152-4648-A122-3ACE6052941F}"/>
              </a:ext>
            </a:extLst>
          </p:cNvPr>
          <p:cNvSpPr>
            <a:spLocks noGrp="1"/>
          </p:cNvSpPr>
          <p:nvPr>
            <p:ph type="title"/>
          </p:nvPr>
        </p:nvSpPr>
        <p:spPr/>
        <p:txBody>
          <a:bodyPr/>
          <a:lstStyle/>
          <a:p>
            <a:r>
              <a:rPr lang="en-US" dirty="0"/>
              <a:t>Closing Stage </a:t>
            </a:r>
          </a:p>
        </p:txBody>
      </p:sp>
      <p:sp>
        <p:nvSpPr>
          <p:cNvPr id="3" name="Content Placeholder 2">
            <a:extLst>
              <a:ext uri="{FF2B5EF4-FFF2-40B4-BE49-F238E27FC236}">
                <a16:creationId xmlns:a16="http://schemas.microsoft.com/office/drawing/2014/main" id="{89C4AD06-F025-465C-8C16-878E3AD29EC4}"/>
              </a:ext>
            </a:extLst>
          </p:cNvPr>
          <p:cNvSpPr>
            <a:spLocks noGrp="1"/>
          </p:cNvSpPr>
          <p:nvPr>
            <p:ph idx="1"/>
          </p:nvPr>
        </p:nvSpPr>
        <p:spPr/>
        <p:txBody>
          <a:bodyPr/>
          <a:lstStyle/>
          <a:p>
            <a:r>
              <a:rPr lang="en-US" dirty="0"/>
              <a:t>This the ‘‘last chance’’ stage of the interview. At this point the interviewer needs to make sure she’s covered all relevant competencies needed to make a screening or hiring decision, and the applicant has one last opportunity to sell himself. Closing represents 5 percent of the interview, and should be devoted to competency-based questions such as:</a:t>
            </a:r>
          </a:p>
          <a:p>
            <a:r>
              <a:rPr lang="en-US" dirty="0"/>
              <a:t>‘What more can you tell me about your work with employee assistance programs to help me understand your experience in this are</a:t>
            </a:r>
          </a:p>
        </p:txBody>
      </p:sp>
    </p:spTree>
    <p:extLst>
      <p:ext uri="{BB962C8B-B14F-4D97-AF65-F5344CB8AC3E}">
        <p14:creationId xmlns:p14="http://schemas.microsoft.com/office/powerpoint/2010/main" val="24177697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920DB9-ACE0-4DA6-A23D-7DA4952AA434}"/>
              </a:ext>
            </a:extLst>
          </p:cNvPr>
          <p:cNvSpPr>
            <a:spLocks noGrp="1"/>
          </p:cNvSpPr>
          <p:nvPr>
            <p:ph type="title"/>
          </p:nvPr>
        </p:nvSpPr>
        <p:spPr/>
        <p:txBody>
          <a:bodyPr/>
          <a:lstStyle/>
          <a:p>
            <a:r>
              <a:rPr lang="en-US" dirty="0"/>
              <a:t>Questioning Techniques to Avoid</a:t>
            </a:r>
            <a:br>
              <a:rPr lang="en-US" dirty="0"/>
            </a:br>
            <a:endParaRPr lang="en-US" dirty="0"/>
          </a:p>
        </p:txBody>
      </p:sp>
      <p:sp>
        <p:nvSpPr>
          <p:cNvPr id="3" name="Content Placeholder 2">
            <a:extLst>
              <a:ext uri="{FF2B5EF4-FFF2-40B4-BE49-F238E27FC236}">
                <a16:creationId xmlns:a16="http://schemas.microsoft.com/office/drawing/2014/main" id="{21F09DA0-52CC-4E2C-BE7E-DA8B90504566}"/>
              </a:ext>
            </a:extLst>
          </p:cNvPr>
          <p:cNvSpPr>
            <a:spLocks noGrp="1"/>
          </p:cNvSpPr>
          <p:nvPr>
            <p:ph idx="1"/>
          </p:nvPr>
        </p:nvSpPr>
        <p:spPr/>
        <p:txBody>
          <a:bodyPr/>
          <a:lstStyle/>
          <a:p>
            <a:r>
              <a:rPr lang="en-US" dirty="0"/>
              <a:t>‘‘What is your greatest strength?’’ the applicant could reply, ‘‘I excel at problem solving.’’ Good question; good answer, right? Not really. What have your learned about the applicant? Absolutely nothing. If you want to know about a person’s strengths</a:t>
            </a:r>
          </a:p>
          <a:p>
            <a:r>
              <a:rPr lang="en-US" dirty="0"/>
              <a:t> try the two-pronged approach: Ask </a:t>
            </a:r>
            <a:r>
              <a:rPr lang="en-US" dirty="0" err="1"/>
              <a:t>theopen</a:t>
            </a:r>
            <a:r>
              <a:rPr lang="en-US" dirty="0"/>
              <a:t>-ended trait question </a:t>
            </a:r>
            <a:r>
              <a:rPr lang="en-US" dirty="0" err="1"/>
              <a:t>ﬁrst:‘‘What</a:t>
            </a:r>
            <a:r>
              <a:rPr lang="en-US" dirty="0"/>
              <a:t> </a:t>
            </a:r>
            <a:r>
              <a:rPr lang="en-US" dirty="0" err="1"/>
              <a:t>isyour</a:t>
            </a:r>
            <a:r>
              <a:rPr lang="en-US" dirty="0"/>
              <a:t> </a:t>
            </a:r>
            <a:r>
              <a:rPr lang="en-US" dirty="0" err="1"/>
              <a:t>greateststrength</a:t>
            </a:r>
            <a:r>
              <a:rPr lang="en-US" dirty="0"/>
              <a:t>?’’ Then follow up with the competency-based question: ‘‘Give me an example of how you’ve used your greatest strength at your current job.’’ </a:t>
            </a:r>
          </a:p>
        </p:txBody>
      </p:sp>
    </p:spTree>
    <p:extLst>
      <p:ext uri="{BB962C8B-B14F-4D97-AF65-F5344CB8AC3E}">
        <p14:creationId xmlns:p14="http://schemas.microsoft.com/office/powerpoint/2010/main" val="4221688969"/>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Wood Type">
  <a:themeElements>
    <a:clrScheme name="Wood Type">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Wood Type">
      <a:majorFont>
        <a:latin typeface="Rockwell Condensed" panose="02060603050405020104"/>
        <a:ea typeface=""/>
        <a:cs typeface=""/>
        <a:font script="Grek" typeface="Cambria"/>
        <a:font script="Cyrl" typeface="Cambria"/>
        <a:font script="Jpan" typeface="HG明朝B"/>
        <a:font script="Hang" typeface="바탕"/>
        <a:font script="Hans" typeface="方正姚体"/>
        <a:font script="Hant" typeface="微軟正黑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Rockwell" panose="02060603020205020403"/>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Wood Type">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Wood Type" id="{7ACABC62-BF99-48CF-A9DC-4DB89C7B13DC}" vid="{142A1326-48AB-42A9-8428-CB14AA30176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TM03090434[[fn=Wood Type]]</Template>
  <TotalTime>639</TotalTime>
  <Words>1082</Words>
  <Application>Microsoft Office PowerPoint</Application>
  <PresentationFormat>Widescreen</PresentationFormat>
  <Paragraphs>65</Paragraphs>
  <Slides>16</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Calibri</vt:lpstr>
      <vt:lpstr>Rockwell</vt:lpstr>
      <vt:lpstr>Rockwell Condensed</vt:lpstr>
      <vt:lpstr>Wingdings</vt:lpstr>
      <vt:lpstr>Wood Type</vt:lpstr>
      <vt:lpstr>Types of questions </vt:lpstr>
      <vt:lpstr>contents</vt:lpstr>
      <vt:lpstr>Open ended questions </vt:lpstr>
      <vt:lpstr>PowerPoint Presentation</vt:lpstr>
      <vt:lpstr> Hypothetical questions </vt:lpstr>
      <vt:lpstr> cont.…</vt:lpstr>
      <vt:lpstr>Probing Questions</vt:lpstr>
      <vt:lpstr>Types of probing questions</vt:lpstr>
      <vt:lpstr>EXAMPLES</vt:lpstr>
      <vt:lpstr>Close-Ended Questions </vt:lpstr>
      <vt:lpstr>Functional Close-Ended Questions Relating to Work</vt:lpstr>
      <vt:lpstr>How to Relate the Questioning Techniques to Interview Stages </vt:lpstr>
      <vt:lpstr>Introductory Stage </vt:lpstr>
      <vt:lpstr>The Core Stage </vt:lpstr>
      <vt:lpstr>Closing Stage </vt:lpstr>
      <vt:lpstr>Questioning Techniques to Avoid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Munawar ali </dc:creator>
  <cp:lastModifiedBy>Munawar ali </cp:lastModifiedBy>
  <cp:revision>17</cp:revision>
  <dcterms:created xsi:type="dcterms:W3CDTF">2019-04-24T15:49:17Z</dcterms:created>
  <dcterms:modified xsi:type="dcterms:W3CDTF">2019-04-25T19:14:20Z</dcterms:modified>
</cp:coreProperties>
</file>